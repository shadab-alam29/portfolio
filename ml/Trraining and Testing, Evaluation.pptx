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 id="2147483864" r:id="rId2"/>
  </p:sldMasterIdLst>
  <p:notesMasterIdLst>
    <p:notesMasterId r:id="rId71"/>
  </p:notesMasterIdLst>
  <p:handoutMasterIdLst>
    <p:handoutMasterId r:id="rId72"/>
  </p:handoutMasterIdLst>
  <p:sldIdLst>
    <p:sldId id="481" r:id="rId3"/>
    <p:sldId id="398" r:id="rId4"/>
    <p:sldId id="436" r:id="rId5"/>
    <p:sldId id="437" r:id="rId6"/>
    <p:sldId id="438" r:id="rId7"/>
    <p:sldId id="439" r:id="rId8"/>
    <p:sldId id="440" r:id="rId9"/>
    <p:sldId id="501" r:id="rId10"/>
    <p:sldId id="441" r:id="rId11"/>
    <p:sldId id="442" r:id="rId12"/>
    <p:sldId id="472" r:id="rId13"/>
    <p:sldId id="444" r:id="rId14"/>
    <p:sldId id="471" r:id="rId15"/>
    <p:sldId id="448" r:id="rId16"/>
    <p:sldId id="473" r:id="rId17"/>
    <p:sldId id="502" r:id="rId18"/>
    <p:sldId id="464" r:id="rId19"/>
    <p:sldId id="465" r:id="rId20"/>
    <p:sldId id="466" r:id="rId21"/>
    <p:sldId id="445" r:id="rId22"/>
    <p:sldId id="446" r:id="rId23"/>
    <p:sldId id="447" r:id="rId24"/>
    <p:sldId id="503" r:id="rId25"/>
    <p:sldId id="443" r:id="rId26"/>
    <p:sldId id="482" r:id="rId27"/>
    <p:sldId id="483" r:id="rId28"/>
    <p:sldId id="449" r:id="rId29"/>
    <p:sldId id="451" r:id="rId30"/>
    <p:sldId id="452" r:id="rId31"/>
    <p:sldId id="504" r:id="rId32"/>
    <p:sldId id="476" r:id="rId33"/>
    <p:sldId id="484" r:id="rId34"/>
    <p:sldId id="499" r:id="rId35"/>
    <p:sldId id="485" r:id="rId36"/>
    <p:sldId id="486" r:id="rId37"/>
    <p:sldId id="487" r:id="rId38"/>
    <p:sldId id="488" r:id="rId39"/>
    <p:sldId id="489" r:id="rId40"/>
    <p:sldId id="490" r:id="rId41"/>
    <p:sldId id="491" r:id="rId42"/>
    <p:sldId id="492" r:id="rId43"/>
    <p:sldId id="493" r:id="rId44"/>
    <p:sldId id="494" r:id="rId45"/>
    <p:sldId id="495" r:id="rId46"/>
    <p:sldId id="496" r:id="rId47"/>
    <p:sldId id="497" r:id="rId48"/>
    <p:sldId id="498" r:id="rId49"/>
    <p:sldId id="477" r:id="rId50"/>
    <p:sldId id="500" r:id="rId51"/>
    <p:sldId id="453" r:id="rId52"/>
    <p:sldId id="468" r:id="rId53"/>
    <p:sldId id="454" r:id="rId54"/>
    <p:sldId id="456" r:id="rId55"/>
    <p:sldId id="455" r:id="rId56"/>
    <p:sldId id="457" r:id="rId57"/>
    <p:sldId id="469" r:id="rId58"/>
    <p:sldId id="474" r:id="rId59"/>
    <p:sldId id="460" r:id="rId60"/>
    <p:sldId id="461" r:id="rId61"/>
    <p:sldId id="462" r:id="rId62"/>
    <p:sldId id="470" r:id="rId63"/>
    <p:sldId id="475" r:id="rId64"/>
    <p:sldId id="463" r:id="rId65"/>
    <p:sldId id="478" r:id="rId66"/>
    <p:sldId id="505" r:id="rId67"/>
    <p:sldId id="479" r:id="rId68"/>
    <p:sldId id="480" r:id="rId69"/>
    <p:sldId id="298" r:id="rId70"/>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02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8182" autoAdjust="0"/>
  </p:normalViewPr>
  <p:slideViewPr>
    <p:cSldViewPr>
      <p:cViewPr varScale="1">
        <p:scale>
          <a:sx n="56" d="100"/>
          <a:sy n="56" d="100"/>
        </p:scale>
        <p:origin x="1508" y="5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29761" y="0"/>
            <a:ext cx="2929837" cy="498852"/>
          </a:xfrm>
          <a:prstGeom prst="rect">
            <a:avLst/>
          </a:prstGeom>
        </p:spPr>
        <p:txBody>
          <a:bodyPr vert="horz" lIns="91440" tIns="45720" rIns="91440" bIns="45720" rtlCol="0"/>
          <a:lstStyle>
            <a:lvl1pPr algn="r">
              <a:defRPr sz="1200"/>
            </a:lvl1pPr>
          </a:lstStyle>
          <a:p>
            <a:fld id="{55E60D13-C5AC-49E4-B20A-256BCCC83E39}" type="datetimeFigureOut">
              <a:rPr lang="en-IN" smtClean="0"/>
              <a:t>11-08-2025</a:t>
            </a:fld>
            <a:endParaRPr lang="en-IN"/>
          </a:p>
        </p:txBody>
      </p:sp>
      <p:sp>
        <p:nvSpPr>
          <p:cNvPr id="4" name="Footer Placeholder 3"/>
          <p:cNvSpPr>
            <a:spLocks noGrp="1"/>
          </p:cNvSpPr>
          <p:nvPr>
            <p:ph type="ftr" sz="quarter" idx="2"/>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29761" y="9443662"/>
            <a:ext cx="2929837" cy="498851"/>
          </a:xfrm>
          <a:prstGeom prst="rect">
            <a:avLst/>
          </a:prstGeom>
        </p:spPr>
        <p:txBody>
          <a:bodyPr vert="horz" lIns="91440" tIns="45720" rIns="91440" bIns="45720" rtlCol="0" anchor="b"/>
          <a:lstStyle>
            <a:lvl1pPr algn="r">
              <a:defRPr sz="1200"/>
            </a:lvl1pPr>
          </a:lstStyle>
          <a:p>
            <a:fld id="{6F53C719-62D2-48CC-B03E-973048709867}" type="slidenum">
              <a:rPr lang="en-IN" smtClean="0"/>
              <a:t>‹#›</a:t>
            </a:fld>
            <a:endParaRPr lang="en-IN"/>
          </a:p>
        </p:txBody>
      </p:sp>
    </p:spTree>
    <p:extLst>
      <p:ext uri="{BB962C8B-B14F-4D97-AF65-F5344CB8AC3E}">
        <p14:creationId xmlns:p14="http://schemas.microsoft.com/office/powerpoint/2010/main" val="4478498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71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29761" y="0"/>
            <a:ext cx="2929837" cy="497126"/>
          </a:xfrm>
          <a:prstGeom prst="rect">
            <a:avLst/>
          </a:prstGeom>
        </p:spPr>
        <p:txBody>
          <a:bodyPr vert="horz" lIns="91440" tIns="45720" rIns="91440" bIns="45720" rtlCol="0"/>
          <a:lstStyle>
            <a:lvl1pPr algn="r">
              <a:defRPr sz="1200"/>
            </a:lvl1pPr>
          </a:lstStyle>
          <a:p>
            <a:fld id="{88CAA103-FA6F-4BA7-85DB-ECB7FF89B451}" type="datetimeFigureOut">
              <a:rPr lang="en-US" smtClean="0"/>
              <a:pPr/>
              <a:t>8/11/2025</a:t>
            </a:fld>
            <a:endParaRPr lang="en-US"/>
          </a:p>
        </p:txBody>
      </p:sp>
      <p:sp>
        <p:nvSpPr>
          <p:cNvPr id="4" name="Slide Image Placeholder 3"/>
          <p:cNvSpPr>
            <a:spLocks noGrp="1" noRot="1" noChangeAspect="1"/>
          </p:cNvSpPr>
          <p:nvPr>
            <p:ph type="sldImg" idx="2"/>
          </p:nvPr>
        </p:nvSpPr>
        <p:spPr>
          <a:xfrm>
            <a:off x="896938" y="746125"/>
            <a:ext cx="4967287" cy="3727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6117" y="4722694"/>
            <a:ext cx="5408930" cy="447413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43662"/>
            <a:ext cx="2929837" cy="4971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29761" y="9443662"/>
            <a:ext cx="2929837" cy="497126"/>
          </a:xfrm>
          <a:prstGeom prst="rect">
            <a:avLst/>
          </a:prstGeom>
        </p:spPr>
        <p:txBody>
          <a:bodyPr vert="horz" lIns="91440" tIns="45720" rIns="91440" bIns="45720" rtlCol="0" anchor="b"/>
          <a:lstStyle>
            <a:lvl1pPr algn="r">
              <a:defRPr sz="1200"/>
            </a:lvl1pPr>
          </a:lstStyle>
          <a:p>
            <a:fld id="{989B9102-ABC0-4B3D-8EF1-04366C9A6F8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20</a:t>
            </a:fld>
            <a:endParaRPr lang="en-US"/>
          </a:p>
        </p:txBody>
      </p:sp>
    </p:spTree>
    <p:extLst>
      <p:ext uri="{BB962C8B-B14F-4D97-AF65-F5344CB8AC3E}">
        <p14:creationId xmlns:p14="http://schemas.microsoft.com/office/powerpoint/2010/main" val="2706323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If you label every email to be spam, you will have a recall of 1. Why? Because you are predicting an email is spam. There’s no way you can use False Negatives since you are not predicting that an email would be non-spam. However, you will also be incorrectly predicting spam emails as non-spam.</a:t>
            </a:r>
          </a:p>
          <a:p>
            <a:r>
              <a:rPr lang="en-US" sz="1200" b="0" i="0" kern="1200" dirty="0" smtClean="0">
                <a:solidFill>
                  <a:schemeClr val="tx1"/>
                </a:solidFill>
                <a:effectLst/>
                <a:latin typeface="+mn-lt"/>
                <a:ea typeface="+mn-ea"/>
                <a:cs typeface="+mn-cs"/>
              </a:rPr>
              <a:t>If you predict that one email is spam, and you get that right, then you’re precision would be 1. Why? Because there are not false positives. However, you will be missing a lot of predictions.</a:t>
            </a:r>
          </a:p>
          <a:p>
            <a:endParaRPr lang="en-US"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28</a:t>
            </a:fld>
            <a:endParaRPr lang="en-US"/>
          </a:p>
        </p:txBody>
      </p:sp>
    </p:spTree>
    <p:extLst>
      <p:ext uri="{BB962C8B-B14F-4D97-AF65-F5344CB8AC3E}">
        <p14:creationId xmlns:p14="http://schemas.microsoft.com/office/powerpoint/2010/main" val="612954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F1 is usually more useful than accuracy, especially if you have an uneven class distribution. Accuracy works best if false positives and false negatives have similar cost. If the cost of false positives and false negatives are very different, it’s better to look at both Precision and Recall. In our case, F1 score is 0.701.</a:t>
            </a:r>
            <a:endParaRPr lang="en-US"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29</a:t>
            </a:fld>
            <a:endParaRPr lang="en-US"/>
          </a:p>
        </p:txBody>
      </p:sp>
    </p:spTree>
    <p:extLst>
      <p:ext uri="{BB962C8B-B14F-4D97-AF65-F5344CB8AC3E}">
        <p14:creationId xmlns:p14="http://schemas.microsoft.com/office/powerpoint/2010/main" val="313941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43</a:t>
            </a:fld>
            <a:endParaRPr lang="en-US"/>
          </a:p>
        </p:txBody>
      </p:sp>
    </p:spTree>
    <p:extLst>
      <p:ext uri="{BB962C8B-B14F-4D97-AF65-F5344CB8AC3E}">
        <p14:creationId xmlns:p14="http://schemas.microsoft.com/office/powerpoint/2010/main" val="4288893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44</a:t>
            </a:fld>
            <a:endParaRPr lang="en-US"/>
          </a:p>
        </p:txBody>
      </p:sp>
    </p:spTree>
    <p:extLst>
      <p:ext uri="{BB962C8B-B14F-4D97-AF65-F5344CB8AC3E}">
        <p14:creationId xmlns:p14="http://schemas.microsoft.com/office/powerpoint/2010/main" val="3113726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45</a:t>
            </a:fld>
            <a:endParaRPr lang="en-US"/>
          </a:p>
        </p:txBody>
      </p:sp>
    </p:spTree>
    <p:extLst>
      <p:ext uri="{BB962C8B-B14F-4D97-AF65-F5344CB8AC3E}">
        <p14:creationId xmlns:p14="http://schemas.microsoft.com/office/powerpoint/2010/main" val="1633837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46</a:t>
            </a:fld>
            <a:endParaRPr lang="en-US"/>
          </a:p>
        </p:txBody>
      </p:sp>
    </p:spTree>
    <p:extLst>
      <p:ext uri="{BB962C8B-B14F-4D97-AF65-F5344CB8AC3E}">
        <p14:creationId xmlns:p14="http://schemas.microsoft.com/office/powerpoint/2010/main" val="8323924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89B9102-ABC0-4B3D-8EF1-04366C9A6F8A}" type="slidenum">
              <a:rPr lang="en-US" smtClean="0"/>
              <a:pPr/>
              <a:t>47</a:t>
            </a:fld>
            <a:endParaRPr lang="en-US"/>
          </a:p>
        </p:txBody>
      </p:sp>
    </p:spTree>
    <p:extLst>
      <p:ext uri="{BB962C8B-B14F-4D97-AF65-F5344CB8AC3E}">
        <p14:creationId xmlns:p14="http://schemas.microsoft.com/office/powerpoint/2010/main" val="1433613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D6D326B5-21D9-43FD-9A2C-7A209D1AB87B}" type="datetimeFigureOut">
              <a:rPr lang="en-US" smtClean="0"/>
              <a:pPr/>
              <a:t>8/11/2025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9A58F304-7EB6-4E9A-93BD-98FE11DF7497}"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D6D326B5-21D9-43FD-9A2C-7A209D1AB87B}"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A58F304-7EB6-4E9A-93BD-98FE11DF7497}"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D6D326B5-21D9-43FD-9A2C-7A209D1AB87B}" type="datetimeFigureOut">
              <a:rPr lang="en-US" smtClean="0"/>
              <a:pPr/>
              <a:t>8/11/2025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9A58F304-7EB6-4E9A-93BD-98FE11DF7497}"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D6D326B5-21D9-43FD-9A2C-7A209D1AB87B}" type="datetimeFigureOut">
              <a:rPr lang="en-US" smtClean="0"/>
              <a:pPr/>
              <a:t>8/11/2025</a:t>
            </a:fld>
            <a:endParaRPr lang="en-US"/>
          </a:p>
        </p:txBody>
      </p:sp>
      <p:sp>
        <p:nvSpPr>
          <p:cNvPr id="10" name="Slide Number Placeholder 9"/>
          <p:cNvSpPr>
            <a:spLocks noGrp="1"/>
          </p:cNvSpPr>
          <p:nvPr>
            <p:ph type="sldNum" sz="quarter" idx="16"/>
          </p:nvPr>
        </p:nvSpPr>
        <p:spPr/>
        <p:txBody>
          <a:bodyPr rtlCol="0"/>
          <a:lstStyle/>
          <a:p>
            <a:fld id="{9A58F304-7EB6-4E9A-93BD-98FE11DF7497}"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D6D326B5-21D9-43FD-9A2C-7A209D1AB87B}" type="datetimeFigureOut">
              <a:rPr lang="en-US" smtClean="0"/>
              <a:pPr/>
              <a:t>8/11/2025</a:t>
            </a:fld>
            <a:endParaRPr lang="en-US"/>
          </a:p>
        </p:txBody>
      </p:sp>
      <p:sp>
        <p:nvSpPr>
          <p:cNvPr id="12" name="Slide Number Placeholder 11"/>
          <p:cNvSpPr>
            <a:spLocks noGrp="1"/>
          </p:cNvSpPr>
          <p:nvPr>
            <p:ph type="sldNum" sz="quarter" idx="16"/>
          </p:nvPr>
        </p:nvSpPr>
        <p:spPr/>
        <p:txBody>
          <a:bodyPr rtlCol="0"/>
          <a:lstStyle/>
          <a:p>
            <a:fld id="{9A58F304-7EB6-4E9A-93BD-98FE11DF7497}"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6D326B5-21D9-43FD-9A2C-7A209D1AB87B}" type="datetimeFigureOut">
              <a:rPr lang="en-US" smtClean="0"/>
              <a:pPr/>
              <a:t>8/11/2025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9A58F304-7EB6-4E9A-93BD-98FE11DF749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326B5-21D9-43FD-9A2C-7A209D1AB87B}" type="datetimeFigureOut">
              <a:rPr lang="en-US" smtClean="0"/>
              <a:pPr/>
              <a:t>8/11/2025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9A58F304-7EB6-4E9A-93BD-98FE11DF749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6D326B5-21D9-43FD-9A2C-7A209D1AB87B}" type="datetimeFigureOut">
              <a:rPr lang="en-US" smtClean="0"/>
              <a:pPr/>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9A58F304-7EB6-4E9A-93BD-98FE11DF7497}"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D6D326B5-21D9-43FD-9A2C-7A209D1AB87B}" type="datetimeFigureOut">
              <a:rPr lang="en-US" smtClean="0"/>
              <a:pPr/>
              <a:t>8/11/2025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9A58F304-7EB6-4E9A-93BD-98FE11DF7497}"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6D326B5-21D9-43FD-9A2C-7A209D1AB87B}"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58F304-7EB6-4E9A-93BD-98FE11DF749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D6D326B5-21D9-43FD-9A2C-7A209D1AB87B}" type="datetimeFigureOut">
              <a:rPr lang="en-US" smtClean="0"/>
              <a:pPr/>
              <a:t>8/11/2025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9A58F304-7EB6-4E9A-93BD-98FE11DF7497}"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6D326B5-21D9-43FD-9A2C-7A209D1AB87B}"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2624319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D326B5-21D9-43FD-9A2C-7A209D1AB87B}"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40476461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6D326B5-21D9-43FD-9A2C-7A209D1AB87B}"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3355702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6D326B5-21D9-43FD-9A2C-7A209D1AB87B}" type="datetimeFigureOut">
              <a:rPr lang="en-US" smtClean="0"/>
              <a:pPr/>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9371361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6D326B5-21D9-43FD-9A2C-7A209D1AB87B}" type="datetimeFigureOut">
              <a:rPr lang="en-US" smtClean="0"/>
              <a:pPr/>
              <a:t>8/11/2025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1563942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6D326B5-21D9-43FD-9A2C-7A209D1AB87B}" type="datetimeFigureOut">
              <a:rPr lang="en-US" smtClean="0"/>
              <a:pPr/>
              <a:t>8/11/2025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6412709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D326B5-21D9-43FD-9A2C-7A209D1AB87B}" type="datetimeFigureOut">
              <a:rPr lang="en-US" smtClean="0"/>
              <a:pPr/>
              <a:t>8/11/2025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240112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D6D326B5-21D9-43FD-9A2C-7A209D1AB87B}" type="datetimeFigureOut">
              <a:rPr lang="en-US" smtClean="0"/>
              <a:pPr/>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19112315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D6D326B5-21D9-43FD-9A2C-7A209D1AB87B}" type="datetimeFigureOut">
              <a:rPr lang="en-US" smtClean="0"/>
              <a:pPr/>
              <a:t>8/11/2025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24504098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D326B5-21D9-43FD-9A2C-7A209D1AB87B}"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36155326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6D326B5-21D9-43FD-9A2C-7A209D1AB87B}" type="datetimeFigureOut">
              <a:rPr lang="en-US" smtClean="0"/>
              <a:pPr/>
              <a:t>8/11/2025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58F304-7EB6-4E9A-93BD-98FE11DF7497}" type="slidenum">
              <a:rPr lang="en-US" smtClean="0"/>
              <a:pPr/>
              <a:t>‹#›</a:t>
            </a:fld>
            <a:endParaRPr lang="en-US"/>
          </a:p>
        </p:txBody>
      </p:sp>
    </p:spTree>
    <p:extLst>
      <p:ext uri="{BB962C8B-B14F-4D97-AF65-F5344CB8AC3E}">
        <p14:creationId xmlns:p14="http://schemas.microsoft.com/office/powerpoint/2010/main" val="164156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D6D326B5-21D9-43FD-9A2C-7A209D1AB87B}" type="datetimeFigureOut">
              <a:rPr lang="en-US" smtClean="0"/>
              <a:pPr/>
              <a:t>8/11/2025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9A58F304-7EB6-4E9A-93BD-98FE11DF749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6D326B5-21D9-43FD-9A2C-7A209D1AB87B}" type="datetimeFigureOut">
              <a:rPr lang="en-US" smtClean="0"/>
              <a:pPr/>
              <a:t>8/11/2025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A58F304-7EB6-4E9A-93BD-98FE11DF7497}" type="slidenum">
              <a:rPr lang="en-US" smtClean="0"/>
              <a:pPr/>
              <a:t>‹#›</a:t>
            </a:fld>
            <a:endParaRPr lang="en-US"/>
          </a:p>
        </p:txBody>
      </p:sp>
    </p:spTree>
    <p:extLst>
      <p:ext uri="{BB962C8B-B14F-4D97-AF65-F5344CB8AC3E}">
        <p14:creationId xmlns:p14="http://schemas.microsoft.com/office/powerpoint/2010/main" val="2342497442"/>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9.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8.wmf"/></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1.wmf"/><Relationship Id="rId4" Type="http://schemas.openxmlformats.org/officeDocument/2006/relationships/oleObject" Target="../embeddings/oleObject3.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2.wmf"/><Relationship Id="rId4" Type="http://schemas.openxmlformats.org/officeDocument/2006/relationships/oleObject" Target="../embeddings/oleObject4.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2.png"/></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0.png"/><Relationship Id="rId4" Type="http://schemas.openxmlformats.org/officeDocument/2006/relationships/image" Target="../media/image32.png"/></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60.png"/><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971800" y="4637862"/>
            <a:ext cx="6629400" cy="1648946"/>
          </a:xfrm>
        </p:spPr>
        <p:txBody>
          <a:bodyPr>
            <a:noAutofit/>
          </a:bodyPr>
          <a:lstStyle/>
          <a:p>
            <a:pPr>
              <a:buNone/>
            </a:pPr>
            <a:r>
              <a:rPr lang="en-US" sz="1600" b="1" dirty="0"/>
              <a:t>Dr. </a:t>
            </a:r>
            <a:r>
              <a:rPr lang="en-US" sz="1600" b="1" dirty="0" err="1"/>
              <a:t>Dilip</a:t>
            </a:r>
            <a:r>
              <a:rPr lang="en-US" sz="1600" b="1" dirty="0"/>
              <a:t> Kumar Sharma </a:t>
            </a:r>
          </a:p>
          <a:p>
            <a:pPr>
              <a:buNone/>
            </a:pPr>
            <a:r>
              <a:rPr lang="en-US" sz="1600" b="1" dirty="0"/>
              <a:t>PhD </a:t>
            </a:r>
            <a:r>
              <a:rPr lang="en-US" sz="1600" dirty="0"/>
              <a:t>CSE</a:t>
            </a:r>
            <a:r>
              <a:rPr lang="en-US" sz="1600" b="1" dirty="0"/>
              <a:t> IIT</a:t>
            </a:r>
            <a:r>
              <a:rPr lang="en-US" sz="1600" dirty="0"/>
              <a:t> </a:t>
            </a:r>
            <a:r>
              <a:rPr lang="en-US" sz="1600" dirty="0" smtClean="0"/>
              <a:t>DHN</a:t>
            </a:r>
            <a:r>
              <a:rPr lang="en-US" sz="1600" b="1" dirty="0"/>
              <a:t>, SM(IEEE, ACM, CSI), Fellow IETE, Fellow IE(I)</a:t>
            </a:r>
          </a:p>
          <a:p>
            <a:pPr>
              <a:buNone/>
            </a:pPr>
            <a:r>
              <a:rPr lang="en-US" sz="1600" b="1" dirty="0"/>
              <a:t>Professor- </a:t>
            </a:r>
            <a:r>
              <a:rPr lang="en-US" sz="1400" b="1" dirty="0"/>
              <a:t>Dept. of Computer Engineering &amp; Applications </a:t>
            </a:r>
            <a:endParaRPr lang="en-US" sz="1600" b="1" dirty="0"/>
          </a:p>
          <a:p>
            <a:pPr>
              <a:buNone/>
            </a:pPr>
            <a:r>
              <a:rPr lang="en-US" sz="1600" b="1" dirty="0"/>
              <a:t>Dean ( International Relations and Academic Collaboration) </a:t>
            </a:r>
          </a:p>
          <a:p>
            <a:pPr>
              <a:buNone/>
            </a:pPr>
            <a:r>
              <a:rPr lang="en-US" sz="1600" b="1" dirty="0"/>
              <a:t>GLA University, Mathura </a:t>
            </a:r>
          </a:p>
          <a:p>
            <a:pPr>
              <a:buNone/>
            </a:pPr>
            <a:r>
              <a:rPr lang="en-US" sz="1600" b="1" dirty="0"/>
              <a:t>dilip.sharma@gla.ac.in</a:t>
            </a:r>
          </a:p>
          <a:p>
            <a:pPr algn="ctr">
              <a:buNone/>
            </a:pPr>
            <a:endParaRPr lang="en-US" sz="1400" dirty="0"/>
          </a:p>
        </p:txBody>
      </p:sp>
      <p:pic>
        <p:nvPicPr>
          <p:cNvPr id="5" name="Picture 2"/>
          <p:cNvPicPr>
            <a:picLocks noChangeAspect="1" noChangeArrowheads="1"/>
          </p:cNvPicPr>
          <p:nvPr/>
        </p:nvPicPr>
        <p:blipFill>
          <a:blip r:embed="rId2" cstate="print"/>
          <a:srcRect/>
          <a:stretch>
            <a:fillRect/>
          </a:stretch>
        </p:blipFill>
        <p:spPr bwMode="auto">
          <a:xfrm>
            <a:off x="731521" y="152400"/>
            <a:ext cx="822960" cy="857570"/>
          </a:xfrm>
          <a:prstGeom prst="rect">
            <a:avLst/>
          </a:prstGeom>
          <a:noFill/>
          <a:ln w="9525">
            <a:noFill/>
            <a:miter lim="800000"/>
            <a:headEnd/>
            <a:tailEnd/>
          </a:ln>
        </p:spPr>
      </p:pic>
      <p:sp>
        <p:nvSpPr>
          <p:cNvPr id="2" name="Title 1"/>
          <p:cNvSpPr>
            <a:spLocks noGrp="1"/>
          </p:cNvSpPr>
          <p:nvPr>
            <p:ph type="title"/>
          </p:nvPr>
        </p:nvSpPr>
        <p:spPr>
          <a:xfrm>
            <a:off x="1143001" y="1195638"/>
            <a:ext cx="7711888" cy="745629"/>
          </a:xfrm>
        </p:spPr>
        <p:txBody>
          <a:bodyPr>
            <a:noAutofit/>
          </a:bodyPr>
          <a:lstStyle/>
          <a:p>
            <a:pPr marL="10454" algn="ctr">
              <a:spcBef>
                <a:spcPts val="116"/>
              </a:spcBef>
            </a:pPr>
            <a:r>
              <a:rPr lang="en-US" sz="2400" dirty="0" smtClean="0">
                <a:cs typeface="Arial"/>
              </a:rPr>
              <a:t/>
            </a:r>
            <a:br>
              <a:rPr lang="en-US" sz="2400" dirty="0" smtClean="0">
                <a:cs typeface="Arial"/>
              </a:rPr>
            </a:br>
            <a:r>
              <a:rPr lang="en-US" sz="2400" dirty="0" err="1">
                <a:solidFill>
                  <a:srgbClr val="00B050"/>
                </a:solidFill>
                <a:cs typeface="Arial"/>
              </a:rPr>
              <a:t>B</a:t>
            </a:r>
            <a:r>
              <a:rPr lang="en-US" sz="2400" dirty="0" err="1" smtClean="0">
                <a:solidFill>
                  <a:srgbClr val="00B050"/>
                </a:solidFill>
                <a:cs typeface="Arial"/>
              </a:rPr>
              <a:t>Tech</a:t>
            </a:r>
            <a:r>
              <a:rPr lang="en-US" sz="2400" dirty="0" smtClean="0">
                <a:solidFill>
                  <a:srgbClr val="00B050"/>
                </a:solidFill>
                <a:cs typeface="Arial"/>
              </a:rPr>
              <a:t>(CSE</a:t>
            </a:r>
            <a:r>
              <a:rPr lang="en-US" sz="2400" dirty="0">
                <a:solidFill>
                  <a:srgbClr val="00B050"/>
                </a:solidFill>
                <a:cs typeface="Arial"/>
              </a:rPr>
              <a:t>)</a:t>
            </a:r>
            <a:br>
              <a:rPr lang="en-US" sz="2400" dirty="0">
                <a:solidFill>
                  <a:srgbClr val="00B050"/>
                </a:solidFill>
                <a:cs typeface="Arial"/>
              </a:rPr>
            </a:br>
            <a:r>
              <a:rPr lang="en-US" sz="2400" dirty="0" smtClean="0">
                <a:solidFill>
                  <a:srgbClr val="00B050"/>
                </a:solidFill>
                <a:cs typeface="Arial"/>
              </a:rPr>
              <a:t>III Year V </a:t>
            </a:r>
            <a:r>
              <a:rPr lang="en-US" sz="2400" dirty="0">
                <a:solidFill>
                  <a:srgbClr val="00B050"/>
                </a:solidFill>
                <a:cs typeface="Arial"/>
              </a:rPr>
              <a:t>Semester </a:t>
            </a:r>
            <a:r>
              <a:rPr lang="en-US" sz="2400">
                <a:solidFill>
                  <a:srgbClr val="00B050"/>
                </a:solidFill>
                <a:cs typeface="Arial"/>
              </a:rPr>
              <a:t>Session </a:t>
            </a:r>
            <a:r>
              <a:rPr lang="en-US" sz="2400" smtClean="0">
                <a:solidFill>
                  <a:srgbClr val="00B050"/>
                </a:solidFill>
                <a:cs typeface="Arial"/>
              </a:rPr>
              <a:t>2025-26 </a:t>
            </a:r>
            <a:r>
              <a:rPr lang="en-US" sz="2400" b="1" dirty="0" smtClean="0">
                <a:solidFill>
                  <a:srgbClr val="00B050"/>
                </a:solidFill>
                <a:cs typeface="Arial"/>
              </a:rPr>
              <a:t/>
            </a:r>
            <a:br>
              <a:rPr lang="en-US" sz="2400" b="1" dirty="0" smtClean="0">
                <a:solidFill>
                  <a:srgbClr val="00B050"/>
                </a:solidFill>
                <a:cs typeface="Arial"/>
              </a:rPr>
            </a:br>
            <a:r>
              <a:rPr lang="en-US" sz="2400" b="1" dirty="0" smtClean="0">
                <a:solidFill>
                  <a:srgbClr val="00B050"/>
                </a:solidFill>
                <a:cs typeface="Arial"/>
              </a:rPr>
              <a:t/>
            </a:r>
            <a:br>
              <a:rPr lang="en-US" sz="2400" b="1" dirty="0" smtClean="0">
                <a:solidFill>
                  <a:srgbClr val="00B050"/>
                </a:solidFill>
                <a:cs typeface="Arial"/>
              </a:rPr>
            </a:br>
            <a:r>
              <a:rPr lang="en-US" sz="2400" b="1" dirty="0" smtClean="0">
                <a:solidFill>
                  <a:srgbClr val="00B0F0"/>
                </a:solidFill>
                <a:ea typeface="ＭＳ Ｐゴシック"/>
                <a:cs typeface="Arial"/>
              </a:rPr>
              <a:t>B</a:t>
            </a:r>
            <a:r>
              <a:rPr lang="en-US" sz="2400" b="1" dirty="0" smtClean="0">
                <a:solidFill>
                  <a:srgbClr val="00B0F0"/>
                </a:solidFill>
                <a:ea typeface="ＭＳ Ｐゴシック"/>
                <a:cs typeface="ＭＳ Ｐゴシック"/>
              </a:rPr>
              <a:t>CSE0005: </a:t>
            </a:r>
            <a:r>
              <a:rPr lang="en-US" sz="2400" b="1" dirty="0" smtClean="0">
                <a:solidFill>
                  <a:schemeClr val="tx1"/>
                </a:solidFill>
                <a:ea typeface="ＭＳ Ｐゴシック"/>
                <a:cs typeface="ＭＳ Ｐゴシック"/>
              </a:rPr>
              <a:t>Machine </a:t>
            </a:r>
            <a:r>
              <a:rPr lang="en-US" sz="2400" b="1" dirty="0">
                <a:solidFill>
                  <a:schemeClr val="tx1"/>
                </a:solidFill>
                <a:ea typeface="ＭＳ Ｐゴシック"/>
                <a:cs typeface="ＭＳ Ｐゴシック"/>
              </a:rPr>
              <a:t>Learning </a:t>
            </a:r>
            <a:r>
              <a:rPr lang="en-US" sz="2400" b="1" dirty="0" smtClean="0">
                <a:solidFill>
                  <a:srgbClr val="FF0000"/>
                </a:solidFill>
              </a:rPr>
              <a:t/>
            </a:r>
            <a:br>
              <a:rPr lang="en-US" sz="2400" b="1" dirty="0" smtClean="0">
                <a:solidFill>
                  <a:srgbClr val="FF0000"/>
                </a:solidFill>
              </a:rPr>
            </a:br>
            <a:r>
              <a:rPr lang="en-US" sz="2400" dirty="0" smtClean="0"/>
              <a:t/>
            </a:r>
            <a:br>
              <a:rPr lang="en-US" sz="2400" dirty="0" smtClean="0"/>
            </a:br>
            <a:r>
              <a:rPr lang="en-US" sz="2400" dirty="0" smtClean="0">
                <a:cs typeface="Arial"/>
              </a:rPr>
              <a:t/>
            </a:r>
            <a:br>
              <a:rPr lang="en-US" sz="2400" dirty="0" smtClean="0">
                <a:cs typeface="Arial"/>
              </a:rPr>
            </a:br>
            <a:endParaRPr lang="en-US" sz="2400" dirty="0"/>
          </a:p>
        </p:txBody>
      </p:sp>
      <p:pic>
        <p:nvPicPr>
          <p:cNvPr id="8" name="Picture 2" descr="Image result for Training and test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596" y="1960378"/>
            <a:ext cx="5201749" cy="240213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5396345" y="2235729"/>
            <a:ext cx="3733800" cy="1754326"/>
          </a:xfrm>
          <a:prstGeom prst="rect">
            <a:avLst/>
          </a:prstGeom>
        </p:spPr>
        <p:txBody>
          <a:bodyPr wrap="square">
            <a:spAutoFit/>
          </a:bodyPr>
          <a:lstStyle/>
          <a:p>
            <a:r>
              <a:rPr lang="en-US" sz="3600" b="1" dirty="0">
                <a:solidFill>
                  <a:srgbClr val="FF0000"/>
                </a:solidFill>
              </a:rPr>
              <a:t>Training and </a:t>
            </a:r>
            <a:r>
              <a:rPr lang="en-US" sz="3600" b="1" dirty="0" smtClean="0">
                <a:solidFill>
                  <a:srgbClr val="FF0000"/>
                </a:solidFill>
              </a:rPr>
              <a:t>Testing</a:t>
            </a:r>
            <a:r>
              <a:rPr lang="en-US" sz="3600" b="1" dirty="0">
                <a:solidFill>
                  <a:srgbClr val="FF0000"/>
                </a:solidFill>
              </a:rPr>
              <a:t>, Evaluation</a:t>
            </a:r>
          </a:p>
        </p:txBody>
      </p:sp>
    </p:spTree>
    <p:extLst>
      <p:ext uri="{BB962C8B-B14F-4D97-AF65-F5344CB8AC3E}">
        <p14:creationId xmlns:p14="http://schemas.microsoft.com/office/powerpoint/2010/main" val="17776210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529999" y="304800"/>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4400" b="1" dirty="0">
                <a:solidFill>
                  <a:srgbClr val="333399"/>
                </a:solidFill>
                <a:latin typeface="Arial"/>
              </a:rPr>
              <a:t>An </a:t>
            </a:r>
            <a:r>
              <a:rPr lang="en-US" altLang="en-US" sz="4400" b="1" dirty="0" smtClean="0">
                <a:solidFill>
                  <a:srgbClr val="333399"/>
                </a:solidFill>
                <a:latin typeface="Arial"/>
              </a:rPr>
              <a:t>Example Application</a:t>
            </a:r>
            <a:endParaRPr lang="en-US" altLang="en-US" sz="4400" b="1" dirty="0">
              <a:solidFill>
                <a:srgbClr val="333399"/>
              </a:solidFill>
              <a:latin typeface="Arial"/>
            </a:endParaRPr>
          </a:p>
        </p:txBody>
      </p:sp>
      <p:sp>
        <p:nvSpPr>
          <p:cNvPr id="8" name="Rectangle 3"/>
          <p:cNvSpPr txBox="1">
            <a:spLocks noChangeArrowheads="1"/>
          </p:cNvSpPr>
          <p:nvPr/>
        </p:nvSpPr>
        <p:spPr bwMode="auto">
          <a:xfrm>
            <a:off x="431800" y="1676400"/>
            <a:ext cx="831691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609600" marR="0" lvl="0" indent="-609600" algn="l" defTabSz="914400" rtl="0" eaLnBrk="1" fontAlgn="base" latinLnBrk="0" hangingPunct="1">
              <a:lnSpc>
                <a:spcPct val="114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An emergency room in a hospital measures 17 variables (e.g., blood pressure, age, </a:t>
            </a:r>
            <a:r>
              <a:rPr kumimoji="0" lang="en-US" altLang="en-US" sz="2600" b="0" i="0" u="none" strike="noStrike" kern="0" cap="none" spc="0" normalizeH="0" baseline="0" noProof="0" dirty="0" err="1" smtClean="0">
                <a:ln>
                  <a:noFill/>
                </a:ln>
                <a:solidFill>
                  <a:srgbClr val="000000"/>
                </a:solidFill>
                <a:effectLst/>
                <a:uLnTx/>
                <a:uFillTx/>
                <a:latin typeface="Arial"/>
                <a:ea typeface="+mn-ea"/>
                <a:cs typeface="+mn-cs"/>
              </a:rPr>
              <a:t>etc</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of newly admitted patients. </a:t>
            </a:r>
          </a:p>
          <a:p>
            <a:pPr marL="609600" marR="0" lvl="0" indent="-609600" algn="l" defTabSz="914400" rtl="0" eaLnBrk="1" fontAlgn="base" latinLnBrk="0" hangingPunct="1">
              <a:lnSpc>
                <a:spcPct val="114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FF0000"/>
                </a:solidFill>
                <a:effectLst/>
                <a:uLnTx/>
                <a:uFillTx/>
                <a:latin typeface="Arial"/>
                <a:ea typeface="+mn-ea"/>
                <a:cs typeface="+mn-cs"/>
              </a:rPr>
              <a:t>A decision is needed</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whether to put a new patient in an Intensive-Care Unit (ICU). </a:t>
            </a:r>
          </a:p>
          <a:p>
            <a:pPr marL="609600" marR="0" lvl="0" indent="-609600" algn="l" defTabSz="914400" rtl="0" eaLnBrk="1" fontAlgn="base" latinLnBrk="0" hangingPunct="1">
              <a:lnSpc>
                <a:spcPct val="114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Due to the high cost of ICU, those patients who may survive less than a month are given higher priority. </a:t>
            </a:r>
          </a:p>
          <a:p>
            <a:pPr marL="609600" marR="0" lvl="0" indent="-609600" algn="l" defTabSz="914400" rtl="0" eaLnBrk="1" fontAlgn="base" latinLnBrk="0" hangingPunct="1">
              <a:lnSpc>
                <a:spcPct val="114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FF0000"/>
                </a:solidFill>
                <a:effectLst/>
                <a:uLnTx/>
                <a:uFillTx/>
                <a:latin typeface="Arial"/>
                <a:ea typeface="+mn-ea"/>
                <a:cs typeface="+mn-cs"/>
              </a:rPr>
              <a:t>Problem</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to predict </a:t>
            </a:r>
            <a:r>
              <a:rPr kumimoji="0" lang="en-US" altLang="en-US" sz="2600" b="0" i="0" u="none" strike="noStrike" kern="0" cap="none" spc="0" normalizeH="0" baseline="0" noProof="0" dirty="0" smtClean="0">
                <a:ln>
                  <a:noFill/>
                </a:ln>
                <a:solidFill>
                  <a:srgbClr val="3333CC"/>
                </a:solidFill>
                <a:effectLst/>
                <a:uLnTx/>
                <a:uFillTx/>
                <a:latin typeface="Arial"/>
                <a:ea typeface="+mn-ea"/>
                <a:cs typeface="+mn-cs"/>
              </a:rPr>
              <a:t>high-risk patients</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and discriminate them from </a:t>
            </a:r>
            <a:r>
              <a:rPr kumimoji="0" lang="en-US" altLang="en-US" sz="2600" b="0" i="0" u="none" strike="noStrike" kern="0" cap="none" spc="0" normalizeH="0" baseline="0" noProof="0" dirty="0" smtClean="0">
                <a:ln>
                  <a:noFill/>
                </a:ln>
                <a:solidFill>
                  <a:srgbClr val="3333CC"/>
                </a:solidFill>
                <a:effectLst/>
                <a:uLnTx/>
                <a:uFillTx/>
                <a:latin typeface="Arial"/>
                <a:ea typeface="+mn-ea"/>
                <a:cs typeface="+mn-cs"/>
              </a:rPr>
              <a:t>low-risk patients</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a:t>
            </a:r>
          </a:p>
        </p:txBody>
      </p:sp>
      <p:pic>
        <p:nvPicPr>
          <p:cNvPr id="6148" name="Picture 4" descr="Image result for Intensive-Care Unit (ICU)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67600" y="5145579"/>
            <a:ext cx="1280160" cy="1642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2694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1000"/>
                                        <p:tgtEl>
                                          <p:spTgt spid="8">
                                            <p:txEl>
                                              <p:pRg st="3" end="3"/>
                                            </p:txEl>
                                          </p:spTgt>
                                        </p:tgtEl>
                                      </p:cBhvr>
                                    </p:animEffect>
                                    <p:anim calcmode="lin" valueType="num">
                                      <p:cBhvr>
                                        <p:cTn id="8"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527345" y="152400"/>
            <a:ext cx="8229600" cy="1139825"/>
          </a:xfrm>
          <a:prstGeom prst="rect">
            <a:avLst/>
          </a:prstGeom>
        </p:spPr>
        <p:txBody>
          <a:bodyPr vert="horz" anchor="ctr">
            <a:normAutofit/>
          </a:bodyPr>
          <a:lstStyle>
            <a:lvl1pPr algn="l" rtl="0" eaLnBrk="1" latinLnBrk="0" hangingPunct="1">
              <a:spcBef>
                <a:spcPct val="0"/>
              </a:spcBef>
              <a:buNone/>
              <a:defRPr kumimoji="0" sz="4400" kern="1200">
                <a:solidFill>
                  <a:schemeClr val="tx2"/>
                </a:solidFill>
                <a:latin typeface="+mj-lt"/>
                <a:ea typeface="+mj-ea"/>
                <a:cs typeface="+mj-cs"/>
              </a:defRPr>
            </a:lvl1pPr>
          </a:lstStyle>
          <a:p>
            <a:r>
              <a:rPr lang="en-US" altLang="en-US" b="1" dirty="0">
                <a:solidFill>
                  <a:srgbClr val="333399"/>
                </a:solidFill>
                <a:latin typeface="Arial"/>
              </a:rPr>
              <a:t>Another </a:t>
            </a:r>
            <a:r>
              <a:rPr lang="en-US" altLang="en-US" b="1" dirty="0" smtClean="0">
                <a:solidFill>
                  <a:srgbClr val="333399"/>
                </a:solidFill>
                <a:latin typeface="Arial"/>
              </a:rPr>
              <a:t>Application</a:t>
            </a:r>
            <a:endParaRPr lang="en-US" altLang="en-US" b="1" dirty="0">
              <a:solidFill>
                <a:srgbClr val="333399"/>
              </a:solidFill>
              <a:latin typeface="Arial"/>
            </a:endParaRPr>
          </a:p>
        </p:txBody>
      </p:sp>
      <p:sp>
        <p:nvSpPr>
          <p:cNvPr id="5" name="Rectangle 3"/>
          <p:cNvSpPr txBox="1">
            <a:spLocks noChangeArrowheads="1"/>
          </p:cNvSpPr>
          <p:nvPr/>
        </p:nvSpPr>
        <p:spPr>
          <a:xfrm>
            <a:off x="518014" y="1600200"/>
            <a:ext cx="8193087" cy="4752975"/>
          </a:xfrm>
          <a:prstGeom prst="rect">
            <a:avLst/>
          </a:prstGeom>
        </p:spPr>
        <p:txBody>
          <a:bodyPr vert="horz">
            <a:no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spcBef>
                <a:spcPts val="0"/>
              </a:spcBef>
            </a:pPr>
            <a:r>
              <a:rPr lang="en-US" altLang="zh-CN" sz="2600" dirty="0" smtClean="0">
                <a:ea typeface="SimSun" panose="02010600030101010101" pitchFamily="2" charset="-122"/>
              </a:rPr>
              <a:t>A credit card company receives thousands of applications for new cards. Each application contains information about an applicant, </a:t>
            </a:r>
          </a:p>
          <a:p>
            <a:pPr marL="971550" lvl="1" indent="-514350">
              <a:spcBef>
                <a:spcPts val="0"/>
              </a:spcBef>
              <a:buClr>
                <a:srgbClr val="002060"/>
              </a:buClr>
              <a:buFont typeface="Wingdings" panose="05000000000000000000" pitchFamily="2" charset="2"/>
              <a:buChar char="ü"/>
            </a:pPr>
            <a:r>
              <a:rPr lang="en-US" altLang="zh-CN" dirty="0" smtClean="0">
                <a:ea typeface="SimSun" panose="02010600030101010101" pitchFamily="2" charset="-122"/>
              </a:rPr>
              <a:t>age </a:t>
            </a:r>
          </a:p>
          <a:p>
            <a:pPr marL="971550" lvl="1" indent="-514350">
              <a:spcBef>
                <a:spcPts val="0"/>
              </a:spcBef>
              <a:buClr>
                <a:srgbClr val="002060"/>
              </a:buClr>
              <a:buFont typeface="Wingdings" panose="05000000000000000000" pitchFamily="2" charset="2"/>
              <a:buChar char="ü"/>
            </a:pPr>
            <a:r>
              <a:rPr lang="en-US" altLang="zh-CN" dirty="0" smtClean="0">
                <a:ea typeface="SimSun" panose="02010600030101010101" pitchFamily="2" charset="-122"/>
              </a:rPr>
              <a:t>Marital status</a:t>
            </a:r>
          </a:p>
          <a:p>
            <a:pPr marL="971550" lvl="1" indent="-514350">
              <a:spcBef>
                <a:spcPts val="0"/>
              </a:spcBef>
              <a:buClr>
                <a:srgbClr val="002060"/>
              </a:buClr>
              <a:buFont typeface="Wingdings" panose="05000000000000000000" pitchFamily="2" charset="2"/>
              <a:buChar char="ü"/>
            </a:pPr>
            <a:r>
              <a:rPr lang="en-US" altLang="zh-CN" dirty="0" smtClean="0">
                <a:ea typeface="SimSun" panose="02010600030101010101" pitchFamily="2" charset="-122"/>
              </a:rPr>
              <a:t>annual salary</a:t>
            </a:r>
          </a:p>
          <a:p>
            <a:pPr marL="971550" lvl="1" indent="-514350">
              <a:spcBef>
                <a:spcPts val="0"/>
              </a:spcBef>
              <a:buClr>
                <a:srgbClr val="002060"/>
              </a:buClr>
              <a:buFont typeface="Wingdings" panose="05000000000000000000" pitchFamily="2" charset="2"/>
              <a:buChar char="ü"/>
            </a:pPr>
            <a:r>
              <a:rPr lang="en-US" altLang="zh-CN" dirty="0" smtClean="0">
                <a:ea typeface="SimSun" panose="02010600030101010101" pitchFamily="2" charset="-122"/>
              </a:rPr>
              <a:t>outstanding debts</a:t>
            </a:r>
          </a:p>
          <a:p>
            <a:pPr marL="971550" lvl="1" indent="-514350">
              <a:spcBef>
                <a:spcPts val="0"/>
              </a:spcBef>
              <a:buClr>
                <a:srgbClr val="002060"/>
              </a:buClr>
              <a:buFont typeface="Wingdings" panose="05000000000000000000" pitchFamily="2" charset="2"/>
              <a:buChar char="ü"/>
            </a:pPr>
            <a:r>
              <a:rPr lang="en-US" altLang="zh-CN" dirty="0" smtClean="0">
                <a:ea typeface="SimSun" panose="02010600030101010101" pitchFamily="2" charset="-122"/>
              </a:rPr>
              <a:t>credit rating</a:t>
            </a:r>
          </a:p>
          <a:p>
            <a:pPr marL="971550" lvl="1" indent="-514350">
              <a:spcBef>
                <a:spcPts val="0"/>
              </a:spcBef>
              <a:buClr>
                <a:srgbClr val="002060"/>
              </a:buClr>
              <a:buFont typeface="Wingdings" panose="05000000000000000000" pitchFamily="2" charset="2"/>
              <a:buChar char="ü"/>
            </a:pPr>
            <a:r>
              <a:rPr lang="en-US" altLang="zh-CN" dirty="0" smtClean="0">
                <a:ea typeface="SimSun" panose="02010600030101010101" pitchFamily="2" charset="-122"/>
              </a:rPr>
              <a:t>etc. </a:t>
            </a:r>
          </a:p>
          <a:p>
            <a:pPr>
              <a:spcBef>
                <a:spcPts val="0"/>
              </a:spcBef>
            </a:pPr>
            <a:r>
              <a:rPr lang="en-US" altLang="zh-CN" sz="2600" dirty="0" smtClean="0">
                <a:solidFill>
                  <a:srgbClr val="FF0000"/>
                </a:solidFill>
                <a:ea typeface="SimSun" panose="02010600030101010101" pitchFamily="2" charset="-122"/>
              </a:rPr>
              <a:t>Problem</a:t>
            </a:r>
            <a:r>
              <a:rPr lang="en-US" altLang="zh-CN" sz="2600" dirty="0" smtClean="0">
                <a:ea typeface="SimSun" panose="02010600030101010101" pitchFamily="2" charset="-122"/>
              </a:rPr>
              <a:t>: To decide whether an application should approved, or to classify applications into two categories, </a:t>
            </a:r>
            <a:r>
              <a:rPr lang="en-US" altLang="zh-CN" sz="2600" dirty="0" smtClean="0">
                <a:solidFill>
                  <a:srgbClr val="3333CC"/>
                </a:solidFill>
                <a:ea typeface="SimSun" panose="02010600030101010101" pitchFamily="2" charset="-122"/>
              </a:rPr>
              <a:t>approved</a:t>
            </a:r>
            <a:r>
              <a:rPr lang="en-US" altLang="zh-CN" sz="2600" dirty="0" smtClean="0">
                <a:ea typeface="SimSun" panose="02010600030101010101" pitchFamily="2" charset="-122"/>
              </a:rPr>
              <a:t> and </a:t>
            </a:r>
            <a:r>
              <a:rPr lang="en-US" altLang="zh-CN" sz="2600" dirty="0" smtClean="0">
                <a:solidFill>
                  <a:srgbClr val="3333CC"/>
                </a:solidFill>
                <a:ea typeface="SimSun" panose="02010600030101010101" pitchFamily="2" charset="-122"/>
              </a:rPr>
              <a:t>not approved</a:t>
            </a:r>
            <a:r>
              <a:rPr lang="en-US" altLang="zh-CN" sz="2600" dirty="0" smtClean="0">
                <a:ea typeface="SimSun" panose="02010600030101010101" pitchFamily="2" charset="-122"/>
              </a:rPr>
              <a:t>. </a:t>
            </a:r>
            <a:endParaRPr lang="en-US" altLang="en-US" sz="2600" dirty="0" smtClean="0">
              <a:ea typeface="SimSun" panose="02010600030101010101" pitchFamily="2" charset="-122"/>
            </a:endParaRPr>
          </a:p>
        </p:txBody>
      </p:sp>
      <p:pic>
        <p:nvPicPr>
          <p:cNvPr id="7172" name="Picture 4"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47661" y="2667000"/>
            <a:ext cx="4663440" cy="2106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animEffect transition="in" filter="fade">
                                      <p:cBhvr>
                                        <p:cTn id="7" dur="1000"/>
                                        <p:tgtEl>
                                          <p:spTgt spid="5">
                                            <p:txEl>
                                              <p:pRg st="7" end="7"/>
                                            </p:txEl>
                                          </p:spTgt>
                                        </p:tgtEl>
                                      </p:cBhvr>
                                    </p:animEffect>
                                    <p:anim calcmode="lin" valueType="num">
                                      <p:cBhvr>
                                        <p:cTn id="8"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76200"/>
            <a:ext cx="8153400" cy="990600"/>
          </a:xfrm>
        </p:spPr>
        <p:txBody>
          <a:bodyPr>
            <a:normAutofit/>
          </a:bodyPr>
          <a:lstStyle/>
          <a:p>
            <a:r>
              <a:rPr lang="en-US" b="1" dirty="0">
                <a:solidFill>
                  <a:srgbClr val="333399"/>
                </a:solidFill>
                <a:latin typeface="Arial"/>
              </a:rPr>
              <a:t>Overview</a:t>
            </a:r>
          </a:p>
        </p:txBody>
      </p:sp>
      <p:sp>
        <p:nvSpPr>
          <p:cNvPr id="5" name="Rectangle 3"/>
          <p:cNvSpPr txBox="1">
            <a:spLocks noChangeArrowheads="1"/>
          </p:cNvSpPr>
          <p:nvPr/>
        </p:nvSpPr>
        <p:spPr bwMode="auto">
          <a:xfrm>
            <a:off x="622300" y="1539875"/>
            <a:ext cx="8064500" cy="486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Like human learning from past experiences.</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But, A computer does not have “experiences”.</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3333CC"/>
                </a:solidFill>
                <a:effectLst/>
                <a:uLnTx/>
                <a:uFillTx/>
                <a:latin typeface="Arial"/>
                <a:ea typeface="+mn-ea"/>
                <a:cs typeface="+mn-cs"/>
              </a:rPr>
              <a:t>A computer system learns from data, </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which represent some “past experiences” of an application domain. </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FF0000"/>
                </a:solidFill>
                <a:effectLst/>
                <a:uLnTx/>
                <a:uFillTx/>
                <a:latin typeface="Arial"/>
                <a:ea typeface="+mn-ea"/>
                <a:cs typeface="+mn-cs"/>
              </a:rPr>
              <a:t>Our focus:</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learn </a:t>
            </a:r>
            <a:r>
              <a:rPr kumimoji="0" lang="en-US" altLang="en-US" sz="2600" b="0" i="0" u="none" strike="noStrike" kern="0" cap="none" spc="0" normalizeH="0" baseline="0" noProof="0" dirty="0" smtClean="0">
                <a:ln>
                  <a:noFill/>
                </a:ln>
                <a:solidFill>
                  <a:srgbClr val="3333CC"/>
                </a:solidFill>
                <a:effectLst/>
                <a:uLnTx/>
                <a:uFillTx/>
                <a:latin typeface="Arial"/>
                <a:ea typeface="+mn-ea"/>
                <a:cs typeface="+mn-cs"/>
              </a:rPr>
              <a:t>a target function</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that can be used to predict the values of a discrete class attribute, e.g., </a:t>
            </a:r>
            <a:r>
              <a:rPr kumimoji="0" lang="en-US" altLang="en-US" sz="2600" b="0" i="0" u="none" strike="noStrike" kern="0" cap="none" spc="0" normalizeH="0" baseline="0" noProof="0" dirty="0" smtClean="0">
                <a:ln>
                  <a:noFill/>
                </a:ln>
                <a:solidFill>
                  <a:srgbClr val="3333CC"/>
                </a:solidFill>
                <a:effectLst/>
                <a:uLnTx/>
                <a:uFillTx/>
                <a:latin typeface="Arial"/>
                <a:ea typeface="+mn-ea"/>
                <a:cs typeface="+mn-cs"/>
              </a:rPr>
              <a:t>approve </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or</a:t>
            </a:r>
            <a:r>
              <a:rPr kumimoji="0" lang="en-US" altLang="en-US" sz="2600" b="0" i="0" u="none" strike="noStrike" kern="0" cap="none" spc="0" normalizeH="0" baseline="0" noProof="0" dirty="0" smtClean="0">
                <a:ln>
                  <a:noFill/>
                </a:ln>
                <a:solidFill>
                  <a:srgbClr val="3333CC"/>
                </a:solidFill>
                <a:effectLst/>
                <a:uLnTx/>
                <a:uFillTx/>
                <a:latin typeface="Arial"/>
                <a:ea typeface="+mn-ea"/>
                <a:cs typeface="+mn-cs"/>
              </a:rPr>
              <a:t> not-approved</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and </a:t>
            </a:r>
            <a:r>
              <a:rPr kumimoji="0" lang="en-US" altLang="en-US" sz="2600" b="0" i="0" u="none" strike="noStrike" kern="0" cap="none" spc="0" normalizeH="0" baseline="0" noProof="0" dirty="0" smtClean="0">
                <a:ln>
                  <a:noFill/>
                </a:ln>
                <a:solidFill>
                  <a:srgbClr val="3333CC"/>
                </a:solidFill>
                <a:effectLst/>
                <a:uLnTx/>
                <a:uFillTx/>
                <a:latin typeface="Arial"/>
                <a:ea typeface="+mn-ea"/>
                <a:cs typeface="+mn-cs"/>
              </a:rPr>
              <a:t>high-risk </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or</a:t>
            </a:r>
            <a:r>
              <a:rPr kumimoji="0" lang="en-US" altLang="en-US" sz="2600" b="0" i="0" u="none" strike="noStrike" kern="0" cap="none" spc="0" normalizeH="0" baseline="0" noProof="0" dirty="0" smtClean="0">
                <a:ln>
                  <a:noFill/>
                </a:ln>
                <a:solidFill>
                  <a:srgbClr val="3333CC"/>
                </a:solidFill>
                <a:effectLst/>
                <a:uLnTx/>
                <a:uFillTx/>
                <a:latin typeface="Arial"/>
                <a:ea typeface="+mn-ea"/>
                <a:cs typeface="+mn-cs"/>
              </a:rPr>
              <a:t> low risk</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The task is commonly called: </a:t>
            </a:r>
            <a:r>
              <a:rPr kumimoji="0" lang="en-US" altLang="en-US" sz="2600" b="0" i="0" u="none" strike="noStrike" kern="0" cap="none" spc="0" normalizeH="0" baseline="0" noProof="0" dirty="0" smtClean="0">
                <a:ln>
                  <a:noFill/>
                </a:ln>
                <a:solidFill>
                  <a:srgbClr val="FF0000"/>
                </a:solidFill>
                <a:effectLst/>
                <a:uLnTx/>
                <a:uFillTx/>
                <a:latin typeface="Arial"/>
                <a:ea typeface="+mn-ea"/>
                <a:cs typeface="+mn-cs"/>
              </a:rPr>
              <a:t>Supervised learning</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a:t>
            </a:r>
            <a:r>
              <a:rPr kumimoji="0" lang="en-US" altLang="en-US" sz="2600" b="0" i="0" u="none" strike="noStrike" kern="0" cap="none" spc="0" normalizeH="0" baseline="0" noProof="0" dirty="0" smtClean="0">
                <a:ln>
                  <a:noFill/>
                </a:ln>
                <a:solidFill>
                  <a:srgbClr val="FF0000"/>
                </a:solidFill>
                <a:effectLst/>
                <a:uLnTx/>
                <a:uFillTx/>
                <a:latin typeface="Arial"/>
                <a:ea typeface="+mn-ea"/>
                <a:cs typeface="+mn-cs"/>
              </a:rPr>
              <a:t>classification</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or </a:t>
            </a:r>
            <a:r>
              <a:rPr kumimoji="0" lang="en-US" altLang="en-US" sz="2600" b="0" i="0" u="none" strike="noStrike" kern="0" cap="none" spc="0" normalizeH="0" baseline="0" noProof="0" dirty="0" smtClean="0">
                <a:ln>
                  <a:noFill/>
                </a:ln>
                <a:solidFill>
                  <a:srgbClr val="FF0000"/>
                </a:solidFill>
                <a:effectLst/>
                <a:uLnTx/>
                <a:uFillTx/>
                <a:latin typeface="Arial"/>
                <a:ea typeface="+mn-ea"/>
                <a:cs typeface="+mn-cs"/>
              </a:rPr>
              <a:t>inductive learning.</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a:t>
            </a:r>
          </a:p>
        </p:txBody>
      </p:sp>
    </p:spTree>
    <p:extLst>
      <p:ext uri="{BB962C8B-B14F-4D97-AF65-F5344CB8AC3E}">
        <p14:creationId xmlns:p14="http://schemas.microsoft.com/office/powerpoint/2010/main" val="225513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500681" y="1676400"/>
            <a:ext cx="8229600"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GB" altLang="en-US" sz="3000" b="0" i="0" u="none" strike="noStrike" kern="0" cap="none" spc="0" normalizeH="0" baseline="0" noProof="0" dirty="0" smtClean="0">
                <a:ln>
                  <a:noFill/>
                </a:ln>
                <a:solidFill>
                  <a:srgbClr val="FF0000"/>
                </a:solidFill>
                <a:effectLst/>
                <a:uLnTx/>
                <a:uFillTx/>
                <a:latin typeface="Arial"/>
                <a:ea typeface="+mn-ea"/>
                <a:cs typeface="+mn-cs"/>
              </a:rPr>
              <a:t>Data:</a:t>
            </a:r>
            <a:r>
              <a:rPr kumimoji="0" lang="en-GB" altLang="en-US" sz="3000" b="0" i="0" u="none" strike="noStrike" kern="0" cap="none" spc="0" normalizeH="0" baseline="0" noProof="0" dirty="0" smtClean="0">
                <a:ln>
                  <a:noFill/>
                </a:ln>
                <a:solidFill>
                  <a:srgbClr val="000000"/>
                </a:solidFill>
                <a:effectLst/>
                <a:uLnTx/>
                <a:uFillTx/>
                <a:latin typeface="Arial"/>
                <a:ea typeface="+mn-ea"/>
                <a:cs typeface="+mn-cs"/>
              </a:rPr>
              <a:t> A set of data records (also called examples, instances or cases) described by</a:t>
            </a:r>
          </a:p>
          <a:p>
            <a:pPr marL="742950" marR="0" lvl="1" indent="-285750" algn="l" defTabSz="914400" rtl="0" eaLnBrk="1" fontAlgn="base" latinLnBrk="0" hangingPunct="1">
              <a:lnSpc>
                <a:spcPct val="100000"/>
              </a:lnSpc>
              <a:spcBef>
                <a:spcPct val="20000"/>
              </a:spcBef>
              <a:spcAft>
                <a:spcPct val="0"/>
              </a:spcAft>
              <a:buClr>
                <a:srgbClr val="3B812F"/>
              </a:buClr>
              <a:buSzPct val="60000"/>
              <a:buFont typeface="Wingdings" panose="05000000000000000000" pitchFamily="2" charset="2"/>
              <a:buChar char="q"/>
              <a:tabLst/>
              <a:defRPr/>
            </a:pPr>
            <a:r>
              <a:rPr kumimoji="0" lang="en-GB" altLang="en-US" sz="2600" b="0" i="1" u="none" strike="noStrike" kern="0" cap="none" spc="0" normalizeH="0" baseline="0" noProof="0" dirty="0" smtClean="0">
                <a:ln>
                  <a:noFill/>
                </a:ln>
                <a:solidFill>
                  <a:srgbClr val="3333CC"/>
                </a:solidFill>
                <a:effectLst/>
                <a:uLnTx/>
                <a:uFillTx/>
                <a:latin typeface="Arial"/>
              </a:rPr>
              <a:t>k</a:t>
            </a:r>
            <a:r>
              <a:rPr kumimoji="0" lang="en-GB" altLang="en-US" sz="2600" b="0" i="0" u="none" strike="noStrike" kern="0" cap="none" spc="0" normalizeH="0" baseline="0" noProof="0" dirty="0" smtClean="0">
                <a:ln>
                  <a:noFill/>
                </a:ln>
                <a:solidFill>
                  <a:srgbClr val="3333CC"/>
                </a:solidFill>
                <a:effectLst/>
                <a:uLnTx/>
                <a:uFillTx/>
                <a:latin typeface="Arial"/>
              </a:rPr>
              <a:t> attributes</a:t>
            </a:r>
            <a:r>
              <a:rPr kumimoji="0" lang="en-GB" altLang="en-US" sz="2600" b="0" i="0" u="none" strike="noStrike" kern="0" cap="none" spc="0" normalizeH="0" baseline="0" noProof="0" dirty="0" smtClean="0">
                <a:ln>
                  <a:noFill/>
                </a:ln>
                <a:solidFill>
                  <a:srgbClr val="000000"/>
                </a:solidFill>
                <a:effectLst/>
                <a:uLnTx/>
                <a:uFillTx/>
                <a:latin typeface="Arial"/>
              </a:rPr>
              <a:t>: </a:t>
            </a:r>
            <a:r>
              <a:rPr kumimoji="0" lang="en-GB" altLang="en-US" sz="2600" b="0" i="1" u="none" strike="noStrike" kern="0" cap="none" spc="0" normalizeH="0" baseline="0" noProof="0" dirty="0" smtClean="0">
                <a:ln>
                  <a:noFill/>
                </a:ln>
                <a:solidFill>
                  <a:srgbClr val="000000"/>
                </a:solidFill>
                <a:effectLst/>
                <a:uLnTx/>
                <a:uFillTx/>
                <a:latin typeface="Arial"/>
              </a:rPr>
              <a:t>A</a:t>
            </a:r>
            <a:r>
              <a:rPr kumimoji="0" lang="en-GB" altLang="en-US" sz="2600" b="0" i="0" u="none" strike="noStrike" kern="0" cap="none" spc="0" normalizeH="0" baseline="-25000" noProof="0" dirty="0" smtClean="0">
                <a:ln>
                  <a:noFill/>
                </a:ln>
                <a:solidFill>
                  <a:srgbClr val="000000"/>
                </a:solidFill>
                <a:effectLst/>
                <a:uLnTx/>
                <a:uFillTx/>
                <a:latin typeface="Arial"/>
              </a:rPr>
              <a:t>1</a:t>
            </a:r>
            <a:r>
              <a:rPr kumimoji="0" lang="en-GB" altLang="en-US" sz="2600" b="0" i="0" u="none" strike="noStrike" kern="0" cap="none" spc="0" normalizeH="0" baseline="0" noProof="0" dirty="0" smtClean="0">
                <a:ln>
                  <a:noFill/>
                </a:ln>
                <a:solidFill>
                  <a:srgbClr val="000000"/>
                </a:solidFill>
                <a:effectLst/>
                <a:uLnTx/>
                <a:uFillTx/>
                <a:latin typeface="Arial"/>
              </a:rPr>
              <a:t>, </a:t>
            </a:r>
            <a:r>
              <a:rPr kumimoji="0" lang="en-GB" altLang="en-US" sz="2600" b="0" i="1" u="none" strike="noStrike" kern="0" cap="none" spc="0" normalizeH="0" baseline="0" noProof="0" dirty="0" smtClean="0">
                <a:ln>
                  <a:noFill/>
                </a:ln>
                <a:solidFill>
                  <a:srgbClr val="000000"/>
                </a:solidFill>
                <a:effectLst/>
                <a:uLnTx/>
                <a:uFillTx/>
                <a:latin typeface="Arial"/>
              </a:rPr>
              <a:t>A</a:t>
            </a:r>
            <a:r>
              <a:rPr kumimoji="0" lang="en-GB" altLang="en-US" sz="2600" b="0" i="0" u="none" strike="noStrike" kern="0" cap="none" spc="0" normalizeH="0" baseline="-25000" noProof="0" dirty="0" smtClean="0">
                <a:ln>
                  <a:noFill/>
                </a:ln>
                <a:solidFill>
                  <a:srgbClr val="000000"/>
                </a:solidFill>
                <a:effectLst/>
                <a:uLnTx/>
                <a:uFillTx/>
                <a:latin typeface="Arial"/>
              </a:rPr>
              <a:t>2</a:t>
            </a:r>
            <a:r>
              <a:rPr kumimoji="0" lang="en-GB" altLang="en-US" sz="2600" b="0" i="0" u="none" strike="noStrike" kern="0" cap="none" spc="0" normalizeH="0" baseline="0" noProof="0" dirty="0" smtClean="0">
                <a:ln>
                  <a:noFill/>
                </a:ln>
                <a:solidFill>
                  <a:srgbClr val="000000"/>
                </a:solidFill>
                <a:effectLst/>
                <a:uLnTx/>
                <a:uFillTx/>
                <a:latin typeface="Arial"/>
              </a:rPr>
              <a:t>, … </a:t>
            </a:r>
            <a:r>
              <a:rPr kumimoji="0" lang="en-GB" altLang="en-US" sz="2600" b="0" i="1" u="none" strike="noStrike" kern="0" cap="none" spc="0" normalizeH="0" baseline="0" noProof="0" dirty="0" err="1" smtClean="0">
                <a:ln>
                  <a:noFill/>
                </a:ln>
                <a:solidFill>
                  <a:srgbClr val="000000"/>
                </a:solidFill>
                <a:effectLst/>
                <a:uLnTx/>
                <a:uFillTx/>
                <a:latin typeface="Arial"/>
              </a:rPr>
              <a:t>A</a:t>
            </a:r>
            <a:r>
              <a:rPr kumimoji="0" lang="en-GB" altLang="en-US" sz="2600" b="0" i="1" u="none" strike="noStrike" kern="0" cap="none" spc="0" normalizeH="0" baseline="-25000" noProof="0" dirty="0" err="1" smtClean="0">
                <a:ln>
                  <a:noFill/>
                </a:ln>
                <a:solidFill>
                  <a:srgbClr val="000000"/>
                </a:solidFill>
                <a:effectLst/>
                <a:uLnTx/>
                <a:uFillTx/>
                <a:latin typeface="Arial"/>
              </a:rPr>
              <a:t>k</a:t>
            </a:r>
            <a:r>
              <a:rPr kumimoji="0" lang="en-GB" altLang="en-US" sz="2600" b="0" i="0" u="none" strike="noStrike" kern="0" cap="none" spc="0" normalizeH="0" baseline="0" noProof="0" dirty="0" smtClean="0">
                <a:ln>
                  <a:noFill/>
                </a:ln>
                <a:solidFill>
                  <a:srgbClr val="000000"/>
                </a:solidFill>
                <a:effectLst/>
                <a:uLnTx/>
                <a:uFillTx/>
                <a:latin typeface="Arial"/>
              </a:rPr>
              <a:t>. </a:t>
            </a:r>
          </a:p>
          <a:p>
            <a:pPr marL="742950" marR="0" lvl="1" indent="-285750" algn="l" defTabSz="914400" rtl="0" eaLnBrk="1" fontAlgn="base" latinLnBrk="0" hangingPunct="1">
              <a:lnSpc>
                <a:spcPct val="100000"/>
              </a:lnSpc>
              <a:spcBef>
                <a:spcPct val="20000"/>
              </a:spcBef>
              <a:spcAft>
                <a:spcPct val="0"/>
              </a:spcAft>
              <a:buClr>
                <a:srgbClr val="3B812F"/>
              </a:buClr>
              <a:buSzPct val="60000"/>
              <a:buFont typeface="Wingdings" panose="05000000000000000000" pitchFamily="2" charset="2"/>
              <a:buChar char="q"/>
              <a:tabLst/>
              <a:defRPr/>
            </a:pPr>
            <a:r>
              <a:rPr kumimoji="0" lang="en-GB" altLang="en-US" sz="2600" b="0" i="0" u="none" strike="noStrike" kern="0" cap="none" spc="0" normalizeH="0" baseline="0" noProof="0" dirty="0" smtClean="0">
                <a:ln>
                  <a:noFill/>
                </a:ln>
                <a:solidFill>
                  <a:srgbClr val="3333CC"/>
                </a:solidFill>
                <a:effectLst/>
                <a:uLnTx/>
                <a:uFillTx/>
                <a:latin typeface="Arial"/>
              </a:rPr>
              <a:t>a class</a:t>
            </a:r>
            <a:r>
              <a:rPr kumimoji="0" lang="en-GB" altLang="en-US" sz="2600" b="0" i="0" u="none" strike="noStrike" kern="0" cap="none" spc="0" normalizeH="0" baseline="0" noProof="0" dirty="0" smtClean="0">
                <a:ln>
                  <a:noFill/>
                </a:ln>
                <a:solidFill>
                  <a:srgbClr val="000000"/>
                </a:solidFill>
                <a:effectLst/>
                <a:uLnTx/>
                <a:uFillTx/>
                <a:latin typeface="Arial"/>
              </a:rPr>
              <a:t>: Each example is labelled with a pre-defined class. </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GB" altLang="en-US" sz="3000" b="0" i="0" u="none" strike="noStrike" kern="0" cap="none" spc="0" normalizeH="0" baseline="0" noProof="0" dirty="0" smtClean="0">
                <a:ln>
                  <a:noFill/>
                </a:ln>
                <a:solidFill>
                  <a:srgbClr val="FF0000"/>
                </a:solidFill>
                <a:effectLst/>
                <a:uLnTx/>
                <a:uFillTx/>
                <a:latin typeface="Arial"/>
                <a:ea typeface="+mn-ea"/>
                <a:cs typeface="+mn-cs"/>
              </a:rPr>
              <a:t>Goal:</a:t>
            </a:r>
            <a:r>
              <a:rPr kumimoji="0" lang="en-GB" altLang="en-US" sz="3000" b="0" i="0" u="none" strike="noStrike" kern="0" cap="none" spc="0" normalizeH="0" baseline="0" noProof="0" dirty="0" smtClean="0">
                <a:ln>
                  <a:noFill/>
                </a:ln>
                <a:solidFill>
                  <a:srgbClr val="000000"/>
                </a:solidFill>
                <a:effectLst/>
                <a:uLnTx/>
                <a:uFillTx/>
                <a:latin typeface="Arial"/>
                <a:ea typeface="+mn-ea"/>
                <a:cs typeface="+mn-cs"/>
              </a:rPr>
              <a:t> To learn a </a:t>
            </a:r>
            <a:r>
              <a:rPr kumimoji="0" lang="en-GB" altLang="en-US" sz="3000" b="0" i="0" u="none" strike="noStrike" kern="0" cap="none" spc="0" normalizeH="0" baseline="0" noProof="0" dirty="0" smtClean="0">
                <a:ln>
                  <a:noFill/>
                </a:ln>
                <a:solidFill>
                  <a:srgbClr val="3333CC"/>
                </a:solidFill>
                <a:effectLst/>
                <a:uLnTx/>
                <a:uFillTx/>
                <a:latin typeface="Arial"/>
                <a:ea typeface="+mn-ea"/>
                <a:cs typeface="+mn-cs"/>
              </a:rPr>
              <a:t>classification model</a:t>
            </a:r>
            <a:r>
              <a:rPr kumimoji="0" lang="en-GB" altLang="en-US" sz="3000" b="0" i="0" u="none" strike="noStrike" kern="0" cap="none" spc="0" normalizeH="0" baseline="0" noProof="0" dirty="0" smtClean="0">
                <a:ln>
                  <a:noFill/>
                </a:ln>
                <a:solidFill>
                  <a:srgbClr val="000000"/>
                </a:solidFill>
                <a:effectLst/>
                <a:uLnTx/>
                <a:uFillTx/>
                <a:latin typeface="Arial"/>
                <a:ea typeface="+mn-ea"/>
                <a:cs typeface="+mn-cs"/>
              </a:rPr>
              <a:t> from the data that can be used to predict the classes of new (future, or test) cases/instances.</a:t>
            </a:r>
          </a:p>
        </p:txBody>
      </p:sp>
      <p:sp>
        <p:nvSpPr>
          <p:cNvPr id="6" name="Title 1"/>
          <p:cNvSpPr>
            <a:spLocks noGrp="1"/>
          </p:cNvSpPr>
          <p:nvPr>
            <p:ph type="title"/>
          </p:nvPr>
        </p:nvSpPr>
        <p:spPr>
          <a:xfrm>
            <a:off x="612648" y="76200"/>
            <a:ext cx="8153400" cy="990600"/>
          </a:xfrm>
        </p:spPr>
        <p:txBody>
          <a:bodyPr>
            <a:normAutofit/>
          </a:bodyPr>
          <a:lstStyle/>
          <a:p>
            <a:r>
              <a:rPr lang="en-US" b="1" dirty="0" smtClean="0">
                <a:solidFill>
                  <a:srgbClr val="333399"/>
                </a:solidFill>
                <a:latin typeface="Arial"/>
              </a:rPr>
              <a:t>Overview …</a:t>
            </a:r>
            <a:endParaRPr lang="en-US" b="1" dirty="0">
              <a:solidFill>
                <a:srgbClr val="333399"/>
              </a:solidFill>
              <a:latin typeface="Arial"/>
            </a:endParaRPr>
          </a:p>
        </p:txBody>
      </p:sp>
    </p:spTree>
    <p:extLst>
      <p:ext uri="{BB962C8B-B14F-4D97-AF65-F5344CB8AC3E}">
        <p14:creationId xmlns:p14="http://schemas.microsoft.com/office/powerpoint/2010/main" val="35015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395288" y="225425"/>
            <a:ext cx="8212137" cy="871538"/>
          </a:xfrm>
          <a:prstGeom prst="rect">
            <a:avLst/>
          </a:prstGeom>
        </p:spPr>
        <p:txBody>
          <a:bodyPr vert="horz" anchor="ctr">
            <a:noAutofit/>
          </a:bodyPr>
          <a:lstStyle>
            <a:lvl1pPr algn="l" rtl="0" eaLnBrk="1" latinLnBrk="0" hangingPunct="1">
              <a:spcBef>
                <a:spcPct val="0"/>
              </a:spcBef>
              <a:buNone/>
              <a:defRPr kumimoji="0" sz="4400" kern="1200">
                <a:solidFill>
                  <a:schemeClr val="tx2"/>
                </a:solidFill>
                <a:latin typeface="+mj-lt"/>
                <a:ea typeface="+mj-ea"/>
                <a:cs typeface="+mj-cs"/>
              </a:defRPr>
            </a:lvl1pPr>
          </a:lstStyle>
          <a:p>
            <a:r>
              <a:rPr lang="en-US" altLang="en-US" sz="3600" b="1" dirty="0">
                <a:solidFill>
                  <a:srgbClr val="333399"/>
                </a:solidFill>
                <a:latin typeface="Arial"/>
              </a:rPr>
              <a:t>An example: data (loan application)</a:t>
            </a:r>
          </a:p>
        </p:txBody>
      </p:sp>
      <p:sp>
        <p:nvSpPr>
          <p:cNvPr id="5" name="Text Box 7"/>
          <p:cNvSpPr txBox="1">
            <a:spLocks noChangeArrowheads="1"/>
          </p:cNvSpPr>
          <p:nvPr/>
        </p:nvSpPr>
        <p:spPr bwMode="auto">
          <a:xfrm>
            <a:off x="6705600" y="944563"/>
            <a:ext cx="21510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Font typeface="Wingdings" panose="05000000000000000000" pitchFamily="2" charset="2"/>
              <a:buNone/>
            </a:pPr>
            <a:r>
              <a:rPr lang="en-US" altLang="en-US" sz="1800" b="1" dirty="0">
                <a:solidFill>
                  <a:srgbClr val="C00000"/>
                </a:solidFill>
              </a:rPr>
              <a:t>Approved or not</a:t>
            </a:r>
          </a:p>
        </p:txBody>
      </p:sp>
      <p:pic>
        <p:nvPicPr>
          <p:cNvPr id="6" name="Picture 8"/>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533400" y="1687513"/>
            <a:ext cx="8229600" cy="4789487"/>
          </a:xfrm>
        </p:spPr>
      </p:pic>
    </p:spTree>
    <p:extLst>
      <p:ext uri="{BB962C8B-B14F-4D97-AF65-F5344CB8AC3E}">
        <p14:creationId xmlns:p14="http://schemas.microsoft.com/office/powerpoint/2010/main" val="11537045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696118" y="228600"/>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4400" b="1" dirty="0">
                <a:solidFill>
                  <a:srgbClr val="333399"/>
                </a:solidFill>
                <a:latin typeface="Arial"/>
              </a:rPr>
              <a:t>An example: the learning task</a:t>
            </a:r>
          </a:p>
        </p:txBody>
      </p:sp>
      <p:sp>
        <p:nvSpPr>
          <p:cNvPr id="8" name="Rectangle 3"/>
          <p:cNvSpPr txBox="1">
            <a:spLocks noChangeArrowheads="1"/>
          </p:cNvSpPr>
          <p:nvPr/>
        </p:nvSpPr>
        <p:spPr bwMode="auto">
          <a:xfrm>
            <a:off x="623887" y="1758950"/>
            <a:ext cx="8183563" cy="471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FF0000"/>
                </a:solidFill>
                <a:effectLst/>
                <a:uLnTx/>
                <a:uFillTx/>
                <a:latin typeface="Arial"/>
                <a:ea typeface="+mn-ea"/>
                <a:cs typeface="+mn-cs"/>
              </a:rPr>
              <a:t>Learn a classification model</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from the data </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Use the model to classify future loan applications into </a:t>
            </a:r>
          </a:p>
          <a:p>
            <a:pPr marR="0" lvl="1" algn="l" defTabSz="914400" rtl="0" eaLnBrk="1" fontAlgn="base" latinLnBrk="0" hangingPunct="1">
              <a:lnSpc>
                <a:spcPct val="100000"/>
              </a:lnSpc>
              <a:spcBef>
                <a:spcPct val="20000"/>
              </a:spcBef>
              <a:spcAft>
                <a:spcPct val="0"/>
              </a:spcAft>
              <a:buClr>
                <a:srgbClr val="0070C0"/>
              </a:buClr>
              <a:buSzPct val="100000"/>
              <a:buFont typeface="Wingdings" panose="05000000000000000000" pitchFamily="2" charset="2"/>
              <a:buChar char="ü"/>
              <a:tabLst/>
              <a:defRPr/>
            </a:pPr>
            <a:r>
              <a:rPr kumimoji="0" lang="en-US" altLang="en-US" sz="2200" b="0" i="0" u="none" strike="noStrike" kern="0" cap="none" spc="0" normalizeH="0" baseline="0" noProof="0" dirty="0" smtClean="0">
                <a:ln>
                  <a:noFill/>
                </a:ln>
                <a:solidFill>
                  <a:srgbClr val="3333CC"/>
                </a:solidFill>
                <a:effectLst/>
                <a:uLnTx/>
                <a:uFillTx/>
                <a:latin typeface="Arial"/>
              </a:rPr>
              <a:t>Yes (approved) and </a:t>
            </a:r>
          </a:p>
          <a:p>
            <a:pPr marR="0" lvl="1" algn="l" defTabSz="914400" rtl="0" eaLnBrk="1" fontAlgn="base" latinLnBrk="0" hangingPunct="1">
              <a:lnSpc>
                <a:spcPct val="100000"/>
              </a:lnSpc>
              <a:spcBef>
                <a:spcPct val="20000"/>
              </a:spcBef>
              <a:spcAft>
                <a:spcPct val="0"/>
              </a:spcAft>
              <a:buClr>
                <a:srgbClr val="0070C0"/>
              </a:buClr>
              <a:buSzPct val="100000"/>
              <a:buFont typeface="Wingdings" panose="05000000000000000000" pitchFamily="2" charset="2"/>
              <a:buChar char="ü"/>
              <a:tabLst/>
              <a:defRPr/>
            </a:pPr>
            <a:r>
              <a:rPr kumimoji="0" lang="en-US" altLang="en-US" sz="2200" b="0" i="0" u="none" strike="noStrike" kern="0" cap="none" spc="0" normalizeH="0" baseline="0" noProof="0" dirty="0" smtClean="0">
                <a:ln>
                  <a:noFill/>
                </a:ln>
                <a:solidFill>
                  <a:srgbClr val="3333CC"/>
                </a:solidFill>
                <a:effectLst/>
                <a:uLnTx/>
                <a:uFillTx/>
                <a:latin typeface="Arial"/>
              </a:rPr>
              <a:t>No (not approved)</a:t>
            </a:r>
          </a:p>
          <a:p>
            <a:pPr marL="342900" marR="0" lvl="0" indent="-342900" algn="l" defTabSz="914400" rtl="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What is the class for following case/instance?</a:t>
            </a:r>
          </a:p>
        </p:txBody>
      </p:sp>
      <p:pic>
        <p:nvPicPr>
          <p:cNvPr id="9"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6437" y="4891088"/>
            <a:ext cx="8208963"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382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animEffect transition="in" filter="barn(inVertical)">
                                      <p:cBhvr>
                                        <p:cTn id="15" dur="500"/>
                                        <p:tgtEl>
                                          <p:spTgt spid="8">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92510" y="457200"/>
            <a:ext cx="8458200" cy="2031325"/>
          </a:xfrm>
          <a:prstGeom prst="rect">
            <a:avLst/>
          </a:prstGeom>
        </p:spPr>
        <p:txBody>
          <a:bodyPr wrap="square">
            <a:spAutoFit/>
          </a:bodyPr>
          <a:lstStyle/>
          <a:p>
            <a:r>
              <a:rPr lang="en-US" b="1" dirty="0" smtClean="0">
                <a:latin typeface="Arial" panose="020B0604020202020204" pitchFamily="34" charset="0"/>
                <a:cs typeface="Arial" panose="020B0604020202020204" pitchFamily="34" charset="0"/>
              </a:rPr>
              <a:t>Question 1:</a:t>
            </a:r>
            <a:r>
              <a:rPr lang="en-US" dirty="0" smtClean="0">
                <a:latin typeface="Arial" panose="020B0604020202020204" pitchFamily="34" charset="0"/>
                <a:cs typeface="Arial" panose="020B0604020202020204" pitchFamily="34" charset="0"/>
              </a:rPr>
              <a:t> In </a:t>
            </a:r>
            <a:r>
              <a:rPr lang="en-US" dirty="0">
                <a:latin typeface="Arial" panose="020B0604020202020204" pitchFamily="34" charset="0"/>
                <a:cs typeface="Arial" panose="020B0604020202020204" pitchFamily="34" charset="0"/>
              </a:rPr>
              <a:t>the context of supervised learning, what is the </a:t>
            </a:r>
            <a:r>
              <a:rPr lang="en-US" i="1" dirty="0">
                <a:latin typeface="Arial" panose="020B0604020202020204" pitchFamily="34" charset="0"/>
                <a:cs typeface="Arial" panose="020B0604020202020204" pitchFamily="34" charset="0"/>
              </a:rPr>
              <a:t>main objective</a:t>
            </a:r>
            <a:r>
              <a:rPr lang="en-US" dirty="0">
                <a:latin typeface="Arial" panose="020B0604020202020204" pitchFamily="34" charset="0"/>
                <a:cs typeface="Arial" panose="020B0604020202020204" pitchFamily="34" charset="0"/>
              </a:rPr>
              <a:t> when training a machine learning model using historical data?</a:t>
            </a:r>
          </a:p>
          <a:p>
            <a:r>
              <a:rPr lang="en-US" b="1" dirty="0">
                <a:latin typeface="Arial" panose="020B0604020202020204" pitchFamily="34" charset="0"/>
                <a:cs typeface="Arial" panose="020B0604020202020204" pitchFamily="34" charset="0"/>
              </a:rPr>
              <a:t>Options:</a:t>
            </a: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 To generate random predictions for future data</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B. To learn a target function that predicts a class label based on input attributes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 To cluster similar data points into different groups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 To clean and store the data efficiently</a:t>
            </a:r>
          </a:p>
        </p:txBody>
      </p:sp>
      <p:sp>
        <p:nvSpPr>
          <p:cNvPr id="7" name="Rectangle 6"/>
          <p:cNvSpPr/>
          <p:nvPr/>
        </p:nvSpPr>
        <p:spPr>
          <a:xfrm>
            <a:off x="263013" y="2653465"/>
            <a:ext cx="8610600" cy="646331"/>
          </a:xfrm>
          <a:prstGeom prst="rect">
            <a:avLst/>
          </a:prstGeom>
        </p:spPr>
        <p:txBody>
          <a:bodyPr wrap="square">
            <a:spAutoFit/>
          </a:bodyPr>
          <a:lstStyle/>
          <a:p>
            <a:r>
              <a:rPr lang="en-US" b="1" dirty="0">
                <a:solidFill>
                  <a:srgbClr val="00B050"/>
                </a:solidFill>
                <a:latin typeface="Arial" panose="020B0604020202020204" pitchFamily="34" charset="0"/>
                <a:cs typeface="Arial" panose="020B0604020202020204" pitchFamily="34" charset="0"/>
              </a:rPr>
              <a:t>Correct </a:t>
            </a:r>
            <a:r>
              <a:rPr lang="en-US" b="1" dirty="0" smtClean="0">
                <a:solidFill>
                  <a:srgbClr val="00B050"/>
                </a:solidFill>
                <a:latin typeface="Arial" panose="020B0604020202020204" pitchFamily="34" charset="0"/>
                <a:cs typeface="Arial" panose="020B0604020202020204" pitchFamily="34" charset="0"/>
              </a:rPr>
              <a:t>Answer:</a:t>
            </a:r>
            <a:r>
              <a:rPr lang="en-US" dirty="0" smtClean="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B</a:t>
            </a:r>
            <a:r>
              <a:rPr lang="en-US" b="1" dirty="0">
                <a:latin typeface="Arial" panose="020B0604020202020204" pitchFamily="34" charset="0"/>
                <a:cs typeface="Arial" panose="020B0604020202020204" pitchFamily="34" charset="0"/>
              </a:rPr>
              <a:t>. To learn a target function that predicts a class label based on input attributes</a:t>
            </a:r>
            <a:endParaRPr lang="en-US" dirty="0">
              <a:latin typeface="Arial" panose="020B0604020202020204" pitchFamily="34" charset="0"/>
              <a:cs typeface="Arial" panose="020B0604020202020204" pitchFamily="34" charset="0"/>
            </a:endParaRPr>
          </a:p>
        </p:txBody>
      </p:sp>
      <p:sp>
        <p:nvSpPr>
          <p:cNvPr id="8" name="Rectangle 7"/>
          <p:cNvSpPr/>
          <p:nvPr/>
        </p:nvSpPr>
        <p:spPr>
          <a:xfrm>
            <a:off x="282678" y="3682992"/>
            <a:ext cx="8610600" cy="2308324"/>
          </a:xfrm>
          <a:prstGeom prst="rect">
            <a:avLst/>
          </a:prstGeom>
        </p:spPr>
        <p:txBody>
          <a:bodyPr wrap="square">
            <a:spAutoFit/>
          </a:bodyPr>
          <a:lstStyle/>
          <a:p>
            <a:r>
              <a:rPr lang="en-US" b="1" dirty="0" smtClean="0">
                <a:latin typeface="Arial" panose="020B0604020202020204" pitchFamily="34" charset="0"/>
                <a:cs typeface="Arial" panose="020B0604020202020204" pitchFamily="34" charset="0"/>
              </a:rPr>
              <a:t>Question 2:</a:t>
            </a:r>
            <a:r>
              <a:rPr lang="en-US" dirty="0" smtClean="0">
                <a:latin typeface="Arial" panose="020B0604020202020204" pitchFamily="34" charset="0"/>
                <a:cs typeface="Arial" panose="020B0604020202020204" pitchFamily="34" charset="0"/>
              </a:rPr>
              <a:t> A </a:t>
            </a:r>
            <a:r>
              <a:rPr lang="en-US" dirty="0">
                <a:latin typeface="Arial" panose="020B0604020202020204" pitchFamily="34" charset="0"/>
                <a:cs typeface="Arial" panose="020B0604020202020204" pitchFamily="34" charset="0"/>
              </a:rPr>
              <a:t>hospital wants to predict whether newly admitted patients should be placed in the ICU. The system uses 17 measured variables to make this decision, with a focus on identifying high-risk patients. This task is an example of:</a:t>
            </a:r>
          </a:p>
          <a:p>
            <a:r>
              <a:rPr lang="en-US" b="1" dirty="0">
                <a:latin typeface="Arial" panose="020B0604020202020204" pitchFamily="34" charset="0"/>
                <a:cs typeface="Arial" panose="020B0604020202020204" pitchFamily="34" charset="0"/>
              </a:rPr>
              <a:t>Options:</a:t>
            </a: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 Unsupervised learning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B. Clustering</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 Supervised learning or classification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 Reinforcement learning</a:t>
            </a:r>
          </a:p>
        </p:txBody>
      </p:sp>
      <p:sp>
        <p:nvSpPr>
          <p:cNvPr id="9" name="Rectangle 8"/>
          <p:cNvSpPr/>
          <p:nvPr/>
        </p:nvSpPr>
        <p:spPr>
          <a:xfrm>
            <a:off x="228600" y="6096000"/>
            <a:ext cx="8487697" cy="369332"/>
          </a:xfrm>
          <a:prstGeom prst="rect">
            <a:avLst/>
          </a:prstGeom>
        </p:spPr>
        <p:txBody>
          <a:bodyPr wrap="square">
            <a:spAutoFit/>
          </a:bodyPr>
          <a:lstStyle/>
          <a:p>
            <a:r>
              <a:rPr lang="en-US" b="1" dirty="0">
                <a:solidFill>
                  <a:srgbClr val="00B050"/>
                </a:solidFill>
                <a:latin typeface="Arial" panose="020B0604020202020204" pitchFamily="34" charset="0"/>
                <a:cs typeface="Arial" panose="020B0604020202020204" pitchFamily="34" charset="0"/>
              </a:rPr>
              <a:t>Correct </a:t>
            </a:r>
            <a:r>
              <a:rPr lang="en-US" b="1" dirty="0" smtClean="0">
                <a:solidFill>
                  <a:srgbClr val="00B050"/>
                </a:solidFill>
                <a:latin typeface="Arial" panose="020B0604020202020204" pitchFamily="34" charset="0"/>
                <a:cs typeface="Arial" panose="020B0604020202020204" pitchFamily="34" charset="0"/>
              </a:rPr>
              <a:t>Answer:</a:t>
            </a:r>
            <a:r>
              <a:rPr lang="en-US" dirty="0" smtClean="0">
                <a:latin typeface="Arial" panose="020B0604020202020204" pitchFamily="34" charset="0"/>
                <a:cs typeface="Arial" panose="020B0604020202020204" pitchFamily="34" charset="0"/>
              </a:rPr>
              <a:t> </a:t>
            </a:r>
            <a:r>
              <a:rPr lang="en-US" b="1" dirty="0" smtClean="0">
                <a:latin typeface="Arial" panose="020B0604020202020204" pitchFamily="34" charset="0"/>
                <a:cs typeface="Arial" panose="020B0604020202020204" pitchFamily="34" charset="0"/>
              </a:rPr>
              <a:t>C</a:t>
            </a:r>
            <a:r>
              <a:rPr lang="en-US" b="1" dirty="0">
                <a:latin typeface="Arial" panose="020B0604020202020204" pitchFamily="34" charset="0"/>
                <a:cs typeface="Arial" panose="020B0604020202020204" pitchFamily="34" charset="0"/>
              </a:rPr>
              <a:t>. Supervised learning or classification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75145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152400" y="76200"/>
            <a:ext cx="86868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sz="3600" b="1" dirty="0">
                <a:solidFill>
                  <a:srgbClr val="333399"/>
                </a:solidFill>
                <a:latin typeface="Arial"/>
              </a:rPr>
              <a:t>Overview </a:t>
            </a:r>
            <a:r>
              <a:rPr lang="en-US" sz="3600" b="1" dirty="0" smtClean="0">
                <a:solidFill>
                  <a:srgbClr val="333399"/>
                </a:solidFill>
                <a:latin typeface="Arial"/>
              </a:rPr>
              <a:t>…</a:t>
            </a:r>
          </a:p>
          <a:p>
            <a:pPr lvl="0" eaLnBrk="1" hangingPunct="1"/>
            <a:r>
              <a:rPr lang="en-US" altLang="en-US" sz="2800" b="1" dirty="0" smtClean="0">
                <a:solidFill>
                  <a:srgbClr val="0070C0"/>
                </a:solidFill>
                <a:latin typeface="Arial"/>
              </a:rPr>
              <a:t>Supervised </a:t>
            </a:r>
            <a:r>
              <a:rPr lang="en-US" altLang="en-US" sz="2800" b="1" dirty="0">
                <a:solidFill>
                  <a:srgbClr val="0070C0"/>
                </a:solidFill>
                <a:latin typeface="Arial"/>
              </a:rPr>
              <a:t>vs. </a:t>
            </a:r>
            <a:r>
              <a:rPr lang="en-US" altLang="en-US" sz="2800" b="1" dirty="0" smtClean="0">
                <a:solidFill>
                  <a:srgbClr val="0070C0"/>
                </a:solidFill>
                <a:latin typeface="Arial"/>
              </a:rPr>
              <a:t>Unsupervised </a:t>
            </a:r>
            <a:r>
              <a:rPr lang="en-US" altLang="en-US" sz="2800" b="1" dirty="0">
                <a:solidFill>
                  <a:srgbClr val="0070C0"/>
                </a:solidFill>
                <a:latin typeface="Arial"/>
              </a:rPr>
              <a:t>Learning</a:t>
            </a:r>
          </a:p>
        </p:txBody>
      </p:sp>
      <p:sp>
        <p:nvSpPr>
          <p:cNvPr id="7" name="Rectangle 3"/>
          <p:cNvSpPr txBox="1">
            <a:spLocks noChangeArrowheads="1"/>
          </p:cNvSpPr>
          <p:nvPr/>
        </p:nvSpPr>
        <p:spPr bwMode="auto">
          <a:xfrm>
            <a:off x="609600" y="1573213"/>
            <a:ext cx="8229600" cy="475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spcBef>
                <a:spcPts val="1200"/>
              </a:spcBef>
              <a:spcAft>
                <a:spcPct val="0"/>
              </a:spcAft>
              <a:buClr>
                <a:srgbClr val="CC9900"/>
              </a:buClr>
              <a:buSzPct val="65000"/>
              <a:buFont typeface="Wingdings" panose="05000000000000000000" pitchFamily="2" charset="2"/>
              <a:buChar char="n"/>
              <a:tabLst/>
              <a:defRPr/>
            </a:pPr>
            <a:r>
              <a:rPr kumimoji="0" lang="en-US" altLang="en-US" sz="2400" b="0" i="0" u="none" strike="noStrike" kern="0" cap="none" spc="0" normalizeH="0" baseline="0" noProof="0" dirty="0" smtClean="0">
                <a:ln>
                  <a:noFill/>
                </a:ln>
                <a:solidFill>
                  <a:srgbClr val="F83F24"/>
                </a:solidFill>
                <a:effectLst/>
                <a:uLnTx/>
                <a:uFillTx/>
                <a:latin typeface="Arial"/>
              </a:rPr>
              <a:t>Supervised learning: </a:t>
            </a:r>
            <a:r>
              <a:rPr kumimoji="0" lang="en-US" altLang="en-US" sz="2400" b="0" i="0" u="none" strike="noStrike" kern="0" cap="none" spc="0" normalizeH="0" baseline="0" noProof="0" dirty="0" smtClean="0">
                <a:ln>
                  <a:noFill/>
                </a:ln>
                <a:solidFill>
                  <a:srgbClr val="000000"/>
                </a:solidFill>
                <a:effectLst/>
                <a:uLnTx/>
                <a:uFillTx/>
                <a:latin typeface="Arial"/>
              </a:rPr>
              <a:t>classification is seen as supervised learning from examples.</a:t>
            </a:r>
            <a:r>
              <a:rPr kumimoji="0" lang="en-US" altLang="en-US" sz="2400" b="0" i="0" u="none" strike="noStrike" kern="0" cap="none" spc="0" normalizeH="0" baseline="0" noProof="0" dirty="0" smtClean="0">
                <a:ln>
                  <a:noFill/>
                </a:ln>
                <a:solidFill>
                  <a:srgbClr val="F83F24"/>
                </a:solidFill>
                <a:effectLst/>
                <a:uLnTx/>
                <a:uFillTx/>
                <a:latin typeface="Arial"/>
              </a:rPr>
              <a:t> </a:t>
            </a:r>
            <a:endParaRPr kumimoji="0" lang="en-US" altLang="en-US" sz="2400" b="0" i="0" u="none" strike="noStrike" kern="0" cap="none" spc="0" normalizeH="0" baseline="0" noProof="0" dirty="0" smtClean="0">
              <a:ln>
                <a:noFill/>
              </a:ln>
              <a:solidFill>
                <a:srgbClr val="000000"/>
              </a:solidFill>
              <a:effectLst/>
              <a:uLnTx/>
              <a:uFillTx/>
              <a:latin typeface="Arial"/>
            </a:endParaRPr>
          </a:p>
          <a:p>
            <a:pPr marL="669925" marR="0" lvl="1" indent="-325438" algn="l" defTabSz="914400" rtl="0" eaLnBrk="1" fontAlgn="base" latinLnBrk="0" hangingPunct="1">
              <a:spcBef>
                <a:spcPts val="1200"/>
              </a:spcBef>
              <a:spcAft>
                <a:spcPct val="0"/>
              </a:spcAft>
              <a:buClr>
                <a:srgbClr val="3B812F"/>
              </a:buClr>
              <a:buSzPct val="60000"/>
              <a:buFont typeface="Wingdings" panose="05000000000000000000" pitchFamily="2" charset="2"/>
              <a:buChar char="q"/>
              <a:tabLst/>
              <a:defRPr/>
            </a:pPr>
            <a:r>
              <a:rPr kumimoji="0" lang="en-US" altLang="en-US" sz="2400" b="0" i="0" u="none" strike="noStrike" kern="0" cap="none" spc="0" normalizeH="0" baseline="0" noProof="0" dirty="0" smtClean="0">
                <a:ln>
                  <a:noFill/>
                </a:ln>
                <a:solidFill>
                  <a:srgbClr val="3333CC"/>
                </a:solidFill>
                <a:effectLst/>
                <a:uLnTx/>
                <a:uFillTx/>
                <a:latin typeface="Arial"/>
              </a:rPr>
              <a:t>Supervision</a:t>
            </a:r>
            <a:r>
              <a:rPr kumimoji="0" lang="en-US" altLang="en-US" sz="2400" b="0" i="0" u="none" strike="noStrike" kern="0" cap="none" spc="0" normalizeH="0" baseline="0" noProof="0" dirty="0" smtClean="0">
                <a:ln>
                  <a:noFill/>
                </a:ln>
                <a:solidFill>
                  <a:srgbClr val="000000"/>
                </a:solidFill>
                <a:effectLst/>
                <a:uLnTx/>
                <a:uFillTx/>
                <a:latin typeface="Arial"/>
              </a:rPr>
              <a:t>: The data (observations, measurements, etc.) are labeled with pre-defined classes. </a:t>
            </a:r>
          </a:p>
          <a:p>
            <a:pPr marL="669925" marR="0" lvl="1" indent="-325438" algn="l" defTabSz="914400" rtl="0" eaLnBrk="1" fontAlgn="base" latinLnBrk="0" hangingPunct="1">
              <a:spcBef>
                <a:spcPts val="1200"/>
              </a:spcBef>
              <a:spcAft>
                <a:spcPct val="0"/>
              </a:spcAft>
              <a:buClr>
                <a:srgbClr val="3B812F"/>
              </a:buClr>
              <a:buSzPct val="60000"/>
              <a:buFont typeface="Wingdings" panose="05000000000000000000" pitchFamily="2" charset="2"/>
              <a:buChar char="q"/>
              <a:tabLst/>
              <a:defRPr/>
            </a:pPr>
            <a:r>
              <a:rPr kumimoji="0" lang="en-US" altLang="en-US" sz="2400" b="0" i="0" u="none" strike="noStrike" kern="0" cap="none" spc="0" normalizeH="0" baseline="0" noProof="0" dirty="0" smtClean="0">
                <a:ln>
                  <a:noFill/>
                </a:ln>
                <a:solidFill>
                  <a:srgbClr val="000000"/>
                </a:solidFill>
                <a:effectLst/>
                <a:uLnTx/>
                <a:uFillTx/>
                <a:latin typeface="Arial"/>
              </a:rPr>
              <a:t>Test data are classified into these classes too. </a:t>
            </a:r>
          </a:p>
          <a:p>
            <a:pPr marL="342900" marR="0" lvl="0" indent="-342900" algn="l" defTabSz="914400" rtl="0" eaLnBrk="1" fontAlgn="base" latinLnBrk="0" hangingPunct="1">
              <a:spcBef>
                <a:spcPts val="1200"/>
              </a:spcBef>
              <a:spcAft>
                <a:spcPct val="0"/>
              </a:spcAft>
              <a:buClr>
                <a:srgbClr val="CC9900"/>
              </a:buClr>
              <a:buSzPct val="65000"/>
              <a:buFont typeface="Wingdings" panose="05000000000000000000" pitchFamily="2" charset="2"/>
              <a:buChar char="n"/>
              <a:tabLst/>
              <a:defRPr/>
            </a:pPr>
            <a:r>
              <a:rPr kumimoji="0" lang="en-US" altLang="en-US" sz="2400" b="0" i="0" u="none" strike="noStrike" kern="0" cap="none" spc="0" normalizeH="0" baseline="0" noProof="0" dirty="0" smtClean="0">
                <a:ln>
                  <a:noFill/>
                </a:ln>
                <a:solidFill>
                  <a:srgbClr val="F83F24"/>
                </a:solidFill>
                <a:effectLst/>
                <a:uLnTx/>
                <a:uFillTx/>
                <a:latin typeface="Arial"/>
              </a:rPr>
              <a:t>Unsupervised learning</a:t>
            </a:r>
            <a:r>
              <a:rPr kumimoji="0" lang="en-US" altLang="en-US" sz="2400" b="0" i="0" u="none" strike="noStrike" kern="0" cap="none" spc="0" normalizeH="0" baseline="0" noProof="0" dirty="0" smtClean="0">
                <a:ln>
                  <a:noFill/>
                </a:ln>
                <a:solidFill>
                  <a:srgbClr val="000000"/>
                </a:solidFill>
                <a:effectLst/>
                <a:uLnTx/>
                <a:uFillTx/>
                <a:latin typeface="Arial"/>
              </a:rPr>
              <a:t> </a:t>
            </a:r>
            <a:r>
              <a:rPr kumimoji="0" lang="en-US" altLang="en-US" sz="2400" b="0" i="0" u="none" strike="noStrike" kern="0" cap="none" spc="0" normalizeH="0" baseline="0" noProof="0" dirty="0" smtClean="0">
                <a:ln>
                  <a:noFill/>
                </a:ln>
                <a:solidFill>
                  <a:srgbClr val="FF3300"/>
                </a:solidFill>
                <a:effectLst/>
                <a:uLnTx/>
                <a:uFillTx/>
                <a:latin typeface="Arial"/>
              </a:rPr>
              <a:t>(clustering)</a:t>
            </a:r>
          </a:p>
          <a:p>
            <a:pPr marL="669925" marR="0" lvl="1" indent="-325438" algn="l" defTabSz="914400" rtl="0" eaLnBrk="1" fontAlgn="base" latinLnBrk="0" hangingPunct="1">
              <a:spcBef>
                <a:spcPts val="1200"/>
              </a:spcBef>
              <a:spcAft>
                <a:spcPct val="0"/>
              </a:spcAft>
              <a:buClr>
                <a:srgbClr val="3B812F"/>
              </a:buClr>
              <a:buSzPct val="60000"/>
              <a:buFont typeface="Wingdings" panose="05000000000000000000" pitchFamily="2" charset="2"/>
              <a:buChar char="q"/>
              <a:tabLst/>
              <a:defRPr/>
            </a:pPr>
            <a:r>
              <a:rPr kumimoji="0" lang="en-US" altLang="en-US" sz="2400" b="0" i="0" u="none" strike="noStrike" kern="0" cap="none" spc="0" normalizeH="0" baseline="0" noProof="0" dirty="0" smtClean="0">
                <a:ln>
                  <a:noFill/>
                </a:ln>
                <a:solidFill>
                  <a:srgbClr val="3333CC"/>
                </a:solidFill>
                <a:effectLst/>
                <a:uLnTx/>
                <a:uFillTx/>
                <a:latin typeface="Arial"/>
              </a:rPr>
              <a:t>Class labels of the data are unknown</a:t>
            </a:r>
          </a:p>
          <a:p>
            <a:pPr marL="669925" marR="0" lvl="1" indent="-325438" algn="l" defTabSz="914400" rtl="0" eaLnBrk="1" fontAlgn="base" latinLnBrk="0" hangingPunct="1">
              <a:spcBef>
                <a:spcPts val="1200"/>
              </a:spcBef>
              <a:spcAft>
                <a:spcPct val="0"/>
              </a:spcAft>
              <a:buClr>
                <a:srgbClr val="3B812F"/>
              </a:buClr>
              <a:buSzPct val="60000"/>
              <a:buFont typeface="Wingdings" panose="05000000000000000000" pitchFamily="2" charset="2"/>
              <a:buChar char="q"/>
              <a:tabLst/>
              <a:defRPr/>
            </a:pPr>
            <a:r>
              <a:rPr kumimoji="0" lang="en-US" altLang="en-US" sz="2400" b="0" i="0" u="none" strike="noStrike" kern="0" cap="none" spc="0" normalizeH="0" baseline="0" noProof="0" dirty="0" smtClean="0">
                <a:ln>
                  <a:noFill/>
                </a:ln>
                <a:solidFill>
                  <a:srgbClr val="000000"/>
                </a:solidFill>
                <a:effectLst/>
                <a:uLnTx/>
                <a:uFillTx/>
                <a:latin typeface="Arial"/>
              </a:rPr>
              <a:t>Given a set of data, the task is to establish the existence of classes or clusters in the data</a:t>
            </a:r>
          </a:p>
        </p:txBody>
      </p:sp>
    </p:spTree>
    <p:extLst>
      <p:ext uri="{BB962C8B-B14F-4D97-AF65-F5344CB8AC3E}">
        <p14:creationId xmlns:p14="http://schemas.microsoft.com/office/powerpoint/2010/main" val="229913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 calcmode="lin" valueType="num">
                                      <p:cBhvr additive="base">
                                        <p:cTn id="24"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7">
                                            <p:txEl>
                                              <p:pRg st="4" end="4"/>
                                            </p:txEl>
                                          </p:spTgt>
                                        </p:tgtEl>
                                        <p:attrNameLst>
                                          <p:attrName>style.visibility</p:attrName>
                                        </p:attrNameLst>
                                      </p:cBhvr>
                                      <p:to>
                                        <p:strVal val="visible"/>
                                      </p:to>
                                    </p:set>
                                    <p:anim calcmode="lin" valueType="num">
                                      <p:cBhvr additive="base">
                                        <p:cTn id="28"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7">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 calcmode="lin" valueType="num">
                                      <p:cBhvr additive="base">
                                        <p:cTn id="32"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492125" y="10886"/>
            <a:ext cx="839946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eaLnBrk="1" hangingPunct="1"/>
            <a:r>
              <a:rPr lang="en-US" sz="4400" b="1" dirty="0">
                <a:solidFill>
                  <a:srgbClr val="333399"/>
                </a:solidFill>
                <a:latin typeface="Arial"/>
              </a:rPr>
              <a:t>Overview …</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2800" b="1" dirty="0">
                <a:solidFill>
                  <a:srgbClr val="0070C0"/>
                </a:solidFill>
                <a:latin typeface="Arial"/>
              </a:rPr>
              <a:t>Supervised learning process: two steps</a:t>
            </a:r>
          </a:p>
        </p:txBody>
      </p:sp>
      <p:pic>
        <p:nvPicPr>
          <p:cNvPr id="1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9138" y="4384675"/>
            <a:ext cx="77406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 Box 6"/>
          <p:cNvSpPr txBox="1">
            <a:spLocks noChangeArrowheads="1"/>
          </p:cNvSpPr>
          <p:nvPr/>
        </p:nvSpPr>
        <p:spPr bwMode="auto">
          <a:xfrm>
            <a:off x="503238" y="1468438"/>
            <a:ext cx="8388350" cy="19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marL="342900" marR="0" lvl="0" indent="-342900" defTabSz="914400" eaLnBrk="1" fontAlgn="base" latinLnBrk="0" hangingPunct="1">
              <a:lnSpc>
                <a:spcPct val="100000"/>
              </a:lnSpc>
              <a:spcBef>
                <a:spcPct val="10000"/>
              </a:spcBef>
              <a:spcAft>
                <a:spcPct val="0"/>
              </a:spcAft>
              <a:buClr>
                <a:srgbClr val="CC9900"/>
              </a:buClr>
              <a:buSzPct val="65000"/>
              <a:buFont typeface="Wingdings" panose="05000000000000000000" pitchFamily="2" charset="2"/>
              <a:buChar char="n"/>
              <a:tabLst/>
              <a:defRPr/>
            </a:pPr>
            <a:r>
              <a:rPr kumimoji="0" lang="en-US" altLang="en-US" sz="3000" b="0" i="0" u="none" strike="noStrike" kern="0" cap="none" spc="0" normalizeH="0" baseline="0" noProof="0" dirty="0" smtClean="0">
                <a:ln>
                  <a:noFill/>
                </a:ln>
                <a:solidFill>
                  <a:srgbClr val="FF0000"/>
                </a:solidFill>
                <a:effectLst/>
                <a:uLnTx/>
                <a:uFillTx/>
                <a:latin typeface="Arial" panose="020B0604020202020204" pitchFamily="34" charset="0"/>
              </a:rPr>
              <a:t>Learning (training)</a:t>
            </a:r>
            <a:r>
              <a:rPr kumimoji="0" lang="en-US" altLang="en-US" sz="3000" b="0" i="0" u="none" strike="noStrike" kern="0" cap="none" spc="0" normalizeH="0" baseline="0" noProof="0" dirty="0" smtClean="0">
                <a:ln>
                  <a:noFill/>
                </a:ln>
                <a:solidFill>
                  <a:srgbClr val="000000"/>
                </a:solidFill>
                <a:effectLst/>
                <a:uLnTx/>
                <a:uFillTx/>
                <a:latin typeface="Arial" panose="020B0604020202020204" pitchFamily="34" charset="0"/>
              </a:rPr>
              <a:t>: Learn a model using the </a:t>
            </a:r>
            <a:r>
              <a:rPr kumimoji="0" lang="en-US" altLang="en-US" sz="3000" b="0" i="0" u="none" strike="noStrike" kern="0" cap="none" spc="0" normalizeH="0" baseline="0" noProof="0" dirty="0" smtClean="0">
                <a:ln>
                  <a:noFill/>
                </a:ln>
                <a:solidFill>
                  <a:srgbClr val="3333CC"/>
                </a:solidFill>
                <a:effectLst/>
                <a:uLnTx/>
                <a:uFillTx/>
                <a:latin typeface="Arial" panose="020B0604020202020204" pitchFamily="34" charset="0"/>
              </a:rPr>
              <a:t>training data</a:t>
            </a:r>
          </a:p>
          <a:p>
            <a:pPr marL="342900" marR="0" lvl="0" indent="-342900" defTabSz="914400" eaLnBrk="1" fontAlgn="base" latinLnBrk="0" hangingPunct="1">
              <a:lnSpc>
                <a:spcPct val="100000"/>
              </a:lnSpc>
              <a:spcBef>
                <a:spcPct val="10000"/>
              </a:spcBef>
              <a:spcAft>
                <a:spcPct val="0"/>
              </a:spcAft>
              <a:buClr>
                <a:srgbClr val="CC9900"/>
              </a:buClr>
              <a:buSzPct val="65000"/>
              <a:buFont typeface="Wingdings" panose="05000000000000000000" pitchFamily="2" charset="2"/>
              <a:buChar char="n"/>
              <a:tabLst/>
              <a:defRPr/>
            </a:pPr>
            <a:r>
              <a:rPr kumimoji="0" lang="en-US" altLang="en-US" sz="3000" b="0" i="0" u="none" strike="noStrike" kern="0" cap="none" spc="0" normalizeH="0" baseline="0" noProof="0" dirty="0" smtClean="0">
                <a:ln>
                  <a:noFill/>
                </a:ln>
                <a:solidFill>
                  <a:srgbClr val="FF0000"/>
                </a:solidFill>
                <a:effectLst/>
                <a:uLnTx/>
                <a:uFillTx/>
                <a:latin typeface="Arial" panose="020B0604020202020204" pitchFamily="34" charset="0"/>
              </a:rPr>
              <a:t>Testing: </a:t>
            </a:r>
            <a:r>
              <a:rPr kumimoji="0" lang="en-US" altLang="en-US" sz="3000" b="0" i="0" u="none" strike="noStrike" kern="0" cap="none" spc="0" normalizeH="0" baseline="0" noProof="0" dirty="0" smtClean="0">
                <a:ln>
                  <a:noFill/>
                </a:ln>
                <a:solidFill>
                  <a:srgbClr val="000000"/>
                </a:solidFill>
                <a:effectLst/>
                <a:uLnTx/>
                <a:uFillTx/>
                <a:latin typeface="Arial" panose="020B0604020202020204" pitchFamily="34" charset="0"/>
              </a:rPr>
              <a:t>Test the model using</a:t>
            </a:r>
            <a:r>
              <a:rPr kumimoji="0" lang="en-US" altLang="en-US" sz="3000" b="0" i="0" u="none" strike="noStrike" kern="0" cap="none" spc="0" normalizeH="0" baseline="0" noProof="0" dirty="0" smtClean="0">
                <a:ln>
                  <a:noFill/>
                </a:ln>
                <a:solidFill>
                  <a:srgbClr val="FF0000"/>
                </a:solidFill>
                <a:effectLst/>
                <a:uLnTx/>
                <a:uFillTx/>
                <a:latin typeface="Arial" panose="020B0604020202020204" pitchFamily="34" charset="0"/>
              </a:rPr>
              <a:t> </a:t>
            </a:r>
            <a:r>
              <a:rPr kumimoji="0" lang="en-US" altLang="en-US" sz="3000" b="0" i="0" u="none" strike="noStrike" kern="0" cap="none" spc="0" normalizeH="0" baseline="0" noProof="0" dirty="0" smtClean="0">
                <a:ln>
                  <a:noFill/>
                </a:ln>
                <a:solidFill>
                  <a:srgbClr val="3B812F"/>
                </a:solidFill>
                <a:effectLst/>
                <a:uLnTx/>
                <a:uFillTx/>
                <a:latin typeface="Arial" panose="020B0604020202020204" pitchFamily="34" charset="0"/>
              </a:rPr>
              <a:t>unseen</a:t>
            </a:r>
            <a:r>
              <a:rPr kumimoji="0" lang="en-US" altLang="en-US" sz="3000" b="0" i="0" u="none" strike="noStrike" kern="0" cap="none" spc="0" normalizeH="0" baseline="0" noProof="0" dirty="0" smtClean="0">
                <a:ln>
                  <a:noFill/>
                </a:ln>
                <a:solidFill>
                  <a:srgbClr val="3333CC"/>
                </a:solidFill>
                <a:effectLst/>
                <a:uLnTx/>
                <a:uFillTx/>
                <a:latin typeface="Arial" panose="020B0604020202020204" pitchFamily="34" charset="0"/>
              </a:rPr>
              <a:t> test data</a:t>
            </a:r>
            <a:r>
              <a:rPr kumimoji="0" lang="en-US" altLang="en-US" sz="3000" b="0" i="0" u="none" strike="noStrike" kern="0" cap="none" spc="0" normalizeH="0" baseline="0" noProof="0" dirty="0" smtClean="0">
                <a:ln>
                  <a:noFill/>
                </a:ln>
                <a:solidFill>
                  <a:srgbClr val="FF0000"/>
                </a:solidFill>
                <a:effectLst/>
                <a:uLnTx/>
                <a:uFillTx/>
                <a:latin typeface="Arial" panose="020B0604020202020204" pitchFamily="34" charset="0"/>
              </a:rPr>
              <a:t> </a:t>
            </a:r>
            <a:r>
              <a:rPr kumimoji="0" lang="en-US" altLang="en-US" sz="3000" b="0" i="0" u="none" strike="noStrike" kern="0" cap="none" spc="0" normalizeH="0" baseline="0" noProof="0" dirty="0" smtClean="0">
                <a:ln>
                  <a:noFill/>
                </a:ln>
                <a:solidFill>
                  <a:srgbClr val="000000"/>
                </a:solidFill>
                <a:effectLst/>
                <a:uLnTx/>
                <a:uFillTx/>
                <a:latin typeface="Arial" panose="020B0604020202020204" pitchFamily="34" charset="0"/>
              </a:rPr>
              <a:t>to assess the model accuracy</a:t>
            </a:r>
          </a:p>
        </p:txBody>
      </p:sp>
      <p:sp>
        <p:nvSpPr>
          <p:cNvPr id="12" name="Rectangle 11"/>
          <p:cNvSpPr>
            <a:spLocks noChangeArrowheads="1"/>
          </p:cNvSpPr>
          <p:nvPr/>
        </p:nvSpPr>
        <p:spPr bwMode="auto">
          <a:xfrm>
            <a:off x="0" y="234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marL="0" marR="0" lvl="0" indent="0" defTabSz="914400" eaLnBrk="1" fontAlgn="base" latinLnBrk="0" hangingPunct="1">
              <a:lnSpc>
                <a:spcPct val="100000"/>
              </a:lnSpc>
              <a:spcBef>
                <a:spcPct val="20000"/>
              </a:spcBef>
              <a:spcAft>
                <a:spcPct val="0"/>
              </a:spcAft>
              <a:buClr>
                <a:srgbClr val="CC9900"/>
              </a:buClr>
              <a:buSzPct val="65000"/>
              <a:buFont typeface="Wingdings" panose="05000000000000000000" pitchFamily="2" charset="2"/>
              <a:buChar char="n"/>
              <a:tabLst/>
              <a:defRPr/>
            </a:pPr>
            <a:endParaRPr kumimoji="0" lang="en-US" altLang="en-US" sz="3000" b="0" i="0" u="none" strike="noStrike" kern="0" cap="none" spc="0" normalizeH="0" baseline="0" noProof="0" smtClean="0">
              <a:ln>
                <a:noFill/>
              </a:ln>
              <a:solidFill>
                <a:srgbClr val="000000"/>
              </a:solidFill>
              <a:effectLst/>
              <a:uLnTx/>
              <a:uFillTx/>
              <a:latin typeface="Arial" panose="020B0604020202020204" pitchFamily="34" charset="0"/>
            </a:endParaRPr>
          </a:p>
        </p:txBody>
      </p:sp>
      <p:graphicFrame>
        <p:nvGraphicFramePr>
          <p:cNvPr id="13" name="Object 10"/>
          <p:cNvGraphicFramePr>
            <a:graphicFrameLocks noChangeAspect="1"/>
          </p:cNvGraphicFramePr>
          <p:nvPr>
            <p:extLst>
              <p:ext uri="{D42A27DB-BD31-4B8C-83A1-F6EECF244321}">
                <p14:modId xmlns:p14="http://schemas.microsoft.com/office/powerpoint/2010/main" val="887715"/>
              </p:ext>
            </p:extLst>
          </p:nvPr>
        </p:nvGraphicFramePr>
        <p:xfrm>
          <a:off x="962025" y="3344863"/>
          <a:ext cx="6608763" cy="1027112"/>
        </p:xfrm>
        <a:graphic>
          <a:graphicData uri="http://schemas.openxmlformats.org/presentationml/2006/ole">
            <mc:AlternateContent xmlns:mc="http://schemas.openxmlformats.org/markup-compatibility/2006">
              <mc:Choice xmlns:v="urn:schemas-microsoft-com:vml" Requires="v">
                <p:oleObj spid="_x0000_s2164" name="Equation" r:id="rId4" imgW="2552400" imgH="393480" progId="Equation.3">
                  <p:embed/>
                </p:oleObj>
              </mc:Choice>
              <mc:Fallback>
                <p:oleObj name="Equation" r:id="rId4" imgW="2552400" imgH="393480" progId="Equation.3">
                  <p:embed/>
                  <p:pic>
                    <p:nvPicPr>
                      <p:cNvPr id="0" name="Picture 67"/>
                      <p:cNvPicPr>
                        <a:picLocks noChangeAspect="1" noChangeArrowheads="1"/>
                      </p:cNvPicPr>
                      <p:nvPr/>
                    </p:nvPicPr>
                    <p:blipFill>
                      <a:blip r:embed="rId5"/>
                      <a:srcRect/>
                      <a:stretch>
                        <a:fillRect/>
                      </a:stretch>
                    </p:blipFill>
                    <p:spPr bwMode="auto">
                      <a:xfrm>
                        <a:off x="962025" y="3344863"/>
                        <a:ext cx="6608763" cy="1027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0457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11">
                                            <p:txEl>
                                              <p:pRg st="1" end="1"/>
                                            </p:txEl>
                                          </p:spTgt>
                                        </p:tgtEl>
                                        <p:attrNameLst>
                                          <p:attrName>style.visibility</p:attrName>
                                        </p:attrNameLst>
                                      </p:cBhvr>
                                      <p:to>
                                        <p:strVal val="visible"/>
                                      </p:to>
                                    </p:set>
                                    <p:animEffect transition="in" filter="barn(inVertical)">
                                      <p:cBhvr>
                                        <p:cTn id="14" dur="500"/>
                                        <p:tgtEl>
                                          <p:spTgt spid="11">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miro.medium.com/max/5392/1*E7sk9C5buY9KnBUDflI9fQ.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7840" y="1625748"/>
            <a:ext cx="5852160" cy="492745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p:cNvSpPr txBox="1">
            <a:spLocks noChangeArrowheads="1"/>
          </p:cNvSpPr>
          <p:nvPr/>
        </p:nvSpPr>
        <p:spPr bwMode="auto">
          <a:xfrm>
            <a:off x="492125" y="10886"/>
            <a:ext cx="839946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eaLnBrk="1" hangingPunct="1"/>
            <a:r>
              <a:rPr lang="en-US" sz="4400" b="1" dirty="0">
                <a:solidFill>
                  <a:srgbClr val="333399"/>
                </a:solidFill>
                <a:latin typeface="Arial"/>
              </a:rPr>
              <a:t>Overview …</a:t>
            </a:r>
          </a:p>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2800" b="1" dirty="0">
                <a:solidFill>
                  <a:srgbClr val="0070C0"/>
                </a:solidFill>
                <a:latin typeface="Arial"/>
              </a:rPr>
              <a:t>Supervised learning process: two steps</a:t>
            </a:r>
          </a:p>
        </p:txBody>
      </p:sp>
    </p:spTree>
    <p:extLst>
      <p:ext uri="{BB962C8B-B14F-4D97-AF65-F5344CB8AC3E}">
        <p14:creationId xmlns:p14="http://schemas.microsoft.com/office/powerpoint/2010/main" val="25960468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4400" b="1" dirty="0">
                <a:solidFill>
                  <a:srgbClr val="333399"/>
                </a:solidFill>
                <a:latin typeface="Arial"/>
              </a:rPr>
              <a:t>Evaluation </a:t>
            </a:r>
            <a:r>
              <a:rPr lang="en-US" altLang="en-US" sz="4400" b="1" dirty="0" smtClean="0">
                <a:solidFill>
                  <a:srgbClr val="333399"/>
                </a:solidFill>
                <a:latin typeface="Arial"/>
              </a:rPr>
              <a:t>Methods</a:t>
            </a:r>
            <a:endParaRPr lang="en-US" altLang="en-US" sz="4400" b="1" dirty="0">
              <a:solidFill>
                <a:srgbClr val="333399"/>
              </a:solidFill>
              <a:latin typeface="Arial"/>
            </a:endParaRPr>
          </a:p>
        </p:txBody>
      </p:sp>
      <p:sp>
        <p:nvSpPr>
          <p:cNvPr id="7" name="Rectangle 3"/>
          <p:cNvSpPr txBox="1">
            <a:spLocks noChangeArrowheads="1"/>
          </p:cNvSpPr>
          <p:nvPr/>
        </p:nvSpPr>
        <p:spPr bwMode="auto">
          <a:xfrm>
            <a:off x="468313" y="1549400"/>
            <a:ext cx="8229600"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spcBef>
                <a:spcPts val="1200"/>
              </a:spcBef>
              <a:spcAft>
                <a:spcPct val="0"/>
              </a:spcAft>
              <a:buClr>
                <a:srgbClr val="CC9900"/>
              </a:buClr>
              <a:buSzPct val="65000"/>
              <a:buFont typeface="Wingdings" panose="05000000000000000000" pitchFamily="2" charset="2"/>
              <a:buChar char="n"/>
              <a:tabLst/>
              <a:defRPr/>
            </a:pPr>
            <a:r>
              <a:rPr kumimoji="0" lang="en-US" altLang="ja-JP" sz="2400" b="0" i="0" u="none" strike="noStrike" kern="0" cap="none" spc="0" normalizeH="0" baseline="0" noProof="0" dirty="0" smtClean="0">
                <a:ln>
                  <a:noFill/>
                </a:ln>
                <a:solidFill>
                  <a:srgbClr val="000000"/>
                </a:solidFill>
                <a:effectLst/>
                <a:uLnTx/>
                <a:uFillTx/>
                <a:latin typeface="Arial"/>
                <a:ea typeface="MS PGothic" panose="020B0600070205080204" pitchFamily="34" charset="-128"/>
              </a:rPr>
              <a:t>The available data set </a:t>
            </a:r>
            <a:r>
              <a:rPr kumimoji="0" lang="en-US" altLang="ja-JP" sz="2400" b="0" i="1" u="none" strike="noStrike" kern="0" cap="none" spc="0" normalizeH="0" baseline="0" noProof="0" dirty="0" smtClean="0">
                <a:ln>
                  <a:noFill/>
                </a:ln>
                <a:solidFill>
                  <a:srgbClr val="000000"/>
                </a:solidFill>
                <a:effectLst/>
                <a:uLnTx/>
                <a:uFillTx/>
                <a:latin typeface="Arial"/>
                <a:ea typeface="MS PGothic" panose="020B0600070205080204" pitchFamily="34" charset="-128"/>
              </a:rPr>
              <a:t>D</a:t>
            </a:r>
            <a:r>
              <a:rPr kumimoji="0" lang="en-US" altLang="ja-JP" sz="2400" b="0" i="0" u="none" strike="noStrike" kern="0" cap="none" spc="0" normalizeH="0" baseline="0" noProof="0" dirty="0" smtClean="0">
                <a:ln>
                  <a:noFill/>
                </a:ln>
                <a:solidFill>
                  <a:srgbClr val="000000"/>
                </a:solidFill>
                <a:effectLst/>
                <a:uLnTx/>
                <a:uFillTx/>
                <a:latin typeface="Arial"/>
                <a:ea typeface="MS PGothic" panose="020B0600070205080204" pitchFamily="34" charset="-128"/>
              </a:rPr>
              <a:t> is divided into two disjoint subsets, </a:t>
            </a:r>
          </a:p>
          <a:p>
            <a:pPr marR="0" lvl="1" algn="l" defTabSz="914400" rtl="0" eaLnBrk="1" fontAlgn="base" latinLnBrk="0" hangingPunct="1">
              <a:spcBef>
                <a:spcPts val="1200"/>
              </a:spcBef>
              <a:spcAft>
                <a:spcPct val="0"/>
              </a:spcAft>
              <a:buClr>
                <a:srgbClr val="002060"/>
              </a:buClr>
              <a:buSzPct val="80000"/>
              <a:buFont typeface="Wingdings" panose="05000000000000000000" pitchFamily="2" charset="2"/>
              <a:buChar char="ü"/>
              <a:tabLst/>
              <a:defRPr/>
            </a:pPr>
            <a:r>
              <a:rPr kumimoji="0" lang="en-US" altLang="ja-JP" sz="2400" b="0" i="0" u="none" strike="noStrike" kern="0" cap="none" spc="0" normalizeH="0" baseline="0" noProof="0" dirty="0" smtClean="0">
                <a:ln>
                  <a:noFill/>
                </a:ln>
                <a:solidFill>
                  <a:srgbClr val="C00000"/>
                </a:solidFill>
                <a:effectLst/>
                <a:uLnTx/>
                <a:uFillTx/>
                <a:latin typeface="Arial"/>
                <a:ea typeface="MS PGothic" panose="020B0600070205080204" pitchFamily="34" charset="-128"/>
              </a:rPr>
              <a:t>the </a:t>
            </a:r>
            <a:r>
              <a:rPr kumimoji="0" lang="en-US" altLang="ja-JP" sz="2400" b="0" i="1" u="none" strike="noStrike" kern="0" cap="none" spc="0" normalizeH="0" baseline="0" noProof="0" dirty="0" smtClean="0">
                <a:ln>
                  <a:noFill/>
                </a:ln>
                <a:solidFill>
                  <a:srgbClr val="C00000"/>
                </a:solidFill>
                <a:effectLst/>
                <a:uLnTx/>
                <a:uFillTx/>
                <a:latin typeface="Arial"/>
                <a:ea typeface="MS PGothic" panose="020B0600070205080204" pitchFamily="34" charset="-128"/>
              </a:rPr>
              <a:t>training set</a:t>
            </a:r>
            <a:r>
              <a:rPr kumimoji="0" lang="en-US" altLang="ja-JP" sz="2400" b="0" i="0" u="none" strike="noStrike" kern="0" cap="none" spc="0" normalizeH="0" baseline="0" noProof="0" dirty="0" smtClean="0">
                <a:ln>
                  <a:noFill/>
                </a:ln>
                <a:solidFill>
                  <a:srgbClr val="C00000"/>
                </a:solidFill>
                <a:effectLst/>
                <a:uLnTx/>
                <a:uFillTx/>
                <a:latin typeface="Arial"/>
                <a:ea typeface="MS PGothic" panose="020B0600070205080204" pitchFamily="34" charset="-128"/>
              </a:rPr>
              <a:t> </a:t>
            </a:r>
            <a:r>
              <a:rPr kumimoji="0" lang="en-US" altLang="ja-JP" sz="2400" b="0" i="1" u="none" strike="noStrike" kern="0" cap="none" spc="0" normalizeH="0" baseline="0" noProof="0" dirty="0" err="1" smtClean="0">
                <a:ln>
                  <a:noFill/>
                </a:ln>
                <a:solidFill>
                  <a:srgbClr val="C00000"/>
                </a:solidFill>
                <a:effectLst/>
                <a:uLnTx/>
                <a:uFillTx/>
                <a:latin typeface="Arial"/>
                <a:ea typeface="MS PGothic" panose="020B0600070205080204" pitchFamily="34" charset="-128"/>
              </a:rPr>
              <a:t>D</a:t>
            </a:r>
            <a:r>
              <a:rPr kumimoji="0" lang="en-US" altLang="ja-JP" sz="2400" b="0" i="1" u="none" strike="noStrike" kern="0" cap="none" spc="0" normalizeH="0" baseline="-25000" noProof="0" dirty="0" err="1" smtClean="0">
                <a:ln>
                  <a:noFill/>
                </a:ln>
                <a:solidFill>
                  <a:srgbClr val="C00000"/>
                </a:solidFill>
                <a:effectLst/>
                <a:uLnTx/>
                <a:uFillTx/>
                <a:latin typeface="Arial"/>
                <a:ea typeface="MS PGothic" panose="020B0600070205080204" pitchFamily="34" charset="-128"/>
              </a:rPr>
              <a:t>train</a:t>
            </a:r>
            <a:r>
              <a:rPr kumimoji="0" lang="en-US" altLang="ja-JP" sz="2400" b="0" i="0" u="none" strike="noStrike" kern="0" cap="none" spc="0" normalizeH="0" baseline="0" noProof="0" dirty="0" smtClean="0">
                <a:ln>
                  <a:noFill/>
                </a:ln>
                <a:solidFill>
                  <a:srgbClr val="C00000"/>
                </a:solidFill>
                <a:effectLst/>
                <a:uLnTx/>
                <a:uFillTx/>
                <a:latin typeface="Arial"/>
                <a:ea typeface="MS PGothic" panose="020B0600070205080204" pitchFamily="34" charset="-128"/>
              </a:rPr>
              <a:t> (for learning a model)</a:t>
            </a:r>
          </a:p>
          <a:p>
            <a:pPr marR="0" lvl="1" algn="l" defTabSz="914400" rtl="0" eaLnBrk="1" fontAlgn="base" latinLnBrk="0" hangingPunct="1">
              <a:spcBef>
                <a:spcPts val="1200"/>
              </a:spcBef>
              <a:spcAft>
                <a:spcPct val="0"/>
              </a:spcAft>
              <a:buClr>
                <a:srgbClr val="002060"/>
              </a:buClr>
              <a:buSzPct val="80000"/>
              <a:buFont typeface="Wingdings" panose="05000000000000000000" pitchFamily="2" charset="2"/>
              <a:buChar char="ü"/>
              <a:tabLst/>
              <a:defRPr/>
            </a:pPr>
            <a:r>
              <a:rPr kumimoji="0" lang="en-US" altLang="ja-JP" sz="2400" b="0" i="0" u="none" strike="noStrike" kern="0" cap="none" spc="0" normalizeH="0" baseline="0" noProof="0" dirty="0" smtClean="0">
                <a:ln>
                  <a:noFill/>
                </a:ln>
                <a:solidFill>
                  <a:srgbClr val="C00000"/>
                </a:solidFill>
                <a:effectLst/>
                <a:uLnTx/>
                <a:uFillTx/>
                <a:latin typeface="Arial"/>
                <a:ea typeface="MS PGothic" panose="020B0600070205080204" pitchFamily="34" charset="-128"/>
              </a:rPr>
              <a:t>the </a:t>
            </a:r>
            <a:r>
              <a:rPr kumimoji="0" lang="en-US" altLang="ja-JP" sz="2400" b="0" i="1" u="none" strike="noStrike" kern="0" cap="none" spc="0" normalizeH="0" baseline="0" noProof="0" dirty="0" smtClean="0">
                <a:ln>
                  <a:noFill/>
                </a:ln>
                <a:solidFill>
                  <a:srgbClr val="C00000"/>
                </a:solidFill>
                <a:effectLst/>
                <a:uLnTx/>
                <a:uFillTx/>
                <a:latin typeface="Arial"/>
                <a:ea typeface="MS PGothic" panose="020B0600070205080204" pitchFamily="34" charset="-128"/>
              </a:rPr>
              <a:t>test set</a:t>
            </a:r>
            <a:r>
              <a:rPr kumimoji="0" lang="en-US" altLang="ja-JP" sz="2400" b="0" i="0" u="none" strike="noStrike" kern="0" cap="none" spc="0" normalizeH="0" baseline="0" noProof="0" dirty="0" smtClean="0">
                <a:ln>
                  <a:noFill/>
                </a:ln>
                <a:solidFill>
                  <a:srgbClr val="C00000"/>
                </a:solidFill>
                <a:effectLst/>
                <a:uLnTx/>
                <a:uFillTx/>
                <a:latin typeface="Arial"/>
                <a:ea typeface="MS PGothic" panose="020B0600070205080204" pitchFamily="34" charset="-128"/>
              </a:rPr>
              <a:t> </a:t>
            </a:r>
            <a:r>
              <a:rPr kumimoji="0" lang="en-US" altLang="ja-JP" sz="2400" b="0" i="1" u="none" strike="noStrike" kern="0" cap="none" spc="0" normalizeH="0" baseline="0" noProof="0" dirty="0" err="1" smtClean="0">
                <a:ln>
                  <a:noFill/>
                </a:ln>
                <a:solidFill>
                  <a:srgbClr val="C00000"/>
                </a:solidFill>
                <a:effectLst/>
                <a:uLnTx/>
                <a:uFillTx/>
                <a:latin typeface="Arial"/>
                <a:ea typeface="MS PGothic" panose="020B0600070205080204" pitchFamily="34" charset="-128"/>
              </a:rPr>
              <a:t>D</a:t>
            </a:r>
            <a:r>
              <a:rPr kumimoji="0" lang="en-US" altLang="ja-JP" sz="2400" b="0" i="1" u="none" strike="noStrike" kern="0" cap="none" spc="0" normalizeH="0" baseline="-25000" noProof="0" dirty="0" err="1" smtClean="0">
                <a:ln>
                  <a:noFill/>
                </a:ln>
                <a:solidFill>
                  <a:srgbClr val="C00000"/>
                </a:solidFill>
                <a:effectLst/>
                <a:uLnTx/>
                <a:uFillTx/>
                <a:latin typeface="Arial"/>
                <a:ea typeface="MS PGothic" panose="020B0600070205080204" pitchFamily="34" charset="-128"/>
              </a:rPr>
              <a:t>test</a:t>
            </a:r>
            <a:r>
              <a:rPr kumimoji="0" lang="en-US" altLang="ja-JP" sz="2400" b="0" i="1" u="none" strike="noStrike" kern="0" cap="none" spc="0" normalizeH="0" baseline="-25000" noProof="0" dirty="0" smtClean="0">
                <a:ln>
                  <a:noFill/>
                </a:ln>
                <a:solidFill>
                  <a:srgbClr val="C00000"/>
                </a:solidFill>
                <a:effectLst/>
                <a:uLnTx/>
                <a:uFillTx/>
                <a:latin typeface="Arial"/>
                <a:ea typeface="MS PGothic" panose="020B0600070205080204" pitchFamily="34" charset="-128"/>
              </a:rPr>
              <a:t> </a:t>
            </a:r>
            <a:r>
              <a:rPr kumimoji="0" lang="en-US" altLang="ja-JP" sz="2400" b="0" i="0" u="none" strike="noStrike" kern="0" cap="none" spc="0" normalizeH="0" baseline="0" noProof="0" dirty="0" smtClean="0">
                <a:ln>
                  <a:noFill/>
                </a:ln>
                <a:solidFill>
                  <a:srgbClr val="C00000"/>
                </a:solidFill>
                <a:effectLst/>
                <a:uLnTx/>
                <a:uFillTx/>
                <a:latin typeface="Arial"/>
                <a:ea typeface="MS PGothic" panose="020B0600070205080204" pitchFamily="34" charset="-128"/>
              </a:rPr>
              <a:t>(for testing the model)</a:t>
            </a:r>
          </a:p>
          <a:p>
            <a:pPr marL="342900" marR="0" lvl="0" indent="-342900" algn="l" defTabSz="914400" rtl="0" eaLnBrk="1" fontAlgn="base" latinLnBrk="0" hangingPunct="1">
              <a:spcBef>
                <a:spcPts val="1200"/>
              </a:spcBef>
              <a:spcAft>
                <a:spcPct val="0"/>
              </a:spcAft>
              <a:buClr>
                <a:srgbClr val="CC9900"/>
              </a:buClr>
              <a:buSzPct val="65000"/>
              <a:buFont typeface="Wingdings" panose="05000000000000000000" pitchFamily="2" charset="2"/>
              <a:buChar char="n"/>
              <a:tabLst/>
              <a:defRPr/>
            </a:pPr>
            <a:r>
              <a:rPr kumimoji="0" lang="en-US" altLang="ja-JP" sz="2400" b="1" i="0" u="none" strike="noStrike" kern="0" cap="none" spc="0" normalizeH="0" baseline="0" noProof="0" dirty="0" smtClean="0">
                <a:ln>
                  <a:noFill/>
                </a:ln>
                <a:solidFill>
                  <a:srgbClr val="3333CC"/>
                </a:solidFill>
                <a:effectLst/>
                <a:uLnTx/>
                <a:uFillTx/>
                <a:latin typeface="Arial"/>
                <a:ea typeface="MS PGothic" panose="020B0600070205080204" pitchFamily="34" charset="-128"/>
              </a:rPr>
              <a:t>Important:</a:t>
            </a:r>
            <a:r>
              <a:rPr kumimoji="0" lang="en-US" altLang="ja-JP" sz="2400" b="0" i="0" u="none" strike="noStrike" kern="0" cap="none" spc="0" normalizeH="0" baseline="0" noProof="0" dirty="0" smtClean="0">
                <a:ln>
                  <a:noFill/>
                </a:ln>
                <a:solidFill>
                  <a:srgbClr val="000000"/>
                </a:solidFill>
                <a:effectLst/>
                <a:uLnTx/>
                <a:uFillTx/>
                <a:latin typeface="Arial"/>
                <a:ea typeface="MS PGothic" panose="020B0600070205080204" pitchFamily="34" charset="-128"/>
              </a:rPr>
              <a:t> training set should not be used in testing and the test set should not be used in learning. </a:t>
            </a:r>
          </a:p>
          <a:p>
            <a:pPr marL="669925" marR="0" lvl="1" indent="-325438" algn="l" defTabSz="914400" rtl="0" eaLnBrk="1" fontAlgn="base" latinLnBrk="0" hangingPunct="1">
              <a:spcBef>
                <a:spcPts val="1200"/>
              </a:spcBef>
              <a:spcAft>
                <a:spcPct val="0"/>
              </a:spcAft>
              <a:buClr>
                <a:srgbClr val="3B812F"/>
              </a:buClr>
              <a:buSzPct val="60000"/>
              <a:buFont typeface="Wingdings" panose="05000000000000000000" pitchFamily="2" charset="2"/>
              <a:buChar char="q"/>
              <a:tabLst/>
              <a:defRPr/>
            </a:pPr>
            <a:r>
              <a:rPr kumimoji="0" lang="en-US" altLang="ja-JP" sz="2400" b="1" i="0" u="none" strike="noStrike" kern="0" cap="none" spc="0" normalizeH="0" baseline="0" noProof="0" dirty="0" smtClean="0">
                <a:ln>
                  <a:noFill/>
                </a:ln>
                <a:solidFill>
                  <a:srgbClr val="00B050"/>
                </a:solidFill>
                <a:effectLst/>
                <a:uLnTx/>
                <a:uFillTx/>
                <a:latin typeface="Arial"/>
                <a:ea typeface="MS PGothic" panose="020B0600070205080204" pitchFamily="34" charset="-128"/>
              </a:rPr>
              <a:t>Unseen test set provides a unbiased estimate of accuracy. </a:t>
            </a:r>
          </a:p>
          <a:p>
            <a:pPr marL="0" marR="0" lvl="0" indent="0" algn="l" defTabSz="914400" rtl="0" eaLnBrk="1" fontAlgn="base" latinLnBrk="0" hangingPunct="1">
              <a:spcBef>
                <a:spcPts val="1200"/>
              </a:spcBef>
              <a:spcAft>
                <a:spcPct val="0"/>
              </a:spcAft>
              <a:buClr>
                <a:srgbClr val="CC9900"/>
              </a:buClr>
              <a:buSzPct val="65000"/>
              <a:buNone/>
              <a:tabLst/>
              <a:defRPr/>
            </a:pPr>
            <a:r>
              <a:rPr kumimoji="0" lang="en-US" altLang="ja-JP" sz="2400" b="0" i="0" u="none" strike="noStrike" kern="0" cap="none" spc="0" normalizeH="0" baseline="0" noProof="0" dirty="0" smtClean="0">
                <a:ln>
                  <a:noFill/>
                </a:ln>
                <a:solidFill>
                  <a:srgbClr val="000000"/>
                </a:solidFill>
                <a:effectLst/>
                <a:uLnTx/>
                <a:uFillTx/>
                <a:latin typeface="Arial"/>
                <a:ea typeface="MS PGothic" panose="020B0600070205080204" pitchFamily="34" charset="-128"/>
              </a:rPr>
              <a:t> </a:t>
            </a:r>
            <a:endParaRPr kumimoji="0" lang="en-US" altLang="en-US" sz="2400" b="0" i="0" u="none" strike="noStrike" kern="0" cap="none" spc="0" normalizeH="0" baseline="0" noProof="0" dirty="0" smtClean="0">
              <a:ln>
                <a:noFill/>
              </a:ln>
              <a:solidFill>
                <a:srgbClr val="000000"/>
              </a:solidFill>
              <a:effectLst/>
              <a:uLnTx/>
              <a:uFillTx/>
              <a:latin typeface="Arial"/>
            </a:endParaRPr>
          </a:p>
        </p:txBody>
      </p:sp>
      <p:pic>
        <p:nvPicPr>
          <p:cNvPr id="9218" name="Picture 2" descr="Image result for Evaluation Methods icon"/>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652" r="16522"/>
          <a:stretch/>
        </p:blipFill>
        <p:spPr bwMode="auto">
          <a:xfrm>
            <a:off x="7772400" y="18661"/>
            <a:ext cx="1280160" cy="1230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652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7">
                                            <p:txEl>
                                              <p:pRg st="3" end="3"/>
                                            </p:txEl>
                                          </p:spTgt>
                                        </p:tgtEl>
                                        <p:attrNameLst>
                                          <p:attrName>style.visibility</p:attrName>
                                        </p:attrNameLst>
                                      </p:cBhvr>
                                      <p:to>
                                        <p:strVal val="visible"/>
                                      </p:to>
                                    </p:set>
                                    <p:animEffect transition="in" filter="barn(inVertical)">
                                      <p:cBhvr>
                                        <p:cTn id="26" dur="500"/>
                                        <p:tgtEl>
                                          <p:spTgt spid="7">
                                            <p:txEl>
                                              <p:pRg st="3" end="3"/>
                                            </p:txEl>
                                          </p:spTgt>
                                        </p:tgtEl>
                                      </p:cBhvr>
                                    </p:animEffect>
                                  </p:childTnLst>
                                </p:cTn>
                              </p:par>
                              <p:par>
                                <p:cTn id="27" presetID="16" presetClass="entr" presetSubtype="21" fill="hold"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barn(inVertical)">
                                      <p:cBhvr>
                                        <p:cTn id="29" dur="500"/>
                                        <p:tgtEl>
                                          <p:spTgt spid="7">
                                            <p:txEl>
                                              <p:pRg st="4" end="4"/>
                                            </p:txEl>
                                          </p:spTgt>
                                        </p:tgtEl>
                                      </p:cBhvr>
                                    </p:animEffect>
                                  </p:childTnLst>
                                </p:cTn>
                              </p:par>
                              <p:par>
                                <p:cTn id="30" presetID="16" presetClass="entr" presetSubtype="21" fill="hold" nodeType="with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barn(inVertical)">
                                      <p:cBhvr>
                                        <p:cTn id="32"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nominal Vs ordinal variabl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981200"/>
            <a:ext cx="8961120" cy="421632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defRPr/>
            </a:pPr>
            <a:r>
              <a:rPr lang="en-US" altLang="en-US" sz="4000" b="1" dirty="0">
                <a:solidFill>
                  <a:srgbClr val="333399"/>
                </a:solidFill>
                <a:latin typeface="Arial"/>
              </a:rPr>
              <a:t>Levels of </a:t>
            </a:r>
            <a:r>
              <a:rPr lang="en-US" altLang="en-US" sz="4000" b="1" dirty="0" smtClean="0">
                <a:solidFill>
                  <a:srgbClr val="333399"/>
                </a:solidFill>
                <a:latin typeface="Arial"/>
              </a:rPr>
              <a:t>Measurement </a:t>
            </a:r>
            <a:r>
              <a:rPr lang="en-US" altLang="en-US" sz="4000" b="1" dirty="0">
                <a:solidFill>
                  <a:srgbClr val="333399"/>
                </a:solidFill>
                <a:latin typeface="Arial"/>
              </a:rPr>
              <a:t>of Data</a:t>
            </a:r>
          </a:p>
        </p:txBody>
      </p:sp>
    </p:spTree>
    <p:extLst>
      <p:ext uri="{BB962C8B-B14F-4D97-AF65-F5344CB8AC3E}">
        <p14:creationId xmlns:p14="http://schemas.microsoft.com/office/powerpoint/2010/main" val="11566736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609600" y="1584325"/>
            <a:ext cx="82296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spcBef>
                <a:spcPts val="600"/>
              </a:spcBef>
              <a:spcAft>
                <a:spcPct val="0"/>
              </a:spcAft>
              <a:buClr>
                <a:srgbClr val="CC9900"/>
              </a:buClr>
              <a:buSzPct val="65000"/>
              <a:buFont typeface="Wingdings" panose="05000000000000000000" pitchFamily="2" charset="2"/>
              <a:buChar char="n"/>
              <a:tabLst/>
              <a:defRPr/>
            </a:pPr>
            <a:r>
              <a:rPr kumimoji="0" lang="en-US" altLang="en-US" sz="2600" b="1" i="0" u="none" strike="noStrike" kern="0" cap="none" spc="0" normalizeH="0" baseline="0" noProof="0" dirty="0" smtClean="0">
                <a:ln>
                  <a:noFill/>
                </a:ln>
                <a:solidFill>
                  <a:srgbClr val="0070C0"/>
                </a:solidFill>
                <a:effectLst/>
                <a:uLnTx/>
                <a:uFillTx/>
                <a:latin typeface="Arial"/>
                <a:ea typeface="+mn-ea"/>
                <a:cs typeface="+mn-cs"/>
              </a:rPr>
              <a:t>Validation set</a:t>
            </a:r>
            <a:r>
              <a:rPr kumimoji="0" lang="en-US" altLang="en-US" sz="2600" b="0" i="0" u="none" strike="noStrike" kern="0" cap="none" spc="0" normalizeH="0" baseline="0" noProof="0" dirty="0" smtClean="0">
                <a:ln>
                  <a:noFill/>
                </a:ln>
                <a:solidFill>
                  <a:srgbClr val="0070C0"/>
                </a:solidFill>
                <a:effectLst/>
                <a:uLnTx/>
                <a:uFillTx/>
                <a:latin typeface="Arial"/>
                <a:ea typeface="+mn-ea"/>
                <a:cs typeface="+mn-cs"/>
              </a:rPr>
              <a:t>: </a:t>
            </a: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the available data is divided into three subsets, </a:t>
            </a:r>
          </a:p>
          <a:p>
            <a:pPr marR="0" lvl="1" algn="l" defTabSz="914400" rtl="0" eaLnBrk="1" fontAlgn="base" latinLnBrk="0" hangingPunct="1">
              <a:spcBef>
                <a:spcPts val="600"/>
              </a:spcBef>
              <a:spcAft>
                <a:spcPct val="0"/>
              </a:spcAft>
              <a:buClr>
                <a:srgbClr val="0070C0"/>
              </a:buClr>
              <a:buSzPct val="100000"/>
              <a:buFont typeface="Wingdings" panose="05000000000000000000" pitchFamily="2" charset="2"/>
              <a:buChar char="ü"/>
              <a:tabLst/>
              <a:defRPr/>
            </a:pPr>
            <a:r>
              <a:rPr kumimoji="0" lang="en-US" altLang="ja-JP" sz="2200" b="0" i="0" u="none" strike="noStrike" kern="0" cap="none" spc="0" normalizeH="0" baseline="0" noProof="0" dirty="0" smtClean="0">
                <a:ln>
                  <a:noFill/>
                </a:ln>
                <a:solidFill>
                  <a:srgbClr val="000000"/>
                </a:solidFill>
                <a:effectLst/>
                <a:uLnTx/>
                <a:uFillTx/>
                <a:latin typeface="Arial"/>
                <a:ea typeface="MS PGothic" panose="020B0600070205080204" pitchFamily="34" charset="-128"/>
              </a:rPr>
              <a:t>a training set, </a:t>
            </a:r>
          </a:p>
          <a:p>
            <a:pPr marR="0" lvl="1" algn="l" defTabSz="914400" rtl="0" eaLnBrk="1" fontAlgn="base" latinLnBrk="0" hangingPunct="1">
              <a:spcBef>
                <a:spcPts val="600"/>
              </a:spcBef>
              <a:spcAft>
                <a:spcPct val="0"/>
              </a:spcAft>
              <a:buClr>
                <a:srgbClr val="0070C0"/>
              </a:buClr>
              <a:buSzPct val="100000"/>
              <a:buFont typeface="Wingdings" panose="05000000000000000000" pitchFamily="2" charset="2"/>
              <a:buChar char="ü"/>
              <a:tabLst/>
              <a:defRPr/>
            </a:pPr>
            <a:r>
              <a:rPr kumimoji="0" lang="en-US" altLang="ja-JP" sz="2200" b="0" i="0" u="none" strike="noStrike" kern="0" cap="none" spc="0" normalizeH="0" baseline="0" noProof="0" dirty="0" smtClean="0">
                <a:ln>
                  <a:noFill/>
                </a:ln>
                <a:solidFill>
                  <a:srgbClr val="000000"/>
                </a:solidFill>
                <a:effectLst/>
                <a:uLnTx/>
                <a:uFillTx/>
                <a:latin typeface="Arial"/>
                <a:ea typeface="MS PGothic" panose="020B0600070205080204" pitchFamily="34" charset="-128"/>
              </a:rPr>
              <a:t>a validation set and </a:t>
            </a:r>
          </a:p>
          <a:p>
            <a:pPr marR="0" lvl="1" algn="l" defTabSz="914400" rtl="0" eaLnBrk="1" fontAlgn="base" latinLnBrk="0" hangingPunct="1">
              <a:spcBef>
                <a:spcPts val="600"/>
              </a:spcBef>
              <a:spcAft>
                <a:spcPct val="0"/>
              </a:spcAft>
              <a:buClr>
                <a:srgbClr val="0070C0"/>
              </a:buClr>
              <a:buSzPct val="100000"/>
              <a:buFont typeface="Wingdings" panose="05000000000000000000" pitchFamily="2" charset="2"/>
              <a:buChar char="ü"/>
              <a:tabLst/>
              <a:defRPr/>
            </a:pPr>
            <a:r>
              <a:rPr kumimoji="0" lang="en-US" altLang="ja-JP" sz="2200" b="0" i="0" u="none" strike="noStrike" kern="0" cap="none" spc="0" normalizeH="0" baseline="0" noProof="0" dirty="0" smtClean="0">
                <a:ln>
                  <a:noFill/>
                </a:ln>
                <a:solidFill>
                  <a:srgbClr val="000000"/>
                </a:solidFill>
                <a:effectLst/>
                <a:uLnTx/>
                <a:uFillTx/>
                <a:latin typeface="Arial"/>
                <a:ea typeface="MS PGothic" panose="020B0600070205080204" pitchFamily="34" charset="-128"/>
              </a:rPr>
              <a:t>a test set. </a:t>
            </a:r>
          </a:p>
          <a:p>
            <a:pPr marL="342900" marR="0" lvl="0" indent="-342900" algn="l" defTabSz="914400" rtl="0" eaLnBrk="1" fontAlgn="base" latinLnBrk="0" hangingPunct="1">
              <a:spcBef>
                <a:spcPts val="600"/>
              </a:spcBef>
              <a:spcAft>
                <a:spcPct val="0"/>
              </a:spcAft>
              <a:buClr>
                <a:srgbClr val="CC9900"/>
              </a:buClr>
              <a:buSzPct val="65000"/>
              <a:buFont typeface="Wingdings" panose="05000000000000000000" pitchFamily="2" charset="2"/>
              <a:buChar char="n"/>
              <a:tabLst/>
              <a:defRPr/>
            </a:pP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A validation set is used frequently for estimating parameters in learning algorithms. </a:t>
            </a:r>
          </a:p>
          <a:p>
            <a:pPr marL="342900" marR="0" lvl="0" indent="-342900" algn="l" defTabSz="914400" rtl="0" eaLnBrk="1" fontAlgn="base" latinLnBrk="0" hangingPunct="1">
              <a:spcBef>
                <a:spcPts val="600"/>
              </a:spcBef>
              <a:spcAft>
                <a:spcPct val="0"/>
              </a:spcAft>
              <a:buClr>
                <a:srgbClr val="CC9900"/>
              </a:buClr>
              <a:buSzPct val="65000"/>
              <a:buFont typeface="Wingdings" panose="05000000000000000000" pitchFamily="2" charset="2"/>
              <a:buChar char="n"/>
              <a:tabLst/>
              <a:defRPr/>
            </a:pP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In such cases, the values that give the best accuracy on the validation set are used as the final parameter values. </a:t>
            </a:r>
          </a:p>
          <a:p>
            <a:pPr marL="342900" marR="0" lvl="0" indent="-342900" algn="l" defTabSz="914400" rtl="0" eaLnBrk="1" fontAlgn="base" latinLnBrk="0" hangingPunct="1">
              <a:spcBef>
                <a:spcPts val="600"/>
              </a:spcBef>
              <a:spcAft>
                <a:spcPct val="0"/>
              </a:spcAft>
              <a:buClr>
                <a:srgbClr val="CC9900"/>
              </a:buClr>
              <a:buSzPct val="65000"/>
              <a:buFont typeface="Wingdings" panose="05000000000000000000" pitchFamily="2" charset="2"/>
              <a:buChar char="n"/>
              <a:tabLst/>
              <a:defRPr/>
            </a:pP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Cross-validation can be used for parameter estimating as well. </a:t>
            </a:r>
            <a:endParaRPr kumimoji="0" lang="en-US" altLang="en-US"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endParaRPr>
          </a:p>
        </p:txBody>
      </p:sp>
      <p:sp>
        <p:nvSpPr>
          <p:cNvPr id="7"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4400" b="1" dirty="0">
                <a:solidFill>
                  <a:srgbClr val="333399"/>
                </a:solidFill>
                <a:latin typeface="Arial"/>
              </a:rPr>
              <a:t>Evaluation </a:t>
            </a:r>
            <a:r>
              <a:rPr lang="en-US" altLang="en-US" sz="4400" b="1" dirty="0" smtClean="0">
                <a:solidFill>
                  <a:srgbClr val="333399"/>
                </a:solidFill>
                <a:latin typeface="Arial"/>
              </a:rPr>
              <a:t>Methods …</a:t>
            </a:r>
            <a:endParaRPr lang="en-US" altLang="en-US" sz="4400" b="1" dirty="0">
              <a:solidFill>
                <a:srgbClr val="333399"/>
              </a:solidFill>
              <a:latin typeface="Arial"/>
            </a:endParaRPr>
          </a:p>
        </p:txBody>
      </p:sp>
    </p:spTree>
    <p:extLst>
      <p:ext uri="{BB962C8B-B14F-4D97-AF65-F5344CB8AC3E}">
        <p14:creationId xmlns:p14="http://schemas.microsoft.com/office/powerpoint/2010/main" val="1415915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barn(inVertical)">
                                      <p:cBhvr>
                                        <p:cTn id="15" dur="500"/>
                                        <p:tgtEl>
                                          <p:spTgt spid="6">
                                            <p:txEl>
                                              <p:pRg st="4" end="4"/>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barn(inVertical)">
                                      <p:cBhvr>
                                        <p:cTn id="18" dur="500"/>
                                        <p:tgtEl>
                                          <p:spTgt spid="6">
                                            <p:txEl>
                                              <p:pRg st="5" end="5"/>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barn(inVertical)">
                                      <p:cBhvr>
                                        <p:cTn id="21"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Image result for Machine learning Evaluation Method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2057400"/>
            <a:ext cx="7955280" cy="39082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en-US" sz="4400" b="1" dirty="0">
                <a:solidFill>
                  <a:srgbClr val="333399"/>
                </a:solidFill>
                <a:latin typeface="Arial"/>
              </a:rPr>
              <a:t>Evaluation </a:t>
            </a:r>
            <a:r>
              <a:rPr lang="en-US" altLang="en-US" sz="4400" b="1" dirty="0" smtClean="0">
                <a:solidFill>
                  <a:srgbClr val="333399"/>
                </a:solidFill>
                <a:latin typeface="Arial"/>
              </a:rPr>
              <a:t>Methods …</a:t>
            </a:r>
            <a:endParaRPr lang="en-US" altLang="en-US" sz="4400" b="1" dirty="0">
              <a:solidFill>
                <a:srgbClr val="333399"/>
              </a:solidFill>
              <a:latin typeface="Arial"/>
            </a:endParaRPr>
          </a:p>
        </p:txBody>
      </p:sp>
    </p:spTree>
    <p:extLst>
      <p:ext uri="{BB962C8B-B14F-4D97-AF65-F5344CB8AC3E}">
        <p14:creationId xmlns:p14="http://schemas.microsoft.com/office/powerpoint/2010/main" val="13612585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304800"/>
            <a:ext cx="8763000" cy="2246769"/>
          </a:xfrm>
          <a:prstGeom prst="rect">
            <a:avLst/>
          </a:prstGeom>
        </p:spPr>
        <p:txBody>
          <a:bodyPr wrap="square">
            <a:spAutoFit/>
          </a:bodyPr>
          <a:lstStyle/>
          <a:p>
            <a:pPr algn="just"/>
            <a:r>
              <a:rPr lang="en-US" sz="2000" b="1" dirty="0" smtClean="0">
                <a:latin typeface="Arial" panose="020B0604020202020204" pitchFamily="34" charset="0"/>
                <a:cs typeface="Arial" panose="020B0604020202020204" pitchFamily="34" charset="0"/>
              </a:rPr>
              <a:t>Question 1:</a:t>
            </a:r>
            <a:r>
              <a:rPr lang="en-US" sz="2000" dirty="0" smtClean="0">
                <a:latin typeface="Arial" panose="020B0604020202020204" pitchFamily="34" charset="0"/>
                <a:cs typeface="Arial" panose="020B0604020202020204" pitchFamily="34" charset="0"/>
              </a:rPr>
              <a:t> Why </a:t>
            </a:r>
            <a:r>
              <a:rPr lang="en-US" sz="2000" dirty="0">
                <a:latin typeface="Arial" panose="020B0604020202020204" pitchFamily="34" charset="0"/>
                <a:cs typeface="Arial" panose="020B0604020202020204" pitchFamily="34" charset="0"/>
              </a:rPr>
              <a:t>is it important that the training set and test set in a supervised learning task are disjoint (non-overlapping)?</a:t>
            </a:r>
          </a:p>
          <a:p>
            <a:r>
              <a:rPr lang="en-US" sz="2000" b="1" dirty="0">
                <a:latin typeface="Arial" panose="020B0604020202020204" pitchFamily="34" charset="0"/>
                <a:cs typeface="Arial" panose="020B0604020202020204" pitchFamily="34" charset="0"/>
              </a:rPr>
              <a:t>Options:</a:t>
            </a:r>
            <a:r>
              <a:rPr lang="en-US" sz="2000" dirty="0">
                <a:latin typeface="Arial" panose="020B0604020202020204" pitchFamily="34" charset="0"/>
                <a:cs typeface="Arial" panose="020B0604020202020204" pitchFamily="34" charset="0"/>
              </a:rPr>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To avoid data duplication</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B. To ensure faster processing</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C. To provide an unbiased estimate of the model's performance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D. To increase the size of the dataset artificially</a:t>
            </a:r>
          </a:p>
        </p:txBody>
      </p:sp>
      <p:sp>
        <p:nvSpPr>
          <p:cNvPr id="5" name="Rectangle 4"/>
          <p:cNvSpPr/>
          <p:nvPr/>
        </p:nvSpPr>
        <p:spPr>
          <a:xfrm>
            <a:off x="98322" y="2514600"/>
            <a:ext cx="8787581" cy="707886"/>
          </a:xfrm>
          <a:prstGeom prst="rect">
            <a:avLst/>
          </a:prstGeom>
        </p:spPr>
        <p:txBody>
          <a:bodyPr wrap="square">
            <a:spAutoFit/>
          </a:bodyPr>
          <a:lstStyle/>
          <a:p>
            <a:r>
              <a:rPr lang="en-US" sz="2000" b="1" dirty="0">
                <a:solidFill>
                  <a:srgbClr val="00B050"/>
                </a:solidFill>
                <a:latin typeface="Arial" panose="020B0604020202020204" pitchFamily="34" charset="0"/>
                <a:cs typeface="Arial" panose="020B0604020202020204" pitchFamily="34" charset="0"/>
              </a:rPr>
              <a:t>Correct </a:t>
            </a:r>
            <a:r>
              <a:rPr lang="en-US" sz="2000" b="1" dirty="0" smtClean="0">
                <a:solidFill>
                  <a:srgbClr val="00B050"/>
                </a:solidFill>
                <a:latin typeface="Arial" panose="020B0604020202020204" pitchFamily="34" charset="0"/>
                <a:cs typeface="Arial" panose="020B0604020202020204" pitchFamily="34" charset="0"/>
              </a:rPr>
              <a:t>Answer:</a:t>
            </a:r>
            <a:r>
              <a:rPr lang="en-US" sz="2000" dirty="0" smtClean="0">
                <a:solidFill>
                  <a:srgbClr val="00B050"/>
                </a:solidFill>
                <a:latin typeface="Arial" panose="020B0604020202020204" pitchFamily="34" charset="0"/>
                <a:cs typeface="Arial" panose="020B0604020202020204" pitchFamily="34" charset="0"/>
              </a:rPr>
              <a:t> </a:t>
            </a:r>
            <a:r>
              <a:rPr lang="en-US" sz="2000" b="1" dirty="0" smtClean="0">
                <a:solidFill>
                  <a:srgbClr val="00B050"/>
                </a:solidFill>
                <a:latin typeface="Arial" panose="020B0604020202020204" pitchFamily="34" charset="0"/>
                <a:cs typeface="Arial" panose="020B0604020202020204" pitchFamily="34" charset="0"/>
              </a:rPr>
              <a:t>C</a:t>
            </a:r>
            <a:r>
              <a:rPr lang="en-US" sz="2000" b="1" dirty="0">
                <a:solidFill>
                  <a:srgbClr val="00B050"/>
                </a:solidFill>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To provide an unbiased estimate of the model's performance</a:t>
            </a:r>
            <a:endParaRPr lang="en-US" sz="2000" dirty="0">
              <a:latin typeface="Arial" panose="020B0604020202020204" pitchFamily="34" charset="0"/>
              <a:cs typeface="Arial" panose="020B0604020202020204" pitchFamily="34" charset="0"/>
            </a:endParaRPr>
          </a:p>
        </p:txBody>
      </p:sp>
      <p:sp>
        <p:nvSpPr>
          <p:cNvPr id="6" name="Rectangle 5"/>
          <p:cNvSpPr/>
          <p:nvPr/>
        </p:nvSpPr>
        <p:spPr>
          <a:xfrm>
            <a:off x="152400" y="3494816"/>
            <a:ext cx="8839200" cy="2246769"/>
          </a:xfrm>
          <a:prstGeom prst="rect">
            <a:avLst/>
          </a:prstGeom>
        </p:spPr>
        <p:txBody>
          <a:bodyPr wrap="square">
            <a:spAutoFit/>
          </a:bodyPr>
          <a:lstStyle/>
          <a:p>
            <a:pPr algn="just"/>
            <a:r>
              <a:rPr lang="en-US" sz="2000" b="1" dirty="0" smtClean="0">
                <a:latin typeface="Arial" panose="020B0604020202020204" pitchFamily="34" charset="0"/>
                <a:cs typeface="Arial" panose="020B0604020202020204" pitchFamily="34" charset="0"/>
              </a:rPr>
              <a:t>Question 2:</a:t>
            </a:r>
            <a:r>
              <a:rPr lang="en-US" sz="2000" dirty="0" smtClean="0">
                <a:latin typeface="Arial" panose="020B0604020202020204" pitchFamily="34" charset="0"/>
                <a:cs typeface="Arial" panose="020B0604020202020204" pitchFamily="34" charset="0"/>
              </a:rPr>
              <a:t> In </a:t>
            </a:r>
            <a:r>
              <a:rPr lang="en-US" sz="2000" dirty="0">
                <a:latin typeface="Arial" panose="020B0604020202020204" pitchFamily="34" charset="0"/>
                <a:cs typeface="Arial" panose="020B0604020202020204" pitchFamily="34" charset="0"/>
              </a:rPr>
              <a:t>a machine learning workflow involving a </a:t>
            </a:r>
            <a:r>
              <a:rPr lang="en-US" sz="2000" b="1" dirty="0">
                <a:latin typeface="Arial" panose="020B0604020202020204" pitchFamily="34" charset="0"/>
                <a:cs typeface="Arial" panose="020B0604020202020204" pitchFamily="34" charset="0"/>
              </a:rPr>
              <a:t>training</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validation</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test set</a:t>
            </a:r>
            <a:r>
              <a:rPr lang="en-US" sz="2000" dirty="0">
                <a:latin typeface="Arial" panose="020B0604020202020204" pitchFamily="34" charset="0"/>
                <a:cs typeface="Arial" panose="020B0604020202020204" pitchFamily="34" charset="0"/>
              </a:rPr>
              <a:t>, what is the </a:t>
            </a:r>
            <a:r>
              <a:rPr lang="en-US" sz="2000" b="1" dirty="0">
                <a:latin typeface="Arial" panose="020B0604020202020204" pitchFamily="34" charset="0"/>
                <a:cs typeface="Arial" panose="020B0604020202020204" pitchFamily="34" charset="0"/>
              </a:rPr>
              <a:t>main role of the validation set</a:t>
            </a:r>
            <a:r>
              <a:rPr lang="en-US" sz="2000" dirty="0">
                <a:latin typeface="Arial" panose="020B0604020202020204" pitchFamily="34" charset="0"/>
                <a:cs typeface="Arial" panose="020B0604020202020204" pitchFamily="34" charset="0"/>
              </a:rPr>
              <a:t>?</a:t>
            </a:r>
          </a:p>
          <a:p>
            <a:r>
              <a:rPr lang="en-US" sz="2000" b="1" dirty="0">
                <a:latin typeface="Arial" panose="020B0604020202020204" pitchFamily="34" charset="0"/>
                <a:cs typeface="Arial" panose="020B0604020202020204" pitchFamily="34" charset="0"/>
              </a:rPr>
              <a:t>Options:</a:t>
            </a:r>
            <a:r>
              <a:rPr lang="en-US" sz="2000" dirty="0">
                <a:latin typeface="Arial" panose="020B0604020202020204" pitchFamily="34" charset="0"/>
                <a:cs typeface="Arial" panose="020B0604020202020204" pitchFamily="34" charset="0"/>
              </a:rPr>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To measure final model accuracy</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B. To train the model with additional data</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C. To tune the model’s parameters for best performance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D. To randomly shuffle test cases</a:t>
            </a:r>
          </a:p>
        </p:txBody>
      </p:sp>
      <p:sp>
        <p:nvSpPr>
          <p:cNvPr id="7" name="Rectangle 6"/>
          <p:cNvSpPr/>
          <p:nvPr/>
        </p:nvSpPr>
        <p:spPr>
          <a:xfrm>
            <a:off x="135193" y="5702991"/>
            <a:ext cx="8713838" cy="707886"/>
          </a:xfrm>
          <a:prstGeom prst="rect">
            <a:avLst/>
          </a:prstGeom>
        </p:spPr>
        <p:txBody>
          <a:bodyPr wrap="square">
            <a:spAutoFit/>
          </a:bodyPr>
          <a:lstStyle/>
          <a:p>
            <a:r>
              <a:rPr lang="en-US" sz="2000" b="1" dirty="0">
                <a:solidFill>
                  <a:srgbClr val="00B050"/>
                </a:solidFill>
                <a:latin typeface="Arial" panose="020B0604020202020204" pitchFamily="34" charset="0"/>
                <a:cs typeface="Arial" panose="020B0604020202020204" pitchFamily="34" charset="0"/>
              </a:rPr>
              <a:t>Correct </a:t>
            </a:r>
            <a:r>
              <a:rPr lang="en-US" sz="2000" b="1" dirty="0" smtClean="0">
                <a:solidFill>
                  <a:srgbClr val="00B050"/>
                </a:solidFill>
                <a:latin typeface="Arial" panose="020B0604020202020204" pitchFamily="34" charset="0"/>
                <a:cs typeface="Arial" panose="020B0604020202020204" pitchFamily="34" charset="0"/>
              </a:rPr>
              <a:t>Answer:</a:t>
            </a:r>
            <a:r>
              <a:rPr lang="en-US" sz="2000" dirty="0" smtClean="0">
                <a:solidFill>
                  <a:srgbClr val="00B050"/>
                </a:solidFill>
                <a:latin typeface="Arial" panose="020B0604020202020204" pitchFamily="34" charset="0"/>
                <a:cs typeface="Arial" panose="020B0604020202020204" pitchFamily="34" charset="0"/>
              </a:rPr>
              <a:t> </a:t>
            </a:r>
            <a:r>
              <a:rPr lang="en-US" sz="2000" b="1" dirty="0" smtClean="0">
                <a:solidFill>
                  <a:srgbClr val="00B050"/>
                </a:solidFill>
                <a:latin typeface="Arial" panose="020B0604020202020204" pitchFamily="34" charset="0"/>
                <a:cs typeface="Arial" panose="020B0604020202020204" pitchFamily="34" charset="0"/>
              </a:rPr>
              <a:t>C</a:t>
            </a:r>
            <a:r>
              <a:rPr lang="en-US" sz="2000" b="1" dirty="0">
                <a:solidFill>
                  <a:srgbClr val="00B050"/>
                </a:solidFill>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To tune the model’s parameters for best performance</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2912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defRPr/>
            </a:pPr>
            <a:r>
              <a:rPr lang="en-US" altLang="en-US" sz="4400" b="1" dirty="0">
                <a:solidFill>
                  <a:srgbClr val="333399"/>
                </a:solidFill>
                <a:latin typeface="Arial"/>
              </a:rPr>
              <a:t>Partitioning the Data</a:t>
            </a:r>
          </a:p>
        </p:txBody>
      </p:sp>
      <p:sp>
        <p:nvSpPr>
          <p:cNvPr id="5" name="Rectangle 4"/>
          <p:cNvSpPr/>
          <p:nvPr/>
        </p:nvSpPr>
        <p:spPr>
          <a:xfrm>
            <a:off x="475860" y="1600200"/>
            <a:ext cx="8210939" cy="1384995"/>
          </a:xfrm>
          <a:prstGeom prst="rect">
            <a:avLst/>
          </a:prstGeom>
        </p:spPr>
        <p:txBody>
          <a:bodyPr wrap="square">
            <a:spAutoFit/>
          </a:bodyPr>
          <a:lstStyle/>
          <a:p>
            <a:r>
              <a:rPr lang="en-US" sz="2800" dirty="0">
                <a:solidFill>
                  <a:srgbClr val="0070C0"/>
                </a:solidFill>
              </a:rPr>
              <a:t>Simple random sampling:</a:t>
            </a:r>
            <a:r>
              <a:rPr lang="en-US" sz="2800" dirty="0"/>
              <a:t> </a:t>
            </a:r>
            <a:r>
              <a:rPr lang="en-US" sz="2800" dirty="0" smtClean="0"/>
              <a:t>The </a:t>
            </a:r>
            <a:r>
              <a:rPr lang="en-US" sz="2800" dirty="0"/>
              <a:t>observations selected for the subset of the data are randomly selected, i.e., each observation has an equal probability of being chosen</a:t>
            </a:r>
            <a:r>
              <a:rPr lang="en-US" dirty="0"/>
              <a:t>.</a:t>
            </a:r>
          </a:p>
        </p:txBody>
      </p:sp>
      <p:pic>
        <p:nvPicPr>
          <p:cNvPr id="6146" name="Picture 2" descr="https://blogs.sas.com/content/subconsciousmusings/files/2019/10/3.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3124200"/>
            <a:ext cx="8724900" cy="3609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64093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defRPr/>
            </a:pPr>
            <a:r>
              <a:rPr lang="en-US" altLang="en-US" sz="4400" b="1" dirty="0">
                <a:solidFill>
                  <a:srgbClr val="333399"/>
                </a:solidFill>
                <a:latin typeface="Arial"/>
              </a:rPr>
              <a:t>Partitioning the Data</a:t>
            </a:r>
          </a:p>
        </p:txBody>
      </p:sp>
      <p:sp>
        <p:nvSpPr>
          <p:cNvPr id="5" name="Rectangle 4"/>
          <p:cNvSpPr/>
          <p:nvPr/>
        </p:nvSpPr>
        <p:spPr>
          <a:xfrm>
            <a:off x="475860" y="1600200"/>
            <a:ext cx="8210939" cy="1384995"/>
          </a:xfrm>
          <a:prstGeom prst="rect">
            <a:avLst/>
          </a:prstGeom>
        </p:spPr>
        <p:txBody>
          <a:bodyPr wrap="square">
            <a:spAutoFit/>
          </a:bodyPr>
          <a:lstStyle/>
          <a:p>
            <a:r>
              <a:rPr lang="en-US" sz="2800" dirty="0">
                <a:solidFill>
                  <a:srgbClr val="0070C0"/>
                </a:solidFill>
              </a:rPr>
              <a:t>Stratified sampling</a:t>
            </a:r>
            <a:r>
              <a:rPr lang="en-US" sz="2800" dirty="0" smtClean="0">
                <a:solidFill>
                  <a:srgbClr val="0070C0"/>
                </a:solidFill>
              </a:rPr>
              <a:t>: </a:t>
            </a:r>
            <a:r>
              <a:rPr lang="en-US" sz="2800" dirty="0" smtClean="0"/>
              <a:t>The </a:t>
            </a:r>
            <a:r>
              <a:rPr lang="en-US" sz="2800" dirty="0"/>
              <a:t>data are divided into segments or “strata,” and then observations are randomly selected from each stratum. </a:t>
            </a:r>
            <a:endParaRPr lang="en-US" dirty="0"/>
          </a:p>
        </p:txBody>
      </p:sp>
      <p:pic>
        <p:nvPicPr>
          <p:cNvPr id="7170" name="Picture 2" descr="https://blogs.sas.com/content/subconsciousmusings/files/2019/10/4.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4591" y="3048000"/>
            <a:ext cx="8753475"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2852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defRPr/>
            </a:pPr>
            <a:r>
              <a:rPr lang="en-US" altLang="en-US" sz="4400" b="1" dirty="0">
                <a:solidFill>
                  <a:srgbClr val="333399"/>
                </a:solidFill>
                <a:latin typeface="Arial"/>
              </a:rPr>
              <a:t>Partitioning the Data</a:t>
            </a:r>
          </a:p>
        </p:txBody>
      </p:sp>
      <p:sp>
        <p:nvSpPr>
          <p:cNvPr id="5" name="Rectangle 4"/>
          <p:cNvSpPr/>
          <p:nvPr/>
        </p:nvSpPr>
        <p:spPr>
          <a:xfrm>
            <a:off x="475860" y="1600200"/>
            <a:ext cx="8210939" cy="5016758"/>
          </a:xfrm>
          <a:prstGeom prst="rect">
            <a:avLst/>
          </a:prstGeom>
        </p:spPr>
        <p:txBody>
          <a:bodyPr wrap="square">
            <a:spAutoFit/>
          </a:bodyPr>
          <a:lstStyle/>
          <a:p>
            <a:pPr algn="just"/>
            <a:r>
              <a:rPr lang="en-US" sz="3200" b="1" dirty="0" smtClean="0">
                <a:solidFill>
                  <a:srgbClr val="0070C0"/>
                </a:solidFill>
              </a:rPr>
              <a:t>Oversampling</a:t>
            </a:r>
            <a:endParaRPr lang="en-US" sz="3200" dirty="0" smtClean="0">
              <a:solidFill>
                <a:srgbClr val="0070C0"/>
              </a:solidFill>
            </a:endParaRPr>
          </a:p>
          <a:p>
            <a:pPr marL="457200" indent="-457200" algn="just">
              <a:buFont typeface="Arial" panose="020B0604020202020204" pitchFamily="34" charset="0"/>
              <a:buChar char="•"/>
            </a:pPr>
            <a:r>
              <a:rPr lang="en-US" sz="3200" dirty="0" smtClean="0">
                <a:solidFill>
                  <a:srgbClr val="FF0000"/>
                </a:solidFill>
              </a:rPr>
              <a:t>Oversampling </a:t>
            </a:r>
            <a:r>
              <a:rPr lang="en-US" sz="3200" dirty="0">
                <a:solidFill>
                  <a:srgbClr val="FF0000"/>
                </a:solidFill>
              </a:rPr>
              <a:t>is commonly used when you are looking at rare events, such as cancer cases. You may have a data set with 10,000 people and only 100 cancer cases. </a:t>
            </a:r>
            <a:endParaRPr lang="en-US" sz="3200" dirty="0" smtClean="0">
              <a:solidFill>
                <a:srgbClr val="FF0000"/>
              </a:solidFill>
            </a:endParaRPr>
          </a:p>
          <a:p>
            <a:pPr marL="457200" indent="-457200" algn="just">
              <a:buFont typeface="Arial" panose="020B0604020202020204" pitchFamily="34" charset="0"/>
              <a:buChar char="•"/>
            </a:pPr>
            <a:r>
              <a:rPr lang="en-US" sz="3200" dirty="0" smtClean="0"/>
              <a:t>You </a:t>
            </a:r>
            <a:r>
              <a:rPr lang="en-US" sz="3200" dirty="0"/>
              <a:t>may wish to oversample the cancer cases to get, for example, a 90:10 ratio of non-cancer to cancer cases. You could use </a:t>
            </a:r>
            <a:r>
              <a:rPr lang="en-US" sz="3200" dirty="0" smtClean="0"/>
              <a:t>all </a:t>
            </a:r>
            <a:r>
              <a:rPr lang="en-US" sz="3200" dirty="0"/>
              <a:t>of the cancer cases (all 100) and a 9% random sample of the non-cancer cases (900</a:t>
            </a:r>
            <a:r>
              <a:rPr lang="en-US" sz="3200" dirty="0" smtClean="0"/>
              <a:t>).</a:t>
            </a:r>
            <a:endParaRPr lang="en-US" sz="3200" dirty="0"/>
          </a:p>
        </p:txBody>
      </p:sp>
    </p:spTree>
    <p:extLst>
      <p:ext uri="{BB962C8B-B14F-4D97-AF65-F5344CB8AC3E}">
        <p14:creationId xmlns:p14="http://schemas.microsoft.com/office/powerpoint/2010/main" val="23621905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596900" y="1516062"/>
            <a:ext cx="8470900"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lnSpc>
                <a:spcPct val="100000"/>
              </a:lnSpc>
              <a:spcBef>
                <a:spcPts val="600"/>
              </a:spcBef>
              <a:spcAft>
                <a:spcPct val="0"/>
              </a:spcAft>
              <a:buClr>
                <a:srgbClr val="CC9900"/>
              </a:buClr>
              <a:buSzPct val="65000"/>
              <a:buFont typeface="Wingdings" panose="05000000000000000000" pitchFamily="2" charset="2"/>
              <a:buChar char="n"/>
              <a:tabLst/>
              <a:defRPr/>
            </a:pPr>
            <a:r>
              <a:rPr lang="en-US" altLang="en-US" sz="2600" b="1" kern="0" dirty="0">
                <a:solidFill>
                  <a:srgbClr val="0070C0"/>
                </a:solidFill>
                <a:latin typeface="Arial"/>
              </a:rPr>
              <a:t>k</a:t>
            </a:r>
            <a:r>
              <a:rPr kumimoji="0" lang="en-US" altLang="en-US" sz="2600" b="1" i="0" u="none" strike="noStrike" kern="0" cap="none" spc="0" normalizeH="0" baseline="0" noProof="0" dirty="0" smtClean="0">
                <a:ln>
                  <a:noFill/>
                </a:ln>
                <a:solidFill>
                  <a:srgbClr val="0070C0"/>
                </a:solidFill>
                <a:effectLst/>
                <a:uLnTx/>
                <a:uFillTx/>
                <a:latin typeface="Arial"/>
                <a:ea typeface="+mn-ea"/>
                <a:cs typeface="+mn-cs"/>
              </a:rPr>
              <a:t>-fold cross-validation</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T</a:t>
            </a: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he available data is partitioned into </a:t>
            </a:r>
            <a:r>
              <a:rPr kumimoji="0" lang="en-US" altLang="ja-JP" sz="2600" b="0" i="1"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k</a:t>
            </a: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 equal-size disjoint subsets. </a:t>
            </a:r>
          </a:p>
          <a:p>
            <a:pPr marL="342900" marR="0" lvl="0" indent="-342900" algn="l" defTabSz="914400" rtl="0" eaLnBrk="1" fontAlgn="base" latinLnBrk="0" hangingPunct="1">
              <a:lnSpc>
                <a:spcPct val="100000"/>
              </a:lnSpc>
              <a:spcBef>
                <a:spcPts val="600"/>
              </a:spcBef>
              <a:spcAft>
                <a:spcPct val="0"/>
              </a:spcAft>
              <a:buClr>
                <a:srgbClr val="CC9900"/>
              </a:buClr>
              <a:buSzPct val="65000"/>
              <a:buFont typeface="Wingdings" panose="05000000000000000000" pitchFamily="2" charset="2"/>
              <a:buChar char="n"/>
              <a:tabLst/>
              <a:defRPr/>
            </a:pPr>
            <a:r>
              <a:rPr kumimoji="0" lang="en-US" altLang="ja-JP" sz="2600" b="0" i="0" u="none" strike="noStrike" kern="0" cap="none" spc="0" normalizeH="0" baseline="0" noProof="0" dirty="0" smtClean="0">
                <a:ln>
                  <a:noFill/>
                </a:ln>
                <a:solidFill>
                  <a:srgbClr val="FF0000"/>
                </a:solidFill>
                <a:effectLst/>
                <a:uLnTx/>
                <a:uFillTx/>
                <a:latin typeface="Arial"/>
                <a:ea typeface="MS PGothic" panose="020B0600070205080204" pitchFamily="34" charset="-128"/>
                <a:cs typeface="+mn-cs"/>
              </a:rPr>
              <a:t>Use each subset as the test set and combine the rest </a:t>
            </a:r>
            <a:r>
              <a:rPr kumimoji="0" lang="en-US" altLang="ja-JP" sz="2600" b="1" i="1" u="none" strike="noStrike" kern="0" cap="none" spc="0" normalizeH="0" baseline="0" noProof="0" dirty="0" smtClean="0">
                <a:ln>
                  <a:noFill/>
                </a:ln>
                <a:solidFill>
                  <a:srgbClr val="FF0000"/>
                </a:solidFill>
                <a:effectLst/>
                <a:uLnTx/>
                <a:uFillTx/>
                <a:latin typeface="Arial"/>
                <a:ea typeface="MS PGothic" panose="020B0600070205080204" pitchFamily="34" charset="-128"/>
                <a:cs typeface="+mn-cs"/>
              </a:rPr>
              <a:t>k</a:t>
            </a:r>
            <a:r>
              <a:rPr kumimoji="0" lang="en-US" altLang="ja-JP" sz="2600" b="1" i="0" u="none" strike="noStrike" kern="0" cap="none" spc="0" normalizeH="0" baseline="0" noProof="0" dirty="0" smtClean="0">
                <a:ln>
                  <a:noFill/>
                </a:ln>
                <a:solidFill>
                  <a:srgbClr val="FF0000"/>
                </a:solidFill>
                <a:effectLst/>
                <a:uLnTx/>
                <a:uFillTx/>
                <a:latin typeface="Arial"/>
                <a:ea typeface="MS PGothic" panose="020B0600070205080204" pitchFamily="34" charset="-128"/>
                <a:cs typeface="+mn-cs"/>
              </a:rPr>
              <a:t>-1</a:t>
            </a:r>
            <a:r>
              <a:rPr kumimoji="0" lang="en-US" altLang="ja-JP" sz="2600" b="0" i="0" u="none" strike="noStrike" kern="0" cap="none" spc="0" normalizeH="0" baseline="0" noProof="0" dirty="0" smtClean="0">
                <a:ln>
                  <a:noFill/>
                </a:ln>
                <a:solidFill>
                  <a:srgbClr val="FF0000"/>
                </a:solidFill>
                <a:effectLst/>
                <a:uLnTx/>
                <a:uFillTx/>
                <a:latin typeface="Arial"/>
                <a:ea typeface="MS PGothic" panose="020B0600070205080204" pitchFamily="34" charset="-128"/>
                <a:cs typeface="+mn-cs"/>
              </a:rPr>
              <a:t> subsets as the training set to learn a classifier. </a:t>
            </a:r>
          </a:p>
          <a:p>
            <a:pPr marL="342900" marR="0" lvl="0" indent="-342900" algn="l" defTabSz="914400" rtl="0" eaLnBrk="1" fontAlgn="base" latinLnBrk="0" hangingPunct="1">
              <a:lnSpc>
                <a:spcPct val="100000"/>
              </a:lnSpc>
              <a:spcBef>
                <a:spcPts val="600"/>
              </a:spcBef>
              <a:spcAft>
                <a:spcPct val="0"/>
              </a:spcAft>
              <a:buClr>
                <a:srgbClr val="CC9900"/>
              </a:buClr>
              <a:buSzPct val="65000"/>
              <a:buFont typeface="Wingdings" panose="05000000000000000000" pitchFamily="2" charset="2"/>
              <a:buChar char="n"/>
              <a:tabLst/>
              <a:defRPr/>
            </a:pP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The procedure is run </a:t>
            </a:r>
            <a:r>
              <a:rPr kumimoji="0" lang="en-US" altLang="ja-JP" sz="2600" b="1" i="1"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k</a:t>
            </a: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 times, which give </a:t>
            </a:r>
            <a:r>
              <a:rPr kumimoji="0" lang="en-US" altLang="ja-JP" sz="2600" b="1" i="1"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k</a:t>
            </a: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 accuracies. </a:t>
            </a:r>
          </a:p>
          <a:p>
            <a:pPr marL="342900" marR="0" lvl="0" indent="-342900" algn="l" defTabSz="914400" rtl="0" eaLnBrk="1" fontAlgn="base" latinLnBrk="0" hangingPunct="1">
              <a:lnSpc>
                <a:spcPct val="100000"/>
              </a:lnSpc>
              <a:spcBef>
                <a:spcPts val="600"/>
              </a:spcBef>
              <a:spcAft>
                <a:spcPct val="0"/>
              </a:spcAft>
              <a:buClr>
                <a:srgbClr val="CC9900"/>
              </a:buClr>
              <a:buSzPct val="65000"/>
              <a:buFont typeface="Wingdings" panose="05000000000000000000" pitchFamily="2" charset="2"/>
              <a:buChar char="n"/>
              <a:tabLst/>
              <a:defRPr/>
            </a:pP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The final estimated accuracy of learning is the average of the </a:t>
            </a:r>
            <a:r>
              <a:rPr kumimoji="0" lang="en-US" altLang="ja-JP" sz="2600" b="1" i="1"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k</a:t>
            </a: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 accuracies. </a:t>
            </a:r>
          </a:p>
          <a:p>
            <a:pPr marL="342900" marR="0" lvl="0" indent="-342900" algn="l" defTabSz="914400" rtl="0" eaLnBrk="1" fontAlgn="base" latinLnBrk="0" hangingPunct="1">
              <a:lnSpc>
                <a:spcPct val="100000"/>
              </a:lnSpc>
              <a:spcBef>
                <a:spcPts val="600"/>
              </a:spcBef>
              <a:spcAft>
                <a:spcPct val="0"/>
              </a:spcAft>
              <a:buClr>
                <a:srgbClr val="CC9900"/>
              </a:buClr>
              <a:buSzPct val="65000"/>
              <a:buFont typeface="Wingdings" panose="05000000000000000000" pitchFamily="2" charset="2"/>
              <a:buChar char="n"/>
              <a:tabLst/>
              <a:defRPr/>
            </a:pPr>
            <a:r>
              <a:rPr kumimoji="0" lang="en-US" altLang="ja-JP" sz="2600" b="0" i="0" u="none" strike="noStrike" kern="0" cap="none" spc="0" normalizeH="0" baseline="0" noProof="0" dirty="0" smtClean="0">
                <a:ln>
                  <a:noFill/>
                </a:ln>
                <a:solidFill>
                  <a:srgbClr val="C00000"/>
                </a:solidFill>
                <a:effectLst/>
                <a:uLnTx/>
                <a:uFillTx/>
                <a:latin typeface="Arial"/>
                <a:ea typeface="MS PGothic" panose="020B0600070205080204" pitchFamily="34" charset="-128"/>
                <a:cs typeface="+mn-cs"/>
              </a:rPr>
              <a:t>10-fold and 5-fold </a:t>
            </a:r>
            <a:r>
              <a:rPr kumimoji="0" lang="en-US" altLang="ja-JP" sz="2600" b="0" i="0" u="none" strike="noStrike" kern="0" cap="none" spc="0" normalizeH="0" baseline="0" noProof="0" dirty="0" smtClean="0">
                <a:ln>
                  <a:noFill/>
                </a:ln>
                <a:solidFill>
                  <a:srgbClr val="000000"/>
                </a:solidFill>
                <a:effectLst/>
                <a:uLnTx/>
                <a:uFillTx/>
                <a:latin typeface="Arial"/>
                <a:ea typeface="MS PGothic" panose="020B0600070205080204" pitchFamily="34" charset="-128"/>
                <a:cs typeface="+mn-cs"/>
              </a:rPr>
              <a:t>cross-validations are commonly used. </a:t>
            </a:r>
            <a:r>
              <a:rPr kumimoji="0" lang="en-US" altLang="en-US" sz="2600" b="0" i="0" u="none" strike="noStrike" kern="0" cap="none" spc="0" normalizeH="0" baseline="0" noProof="0" dirty="0" smtClean="0">
                <a:ln>
                  <a:noFill/>
                </a:ln>
                <a:solidFill>
                  <a:srgbClr val="000000"/>
                </a:solidFill>
                <a:effectLst/>
                <a:uLnTx/>
                <a:uFillTx/>
                <a:latin typeface="Arial"/>
                <a:ea typeface="+mn-ea"/>
                <a:cs typeface="+mn-cs"/>
              </a:rPr>
              <a:t> </a:t>
            </a:r>
          </a:p>
          <a:p>
            <a:pPr marL="342900" marR="0" lvl="0" indent="-342900" algn="l" defTabSz="914400" rtl="0" eaLnBrk="1" fontAlgn="base" latinLnBrk="0" hangingPunct="1">
              <a:lnSpc>
                <a:spcPct val="100000"/>
              </a:lnSpc>
              <a:spcBef>
                <a:spcPts val="600"/>
              </a:spcBef>
              <a:spcAft>
                <a:spcPct val="0"/>
              </a:spcAft>
              <a:buClr>
                <a:srgbClr val="CC9900"/>
              </a:buClr>
              <a:buSzPct val="65000"/>
              <a:buFont typeface="Wingdings" panose="05000000000000000000" pitchFamily="2" charset="2"/>
              <a:buChar char="n"/>
              <a:tabLst/>
              <a:defRPr/>
            </a:pPr>
            <a:r>
              <a:rPr kumimoji="0" lang="en-US" altLang="en-US" sz="2600" b="1" i="0" u="none" strike="noStrike" kern="0" cap="none" spc="0" normalizeH="0" baseline="0" noProof="0" dirty="0" smtClean="0">
                <a:ln>
                  <a:noFill/>
                </a:ln>
                <a:solidFill>
                  <a:srgbClr val="0070C0"/>
                </a:solidFill>
                <a:effectLst/>
                <a:uLnTx/>
                <a:uFillTx/>
                <a:latin typeface="Arial"/>
                <a:ea typeface="+mn-ea"/>
                <a:cs typeface="+mn-cs"/>
              </a:rPr>
              <a:t>This method is used when the available data is not large. </a:t>
            </a:r>
          </a:p>
        </p:txBody>
      </p:sp>
      <p:sp>
        <p:nvSpPr>
          <p:cNvPr id="6"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3200" b="1" dirty="0">
                <a:solidFill>
                  <a:srgbClr val="333399"/>
                </a:solidFill>
                <a:latin typeface="Arial"/>
              </a:rPr>
              <a:t>Evaluation </a:t>
            </a:r>
            <a:r>
              <a:rPr lang="en-US" altLang="en-US" sz="3200" b="1" dirty="0" smtClean="0">
                <a:solidFill>
                  <a:srgbClr val="333399"/>
                </a:solidFill>
                <a:latin typeface="Arial"/>
              </a:rPr>
              <a:t>Methods: </a:t>
            </a:r>
            <a:r>
              <a:rPr lang="en-US" altLang="en-US" sz="3200" b="1" dirty="0" smtClean="0">
                <a:solidFill>
                  <a:srgbClr val="C00000"/>
                </a:solidFill>
                <a:latin typeface="Arial"/>
              </a:rPr>
              <a:t>Cross Validation</a:t>
            </a:r>
            <a:endParaRPr lang="en-US" altLang="en-US" sz="3200" b="1" dirty="0">
              <a:solidFill>
                <a:srgbClr val="C00000"/>
              </a:solidFill>
              <a:latin typeface="Arial"/>
            </a:endParaRPr>
          </a:p>
        </p:txBody>
      </p:sp>
    </p:spTree>
    <p:extLst>
      <p:ext uri="{BB962C8B-B14F-4D97-AF65-F5344CB8AC3E}">
        <p14:creationId xmlns:p14="http://schemas.microsoft.com/office/powerpoint/2010/main" val="24306531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wipe(down)">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1000"/>
                                        <p:tgtEl>
                                          <p:spTgt spid="5">
                                            <p:txEl>
                                              <p:pRg st="5" end="5"/>
                                            </p:txEl>
                                          </p:spTgt>
                                        </p:tgtEl>
                                      </p:cBhvr>
                                    </p:animEffect>
                                    <p:anim calcmode="lin" valueType="num">
                                      <p:cBhvr>
                                        <p:cTn id="2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3200" b="1" dirty="0">
                <a:solidFill>
                  <a:srgbClr val="333399"/>
                </a:solidFill>
                <a:latin typeface="Arial"/>
              </a:rPr>
              <a:t>Evaluation </a:t>
            </a:r>
            <a:r>
              <a:rPr lang="en-US" altLang="en-US" sz="3200" b="1" dirty="0" smtClean="0">
                <a:solidFill>
                  <a:srgbClr val="333399"/>
                </a:solidFill>
                <a:latin typeface="Arial"/>
              </a:rPr>
              <a:t>Methods: </a:t>
            </a:r>
            <a:r>
              <a:rPr lang="en-US" altLang="en-US" sz="3200" b="1" dirty="0" smtClean="0">
                <a:solidFill>
                  <a:srgbClr val="C00000"/>
                </a:solidFill>
                <a:latin typeface="Arial"/>
              </a:rPr>
              <a:t>Cross </a:t>
            </a:r>
            <a:r>
              <a:rPr lang="en-US" altLang="en-US" sz="3200" b="1" dirty="0">
                <a:solidFill>
                  <a:srgbClr val="C00000"/>
                </a:solidFill>
                <a:latin typeface="Arial"/>
              </a:rPr>
              <a:t>Validation</a:t>
            </a:r>
          </a:p>
        </p:txBody>
      </p:sp>
      <p:pic>
        <p:nvPicPr>
          <p:cNvPr id="8194" name="Picture 2" descr="https://miro.medium.com/max/676/1*OoDfxcxpccB6tvZ2Hw0XzQ.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 y="1828800"/>
            <a:ext cx="8778240" cy="4622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29546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304800" y="1600200"/>
            <a:ext cx="846124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360" tIns="44280" rIns="90360" bIns="44280"/>
          <a:lstStyle>
            <a:lvl1pPr marL="339725" indent="-339725"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1pPr>
            <a:lvl2pPr marL="739775" indent="-282575"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2pPr>
            <a:lvl3pPr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3pPr>
            <a:lvl4pPr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4pPr>
            <a:lvl5pPr eaLnBrk="0" hangingPunc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solidFill>
                  <a:schemeClr val="bg1"/>
                </a:solidFill>
                <a:latin typeface="Arial" panose="020B0604020202020204" pitchFamily="34" charset="0"/>
                <a:cs typeface="Arial" panose="020B0604020202020204" pitchFamily="34" charset="0"/>
              </a:defRPr>
            </a:lvl9pPr>
          </a:lstStyle>
          <a:p>
            <a:pPr marL="392113" lvl="1" indent="-342900" algn="just" defTabSz="457200" eaLnBrk="1" fontAlgn="base" hangingPunct="1">
              <a:spcBef>
                <a:spcPts val="1200"/>
              </a:spcBef>
              <a:spcAft>
                <a:spcPct val="0"/>
              </a:spcAft>
              <a:buClr>
                <a:srgbClr val="000000"/>
              </a:buClr>
              <a:buSzPct val="100000"/>
              <a:buFont typeface="Wingdings" panose="05000000000000000000" pitchFamily="2" charset="2"/>
              <a:buChar char="§"/>
            </a:pPr>
            <a:r>
              <a:rPr lang="en-US" altLang="en-US" sz="2400" kern="0" dirty="0" smtClean="0">
                <a:solidFill>
                  <a:srgbClr val="000000"/>
                </a:solidFill>
                <a:latin typeface="Arial"/>
                <a:ea typeface="MS PGothic" panose="020B0600070205080204" pitchFamily="34" charset="-128"/>
                <a:cs typeface="+mn-cs"/>
              </a:rPr>
              <a:t>cross-validation </a:t>
            </a:r>
            <a:r>
              <a:rPr lang="en-US" altLang="en-US" sz="2400" kern="0" dirty="0">
                <a:solidFill>
                  <a:srgbClr val="000000"/>
                </a:solidFill>
                <a:latin typeface="Arial"/>
                <a:ea typeface="MS PGothic" panose="020B0600070205080204" pitchFamily="34" charset="-128"/>
                <a:cs typeface="+mn-cs"/>
              </a:rPr>
              <a:t>generates an approximate estimate of how well the learned model will do on “unseen” data</a:t>
            </a:r>
          </a:p>
          <a:p>
            <a:pPr marL="392113" lvl="1" indent="-342900" algn="just" defTabSz="457200" eaLnBrk="1" fontAlgn="base" hangingPunct="1">
              <a:spcBef>
                <a:spcPts val="1200"/>
              </a:spcBef>
              <a:spcAft>
                <a:spcPct val="0"/>
              </a:spcAft>
              <a:buClr>
                <a:srgbClr val="000000"/>
              </a:buClr>
              <a:buSzPct val="100000"/>
              <a:buFont typeface="Wingdings" panose="05000000000000000000" pitchFamily="2" charset="2"/>
              <a:buChar char="§"/>
            </a:pPr>
            <a:r>
              <a:rPr lang="en-US" altLang="en-US" sz="2400" kern="0" dirty="0" smtClean="0">
                <a:solidFill>
                  <a:srgbClr val="000000"/>
                </a:solidFill>
                <a:latin typeface="Arial"/>
                <a:ea typeface="MS PGothic" panose="020B0600070205080204" pitchFamily="34" charset="-128"/>
                <a:cs typeface="+mn-cs"/>
              </a:rPr>
              <a:t>by </a:t>
            </a:r>
            <a:r>
              <a:rPr lang="en-US" altLang="en-US" sz="2400" kern="0" dirty="0">
                <a:solidFill>
                  <a:srgbClr val="000000"/>
                </a:solidFill>
                <a:latin typeface="Arial"/>
                <a:ea typeface="MS PGothic" panose="020B0600070205080204" pitchFamily="34" charset="-128"/>
                <a:cs typeface="+mn-cs"/>
              </a:rPr>
              <a:t>averaging over different partitions it is more robust than just a single train/validate partition of the data</a:t>
            </a:r>
          </a:p>
          <a:p>
            <a:pPr marL="392113" lvl="1" indent="-342900" algn="just" defTabSz="457200" eaLnBrk="1" fontAlgn="base" hangingPunct="1">
              <a:spcBef>
                <a:spcPts val="1200"/>
              </a:spcBef>
              <a:spcAft>
                <a:spcPct val="0"/>
              </a:spcAft>
              <a:buClr>
                <a:srgbClr val="000000"/>
              </a:buClr>
              <a:buSzPct val="100000"/>
              <a:buFont typeface="Wingdings" panose="05000000000000000000" pitchFamily="2" charset="2"/>
              <a:buChar char="§"/>
            </a:pPr>
            <a:r>
              <a:rPr lang="en-US" altLang="en-US" sz="2400" kern="0" dirty="0" smtClean="0">
                <a:solidFill>
                  <a:srgbClr val="000000"/>
                </a:solidFill>
                <a:latin typeface="Arial"/>
                <a:ea typeface="MS PGothic" panose="020B0600070205080204" pitchFamily="34" charset="-128"/>
                <a:cs typeface="+mn-cs"/>
              </a:rPr>
              <a:t>“</a:t>
            </a:r>
            <a:r>
              <a:rPr lang="en-US" altLang="en-US" sz="2400" kern="0" dirty="0">
                <a:solidFill>
                  <a:srgbClr val="000000"/>
                </a:solidFill>
                <a:latin typeface="Arial"/>
                <a:ea typeface="MS PGothic" panose="020B0600070205080204" pitchFamily="34" charset="-128"/>
                <a:cs typeface="+mn-cs"/>
              </a:rPr>
              <a:t>k-fold” cross-validation is a generalization</a:t>
            </a:r>
          </a:p>
          <a:p>
            <a:pPr marL="849313" lvl="3" indent="-342900" algn="just" defTabSz="457200" eaLnBrk="1" fontAlgn="base" hangingPunct="1">
              <a:spcBef>
                <a:spcPts val="1200"/>
              </a:spcBef>
              <a:spcAft>
                <a:spcPct val="0"/>
              </a:spcAft>
              <a:buClr>
                <a:srgbClr val="000000"/>
              </a:buClr>
              <a:buSzPct val="100000"/>
              <a:buFont typeface="Wingdings" panose="05000000000000000000" pitchFamily="2" charset="2"/>
              <a:buChar char="ü"/>
            </a:pPr>
            <a:r>
              <a:rPr lang="en-US" altLang="en-US" sz="2400" kern="0" dirty="0">
                <a:solidFill>
                  <a:srgbClr val="000000"/>
                </a:solidFill>
                <a:latin typeface="Arial"/>
                <a:ea typeface="MS PGothic" panose="020B0600070205080204" pitchFamily="34" charset="-128"/>
                <a:cs typeface="+mn-cs"/>
              </a:rPr>
              <a:t>partition data into disjoint validation subsets of size n/k</a:t>
            </a:r>
          </a:p>
          <a:p>
            <a:pPr marL="849313" lvl="3" indent="-342900" algn="just" defTabSz="457200" eaLnBrk="1" fontAlgn="base" hangingPunct="1">
              <a:spcBef>
                <a:spcPts val="1200"/>
              </a:spcBef>
              <a:spcAft>
                <a:spcPct val="0"/>
              </a:spcAft>
              <a:buClr>
                <a:srgbClr val="000000"/>
              </a:buClr>
              <a:buSzPct val="100000"/>
              <a:buFont typeface="Wingdings" panose="05000000000000000000" pitchFamily="2" charset="2"/>
              <a:buChar char="ü"/>
            </a:pPr>
            <a:r>
              <a:rPr lang="en-US" altLang="en-US" sz="2400" kern="0" dirty="0">
                <a:solidFill>
                  <a:srgbClr val="000000"/>
                </a:solidFill>
                <a:latin typeface="Arial"/>
                <a:ea typeface="MS PGothic" panose="020B0600070205080204" pitchFamily="34" charset="-128"/>
                <a:cs typeface="+mn-cs"/>
              </a:rPr>
              <a:t>train, validate, and average over the v partitions</a:t>
            </a:r>
          </a:p>
          <a:p>
            <a:pPr marL="849313" lvl="3" indent="-342900" algn="just" defTabSz="457200" eaLnBrk="1" fontAlgn="base" hangingPunct="1">
              <a:spcBef>
                <a:spcPts val="1200"/>
              </a:spcBef>
              <a:spcAft>
                <a:spcPct val="0"/>
              </a:spcAft>
              <a:buClr>
                <a:srgbClr val="000000"/>
              </a:buClr>
              <a:buSzPct val="100000"/>
              <a:buFont typeface="Wingdings" panose="05000000000000000000" pitchFamily="2" charset="2"/>
              <a:buChar char="ü"/>
            </a:pPr>
            <a:r>
              <a:rPr lang="en-US" altLang="en-US" sz="2400" kern="0" dirty="0">
                <a:solidFill>
                  <a:srgbClr val="000000"/>
                </a:solidFill>
                <a:latin typeface="Arial"/>
                <a:ea typeface="MS PGothic" panose="020B0600070205080204" pitchFamily="34" charset="-128"/>
                <a:cs typeface="+mn-cs"/>
              </a:rPr>
              <a:t>e.g., k=10 is commonly used</a:t>
            </a:r>
          </a:p>
          <a:p>
            <a:pPr marL="392113" lvl="1" indent="-342900" algn="just" defTabSz="457200" eaLnBrk="1" fontAlgn="base" hangingPunct="1">
              <a:spcBef>
                <a:spcPts val="1200"/>
              </a:spcBef>
              <a:spcAft>
                <a:spcPct val="0"/>
              </a:spcAft>
              <a:buClr>
                <a:srgbClr val="000000"/>
              </a:buClr>
              <a:buSzPct val="100000"/>
              <a:buFont typeface="Wingdings" panose="05000000000000000000" pitchFamily="2" charset="2"/>
              <a:buChar char="§"/>
            </a:pPr>
            <a:r>
              <a:rPr lang="en-US" altLang="en-US" sz="2400" kern="0" dirty="0" smtClean="0">
                <a:solidFill>
                  <a:srgbClr val="0070C0"/>
                </a:solidFill>
                <a:latin typeface="Arial"/>
                <a:ea typeface="MS PGothic" panose="020B0600070205080204" pitchFamily="34" charset="-128"/>
                <a:cs typeface="+mn-cs"/>
              </a:rPr>
              <a:t>k-fold </a:t>
            </a:r>
            <a:r>
              <a:rPr lang="en-US" altLang="en-US" sz="2400" kern="0" dirty="0">
                <a:solidFill>
                  <a:srgbClr val="0070C0"/>
                </a:solidFill>
                <a:latin typeface="Arial"/>
                <a:ea typeface="MS PGothic" panose="020B0600070205080204" pitchFamily="34" charset="-128"/>
                <a:cs typeface="+mn-cs"/>
              </a:rPr>
              <a:t>cross-validation is approximately k times computationally more expensive than just fitting a model to all of the </a:t>
            </a:r>
            <a:r>
              <a:rPr lang="en-US" altLang="en-US" sz="2400" dirty="0" smtClean="0">
                <a:solidFill>
                  <a:srgbClr val="0070C0"/>
                </a:solidFill>
                <a:latin typeface="Verdana" panose="020B0604030504040204" pitchFamily="34" charset="0"/>
              </a:rPr>
              <a:t>data</a:t>
            </a:r>
          </a:p>
        </p:txBody>
      </p:sp>
      <p:sp>
        <p:nvSpPr>
          <p:cNvPr id="6" name="Rectangle 2"/>
          <p:cNvSpPr txBox="1">
            <a:spLocks noChangeArrowheads="1"/>
          </p:cNvSpPr>
          <p:nvPr/>
        </p:nvSpPr>
        <p:spPr bwMode="auto">
          <a:xfrm>
            <a:off x="457200" y="277813"/>
            <a:ext cx="822960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3200" b="1" dirty="0">
                <a:solidFill>
                  <a:srgbClr val="333399"/>
                </a:solidFill>
                <a:latin typeface="Arial"/>
              </a:rPr>
              <a:t>Evaluation </a:t>
            </a:r>
            <a:r>
              <a:rPr lang="en-US" altLang="en-US" sz="3200" b="1" dirty="0" smtClean="0">
                <a:solidFill>
                  <a:srgbClr val="333399"/>
                </a:solidFill>
                <a:latin typeface="Arial"/>
              </a:rPr>
              <a:t>Methods: </a:t>
            </a:r>
            <a:r>
              <a:rPr lang="en-US" altLang="en-US" sz="3200" b="1" dirty="0" smtClean="0">
                <a:solidFill>
                  <a:srgbClr val="C00000"/>
                </a:solidFill>
                <a:latin typeface="Arial"/>
              </a:rPr>
              <a:t>Cross Validation …</a:t>
            </a:r>
            <a:endParaRPr lang="en-US" altLang="en-US" sz="3200" b="1" dirty="0">
              <a:solidFill>
                <a:srgbClr val="C00000"/>
              </a:solidFill>
              <a:latin typeface="Arial"/>
            </a:endParaRPr>
          </a:p>
        </p:txBody>
      </p:sp>
    </p:spTree>
    <p:extLst>
      <p:ext uri="{BB962C8B-B14F-4D97-AF65-F5344CB8AC3E}">
        <p14:creationId xmlns:p14="http://schemas.microsoft.com/office/powerpoint/2010/main" val="1372564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barn(inVertical)">
                                      <p:cBhvr>
                                        <p:cTn id="14" dur="500"/>
                                        <p:tgtEl>
                                          <p:spTgt spid="5">
                                            <p:txEl>
                                              <p:pRg st="2" end="2"/>
                                            </p:txEl>
                                          </p:spTgt>
                                        </p:tgtEl>
                                      </p:cBhvr>
                                    </p:animEffect>
                                  </p:childTnLst>
                                </p:cTn>
                              </p:par>
                              <p:par>
                                <p:cTn id="15" presetID="16" presetClass="entr" presetSubtype="21"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barn(inVertical)">
                                      <p:cBhvr>
                                        <p:cTn id="17" dur="500"/>
                                        <p:tgtEl>
                                          <p:spTgt spid="5">
                                            <p:txEl>
                                              <p:pRg st="3" end="3"/>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barn(inVertical)">
                                      <p:cBhvr>
                                        <p:cTn id="20" dur="500"/>
                                        <p:tgtEl>
                                          <p:spTgt spid="5">
                                            <p:txEl>
                                              <p:pRg st="4" end="4"/>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barn(inVertical)">
                                      <p:cBhvr>
                                        <p:cTn id="23" dur="500"/>
                                        <p:tgtEl>
                                          <p:spTgt spid="5">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0890" y="74712"/>
            <a:ext cx="8610600" cy="2554545"/>
          </a:xfrm>
          <a:prstGeom prst="rect">
            <a:avLst/>
          </a:prstGeom>
        </p:spPr>
        <p:txBody>
          <a:bodyPr wrap="square">
            <a:spAutoFit/>
          </a:bodyPr>
          <a:lstStyle/>
          <a:p>
            <a:pPr algn="just"/>
            <a:r>
              <a:rPr lang="en-US" sz="2000" b="1" dirty="0" smtClean="0">
                <a:latin typeface="Arial" panose="020B0604020202020204" pitchFamily="34" charset="0"/>
                <a:cs typeface="Arial" panose="020B0604020202020204" pitchFamily="34" charset="0"/>
              </a:rPr>
              <a:t>Question 1:</a:t>
            </a:r>
            <a:r>
              <a:rPr lang="en-US" sz="2000" dirty="0" smtClean="0">
                <a:latin typeface="Arial" panose="020B0604020202020204" pitchFamily="34" charset="0"/>
                <a:cs typeface="Arial" panose="020B0604020202020204" pitchFamily="34" charset="0"/>
              </a:rPr>
              <a:t> In </a:t>
            </a:r>
            <a:r>
              <a:rPr lang="en-US" sz="2000" dirty="0">
                <a:latin typeface="Arial" panose="020B0604020202020204" pitchFamily="34" charset="0"/>
                <a:cs typeface="Arial" panose="020B0604020202020204" pitchFamily="34" charset="0"/>
              </a:rPr>
              <a:t>a medical dataset with a very small proportion of cancer cases (1%), which data partitioning technique is most appropriate to ensure the model learns to identify rare events effectively?</a:t>
            </a:r>
          </a:p>
          <a:p>
            <a:r>
              <a:rPr lang="en-US" sz="2000" b="1" dirty="0">
                <a:latin typeface="Arial" panose="020B0604020202020204" pitchFamily="34" charset="0"/>
                <a:cs typeface="Arial" panose="020B0604020202020204" pitchFamily="34" charset="0"/>
              </a:rPr>
              <a:t>Options:</a:t>
            </a:r>
            <a:r>
              <a:rPr lang="en-US" sz="2000" dirty="0">
                <a:latin typeface="Arial" panose="020B0604020202020204" pitchFamily="34" charset="0"/>
                <a:cs typeface="Arial" panose="020B0604020202020204" pitchFamily="34" charset="0"/>
              </a:rPr>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Simple random sampling</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B. Stratified sampling</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C. Oversampling</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D. 10-fold cross-validation</a:t>
            </a:r>
          </a:p>
        </p:txBody>
      </p:sp>
      <p:sp>
        <p:nvSpPr>
          <p:cNvPr id="5" name="Rectangle 4"/>
          <p:cNvSpPr/>
          <p:nvPr/>
        </p:nvSpPr>
        <p:spPr>
          <a:xfrm>
            <a:off x="233516" y="2629257"/>
            <a:ext cx="4572000" cy="400110"/>
          </a:xfrm>
          <a:prstGeom prst="rect">
            <a:avLst/>
          </a:prstGeom>
        </p:spPr>
        <p:txBody>
          <a:bodyPr>
            <a:spAutoFit/>
          </a:bodyPr>
          <a:lstStyle/>
          <a:p>
            <a:r>
              <a:rPr lang="en-US" sz="2000" b="1" dirty="0">
                <a:solidFill>
                  <a:srgbClr val="00B050"/>
                </a:solidFill>
                <a:latin typeface="Arial" panose="020B0604020202020204" pitchFamily="34" charset="0"/>
                <a:cs typeface="Arial" panose="020B0604020202020204" pitchFamily="34" charset="0"/>
              </a:rPr>
              <a:t>Correct </a:t>
            </a:r>
            <a:r>
              <a:rPr lang="en-US" sz="2000" b="1" dirty="0" smtClean="0">
                <a:solidFill>
                  <a:srgbClr val="00B050"/>
                </a:solidFill>
                <a:latin typeface="Arial" panose="020B0604020202020204" pitchFamily="34" charset="0"/>
                <a:cs typeface="Arial" panose="020B0604020202020204" pitchFamily="34" charset="0"/>
              </a:rPr>
              <a:t>Answer:</a:t>
            </a:r>
            <a:r>
              <a:rPr lang="en-US" sz="2000" dirty="0" smtClean="0">
                <a:solidFill>
                  <a:srgbClr val="00B050"/>
                </a:solidFill>
                <a:latin typeface="Arial" panose="020B0604020202020204" pitchFamily="34" charset="0"/>
                <a:cs typeface="Arial" panose="020B0604020202020204" pitchFamily="34" charset="0"/>
              </a:rPr>
              <a:t> </a:t>
            </a:r>
            <a:r>
              <a:rPr lang="en-US" sz="2000" b="1" dirty="0" smtClean="0">
                <a:solidFill>
                  <a:srgbClr val="00B050"/>
                </a:solidFill>
                <a:latin typeface="Arial" panose="020B0604020202020204" pitchFamily="34" charset="0"/>
                <a:cs typeface="Arial" panose="020B0604020202020204" pitchFamily="34" charset="0"/>
              </a:rPr>
              <a:t>C</a:t>
            </a:r>
            <a:r>
              <a:rPr lang="en-US" sz="2000" b="1" dirty="0">
                <a:solidFill>
                  <a:srgbClr val="00B050"/>
                </a:solidFill>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Oversampling</a:t>
            </a:r>
            <a:endParaRPr lang="en-US" sz="2000" dirty="0">
              <a:latin typeface="Arial" panose="020B0604020202020204" pitchFamily="34" charset="0"/>
              <a:cs typeface="Arial" panose="020B0604020202020204" pitchFamily="34" charset="0"/>
            </a:endParaRPr>
          </a:p>
        </p:txBody>
      </p:sp>
      <p:sp>
        <p:nvSpPr>
          <p:cNvPr id="6" name="Rectangle 5"/>
          <p:cNvSpPr/>
          <p:nvPr/>
        </p:nvSpPr>
        <p:spPr>
          <a:xfrm>
            <a:off x="199103" y="3188042"/>
            <a:ext cx="8620432" cy="2862322"/>
          </a:xfrm>
          <a:prstGeom prst="rect">
            <a:avLst/>
          </a:prstGeom>
        </p:spPr>
        <p:txBody>
          <a:bodyPr wrap="square">
            <a:spAutoFit/>
          </a:bodyPr>
          <a:lstStyle/>
          <a:p>
            <a:pPr algn="just"/>
            <a:r>
              <a:rPr lang="en-US" sz="2000" b="1" dirty="0" smtClean="0">
                <a:latin typeface="Arial" panose="020B0604020202020204" pitchFamily="34" charset="0"/>
                <a:cs typeface="Arial" panose="020B0604020202020204" pitchFamily="34" charset="0"/>
              </a:rPr>
              <a:t>Question 2:</a:t>
            </a:r>
            <a:r>
              <a:rPr lang="en-US" sz="2000" dirty="0" smtClean="0">
                <a:latin typeface="Arial" panose="020B0604020202020204" pitchFamily="34" charset="0"/>
                <a:cs typeface="Arial" panose="020B0604020202020204" pitchFamily="34" charset="0"/>
              </a:rPr>
              <a:t> Which </a:t>
            </a:r>
            <a:r>
              <a:rPr lang="en-US" sz="2000" dirty="0">
                <a:latin typeface="Arial" panose="020B0604020202020204" pitchFamily="34" charset="0"/>
                <a:cs typeface="Arial" panose="020B0604020202020204" pitchFamily="34" charset="0"/>
              </a:rPr>
              <a:t>of the following statements best explains </a:t>
            </a:r>
            <a:r>
              <a:rPr lang="en-US" sz="2000" b="1" dirty="0">
                <a:latin typeface="Arial" panose="020B0604020202020204" pitchFamily="34" charset="0"/>
                <a:cs typeface="Arial" panose="020B0604020202020204" pitchFamily="34" charset="0"/>
              </a:rPr>
              <a:t>why k-fold cross-validation is preferred</a:t>
            </a:r>
            <a:r>
              <a:rPr lang="en-US" sz="2000" dirty="0">
                <a:latin typeface="Arial" panose="020B0604020202020204" pitchFamily="34" charset="0"/>
                <a:cs typeface="Arial" panose="020B0604020202020204" pitchFamily="34" charset="0"/>
              </a:rPr>
              <a:t> over a single train-test split, especially when data is limited?</a:t>
            </a:r>
          </a:p>
          <a:p>
            <a:r>
              <a:rPr lang="en-US" sz="2000" b="1" dirty="0">
                <a:latin typeface="Arial" panose="020B0604020202020204" pitchFamily="34" charset="0"/>
                <a:cs typeface="Arial" panose="020B0604020202020204" pitchFamily="34" charset="0"/>
              </a:rPr>
              <a:t>Options:</a:t>
            </a:r>
            <a:r>
              <a:rPr lang="en-US" sz="2000" dirty="0">
                <a:latin typeface="Arial" panose="020B0604020202020204" pitchFamily="34" charset="0"/>
                <a:cs typeface="Arial" panose="020B0604020202020204" pitchFamily="34" charset="0"/>
              </a:rPr>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 It uses only one fold for training to reduce overfitting</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B. It reduces computational cost by using smaller data chunks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C. It provides a more robust and reliable estimate of model performance by averaging over multiple test sets</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D. It trains multiple models on overlapping data for higher accuracy</a:t>
            </a:r>
          </a:p>
        </p:txBody>
      </p:sp>
      <p:sp>
        <p:nvSpPr>
          <p:cNvPr id="7" name="Rectangle 6"/>
          <p:cNvSpPr/>
          <p:nvPr/>
        </p:nvSpPr>
        <p:spPr>
          <a:xfrm>
            <a:off x="199103" y="6050364"/>
            <a:ext cx="8610600" cy="707886"/>
          </a:xfrm>
          <a:prstGeom prst="rect">
            <a:avLst/>
          </a:prstGeom>
        </p:spPr>
        <p:txBody>
          <a:bodyPr wrap="square">
            <a:spAutoFit/>
          </a:bodyPr>
          <a:lstStyle/>
          <a:p>
            <a:r>
              <a:rPr lang="en-US" sz="2000" b="1" dirty="0">
                <a:solidFill>
                  <a:srgbClr val="00B050"/>
                </a:solidFill>
                <a:latin typeface="Arial" panose="020B0604020202020204" pitchFamily="34" charset="0"/>
                <a:cs typeface="Arial" panose="020B0604020202020204" pitchFamily="34" charset="0"/>
              </a:rPr>
              <a:t>Correct </a:t>
            </a:r>
            <a:r>
              <a:rPr lang="en-US" sz="2000" b="1" dirty="0" smtClean="0">
                <a:solidFill>
                  <a:srgbClr val="00B050"/>
                </a:solidFill>
                <a:latin typeface="Arial" panose="020B0604020202020204" pitchFamily="34" charset="0"/>
                <a:cs typeface="Arial" panose="020B0604020202020204" pitchFamily="34" charset="0"/>
              </a:rPr>
              <a:t>Answer:</a:t>
            </a:r>
            <a:r>
              <a:rPr lang="en-US" sz="2000" dirty="0" smtClean="0">
                <a:solidFill>
                  <a:srgbClr val="00B050"/>
                </a:solidFill>
                <a:latin typeface="Arial" panose="020B0604020202020204" pitchFamily="34" charset="0"/>
                <a:cs typeface="Arial" panose="020B0604020202020204" pitchFamily="34" charset="0"/>
              </a:rPr>
              <a:t> </a:t>
            </a:r>
            <a:r>
              <a:rPr lang="en-US" sz="2000" b="1" dirty="0" smtClean="0">
                <a:solidFill>
                  <a:srgbClr val="00B050"/>
                </a:solidFill>
                <a:latin typeface="Arial" panose="020B0604020202020204" pitchFamily="34" charset="0"/>
                <a:cs typeface="Arial" panose="020B0604020202020204" pitchFamily="34" charset="0"/>
              </a:rPr>
              <a:t>C</a:t>
            </a:r>
            <a:r>
              <a:rPr lang="en-US" sz="2000" b="1" dirty="0">
                <a:solidFill>
                  <a:srgbClr val="00B050"/>
                </a:solidFill>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It provides a more robust and reliable estimate of model performance by averaging over multiple test sets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3480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450980" y="0"/>
            <a:ext cx="82296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3600" b="1" dirty="0">
                <a:solidFill>
                  <a:srgbClr val="333399"/>
                </a:solidFill>
                <a:latin typeface="Arial"/>
              </a:rPr>
              <a:t>Metrics to Evaluate Machine Learning Algorithm</a:t>
            </a:r>
          </a:p>
        </p:txBody>
      </p:sp>
      <p:sp>
        <p:nvSpPr>
          <p:cNvPr id="8" name="Rectangle 3"/>
          <p:cNvSpPr txBox="1">
            <a:spLocks noChangeArrowheads="1"/>
          </p:cNvSpPr>
          <p:nvPr/>
        </p:nvSpPr>
        <p:spPr bwMode="auto">
          <a:xfrm>
            <a:off x="576262" y="1658937"/>
            <a:ext cx="8110538" cy="497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marL="342900" marR="0" lvl="0" indent="-342900" algn="l" defTabSz="914400" rtl="0" eaLnBrk="1" fontAlgn="base" latinLnBrk="0" hangingPunct="1">
              <a:spcBef>
                <a:spcPct val="20000"/>
              </a:spcBef>
              <a:spcAft>
                <a:spcPct val="0"/>
              </a:spcAft>
              <a:buClr>
                <a:srgbClr val="CC9900"/>
              </a:buClr>
              <a:buSzPct val="65000"/>
              <a:buFont typeface="Wingdings" panose="05000000000000000000" pitchFamily="2" charset="2"/>
              <a:buChar char="n"/>
              <a:tabLst/>
              <a:defRPr/>
            </a:pPr>
            <a:r>
              <a:rPr kumimoji="0" lang="en-US" altLang="en-US" sz="2400" b="1" i="0" u="none" strike="noStrike" kern="0" cap="none" spc="0" normalizeH="0" baseline="0" noProof="0" dirty="0" smtClean="0">
                <a:ln>
                  <a:noFill/>
                </a:ln>
                <a:solidFill>
                  <a:srgbClr val="0070C0"/>
                </a:solidFill>
                <a:effectLst/>
                <a:uLnTx/>
                <a:uFillTx/>
                <a:latin typeface="Arial"/>
                <a:ea typeface="+mn-ea"/>
                <a:cs typeface="+mn-cs"/>
              </a:rPr>
              <a:t>Predictive accuracy</a:t>
            </a:r>
          </a:p>
          <a:p>
            <a:pPr marL="342900" marR="0" lvl="0" indent="-342900" algn="l" defTabSz="914400" rtl="0" eaLnBrk="1" fontAlgn="base" latinLnBrk="0" hangingPunct="1">
              <a:spcBef>
                <a:spcPct val="20000"/>
              </a:spcBef>
              <a:spcAft>
                <a:spcPct val="0"/>
              </a:spcAft>
              <a:buClr>
                <a:srgbClr val="CC9900"/>
              </a:buClr>
              <a:buSzPct val="65000"/>
              <a:buFont typeface="Wingdings" panose="05000000000000000000" pitchFamily="2" charset="2"/>
              <a:buChar char="n"/>
              <a:tabLst/>
              <a:defRPr/>
            </a:pPr>
            <a:endParaRPr kumimoji="0" lang="en-US" altLang="en-US" sz="2400" b="1" i="0" u="none" strike="noStrike" kern="0" cap="none" spc="0" normalizeH="0" baseline="0" noProof="0" dirty="0" smtClean="0">
              <a:ln>
                <a:noFill/>
              </a:ln>
              <a:solidFill>
                <a:srgbClr val="FF0000"/>
              </a:solidFill>
              <a:effectLst/>
              <a:uLnTx/>
              <a:uFillTx/>
              <a:latin typeface="Arial"/>
              <a:ea typeface="+mn-ea"/>
              <a:cs typeface="+mn-cs"/>
            </a:endParaRPr>
          </a:p>
          <a:p>
            <a:pPr marL="342900" marR="0" lvl="0" indent="-342900" algn="l" defTabSz="914400" rtl="0" eaLnBrk="1" fontAlgn="base" latinLnBrk="0" hangingPunct="1">
              <a:spcBef>
                <a:spcPct val="20000"/>
              </a:spcBef>
              <a:spcAft>
                <a:spcPct val="0"/>
              </a:spcAft>
              <a:buClr>
                <a:srgbClr val="CC9900"/>
              </a:buClr>
              <a:buSzPct val="65000"/>
              <a:buFont typeface="Wingdings" panose="05000000000000000000" pitchFamily="2" charset="2"/>
              <a:buChar char="n"/>
              <a:tabLst/>
              <a:defRPr/>
            </a:pPr>
            <a:endParaRPr kumimoji="0" lang="en-US" altLang="en-US" sz="2400" b="1" i="0" u="none" strike="noStrike" kern="0" cap="none" spc="0" normalizeH="0" baseline="0" noProof="0" dirty="0" smtClean="0">
              <a:ln>
                <a:noFill/>
              </a:ln>
              <a:solidFill>
                <a:srgbClr val="FF0000"/>
              </a:solidFill>
              <a:effectLst/>
              <a:uLnTx/>
              <a:uFillTx/>
              <a:latin typeface="Arial"/>
              <a:ea typeface="+mn-ea"/>
              <a:cs typeface="+mn-cs"/>
            </a:endParaRPr>
          </a:p>
          <a:p>
            <a:pPr marL="342900" marR="0" lvl="0" indent="-342900" algn="l" defTabSz="914400" rtl="0" eaLnBrk="1" fontAlgn="base" latinLnBrk="0" hangingPunct="1">
              <a:spcBef>
                <a:spcPct val="20000"/>
              </a:spcBef>
              <a:spcAft>
                <a:spcPct val="0"/>
              </a:spcAft>
              <a:buClr>
                <a:srgbClr val="CC9900"/>
              </a:buClr>
              <a:buSzPct val="65000"/>
              <a:buFont typeface="Wingdings" panose="05000000000000000000" pitchFamily="2" charset="2"/>
              <a:buChar char="n"/>
              <a:tabLst/>
              <a:defRPr/>
            </a:pPr>
            <a:r>
              <a:rPr kumimoji="0" lang="en-US" altLang="en-US" sz="2400" b="1" i="0" u="none" strike="noStrike" kern="0" cap="none" spc="0" normalizeH="0" baseline="0" noProof="0" dirty="0" smtClean="0">
                <a:ln>
                  <a:noFill/>
                </a:ln>
                <a:solidFill>
                  <a:srgbClr val="0070C0"/>
                </a:solidFill>
                <a:effectLst/>
                <a:uLnTx/>
                <a:uFillTx/>
                <a:latin typeface="Arial"/>
                <a:ea typeface="+mn-ea"/>
                <a:cs typeface="+mn-cs"/>
              </a:rPr>
              <a:t>Efficiency</a:t>
            </a:r>
          </a:p>
          <a:p>
            <a:pPr marL="800100" marR="0" lvl="1" indent="-342900" algn="l" defTabSz="914400" rtl="0" eaLnBrk="1" fontAlgn="base" latinLnBrk="0" hangingPunct="1">
              <a:spcBef>
                <a:spcPct val="20000"/>
              </a:spcBef>
              <a:spcAft>
                <a:spcPct val="0"/>
              </a:spcAft>
              <a:buClr>
                <a:srgbClr val="0070C0"/>
              </a:buClr>
              <a:buSzPct val="100000"/>
              <a:buFont typeface="Wingdings" panose="05000000000000000000" pitchFamily="2" charset="2"/>
              <a:buChar char="ü"/>
              <a:tabLst/>
              <a:defRPr/>
            </a:pPr>
            <a:r>
              <a:rPr kumimoji="0" lang="en-US" altLang="en-US" sz="2000" b="0" i="0" u="none" strike="noStrike" kern="0" cap="none" spc="0" normalizeH="0" baseline="0" noProof="0" dirty="0" smtClean="0">
                <a:ln>
                  <a:noFill/>
                </a:ln>
                <a:solidFill>
                  <a:srgbClr val="000000"/>
                </a:solidFill>
                <a:effectLst/>
                <a:uLnTx/>
                <a:uFillTx/>
                <a:latin typeface="Arial"/>
              </a:rPr>
              <a:t>time to construct the model </a:t>
            </a:r>
          </a:p>
          <a:p>
            <a:pPr marL="800100" marR="0" lvl="1" indent="-342900" algn="l" defTabSz="914400" rtl="0" eaLnBrk="1" fontAlgn="base" latinLnBrk="0" hangingPunct="1">
              <a:spcBef>
                <a:spcPct val="20000"/>
              </a:spcBef>
              <a:spcAft>
                <a:spcPct val="0"/>
              </a:spcAft>
              <a:buClr>
                <a:srgbClr val="0070C0"/>
              </a:buClr>
              <a:buSzPct val="100000"/>
              <a:buFont typeface="Wingdings" panose="05000000000000000000" pitchFamily="2" charset="2"/>
              <a:buChar char="ü"/>
              <a:tabLst/>
              <a:defRPr/>
            </a:pPr>
            <a:r>
              <a:rPr kumimoji="0" lang="en-US" altLang="en-US" sz="2000" b="0" i="0" u="none" strike="noStrike" kern="0" cap="none" spc="0" normalizeH="0" baseline="0" noProof="0" dirty="0" smtClean="0">
                <a:ln>
                  <a:noFill/>
                </a:ln>
                <a:solidFill>
                  <a:srgbClr val="000000"/>
                </a:solidFill>
                <a:effectLst/>
                <a:uLnTx/>
                <a:uFillTx/>
                <a:latin typeface="Arial"/>
              </a:rPr>
              <a:t>time to use the model</a:t>
            </a:r>
          </a:p>
          <a:p>
            <a:pPr marL="342900" marR="0" lvl="0" indent="-342900" algn="l" defTabSz="914400" rtl="0" eaLnBrk="1" fontAlgn="base" latinLnBrk="0" hangingPunct="1">
              <a:spcBef>
                <a:spcPct val="20000"/>
              </a:spcBef>
              <a:spcAft>
                <a:spcPct val="0"/>
              </a:spcAft>
              <a:buClr>
                <a:srgbClr val="CC9900"/>
              </a:buClr>
              <a:buSzPct val="65000"/>
              <a:buFont typeface="Wingdings" panose="05000000000000000000" pitchFamily="2" charset="2"/>
              <a:buChar char="n"/>
              <a:tabLst/>
              <a:defRPr/>
            </a:pPr>
            <a:r>
              <a:rPr kumimoji="0" lang="en-US" altLang="en-US" sz="2400" b="1" i="0" u="none" strike="noStrike" kern="0" cap="none" spc="0" normalizeH="0" baseline="0" noProof="0" dirty="0" smtClean="0">
                <a:ln>
                  <a:noFill/>
                </a:ln>
                <a:solidFill>
                  <a:srgbClr val="0070C0"/>
                </a:solidFill>
                <a:effectLst/>
                <a:uLnTx/>
                <a:uFillTx/>
                <a:latin typeface="Arial"/>
                <a:ea typeface="+mn-ea"/>
                <a:cs typeface="+mn-cs"/>
              </a:rPr>
              <a:t>Robustness</a:t>
            </a:r>
            <a:r>
              <a:rPr kumimoji="0" lang="en-US" altLang="en-US" sz="2400" b="1" i="0" u="none" strike="noStrike" kern="0" cap="none" spc="0" normalizeH="0" baseline="0" noProof="0" dirty="0" smtClean="0">
                <a:ln>
                  <a:noFill/>
                </a:ln>
                <a:solidFill>
                  <a:srgbClr val="002060"/>
                </a:solidFill>
                <a:effectLst/>
                <a:uLnTx/>
                <a:uFillTx/>
                <a:latin typeface="Arial"/>
                <a:ea typeface="+mn-ea"/>
                <a:cs typeface="+mn-cs"/>
              </a:rPr>
              <a:t>:</a:t>
            </a:r>
            <a:r>
              <a:rPr kumimoji="0" lang="en-US" altLang="en-US" sz="2400" b="0" i="0" u="none" strike="noStrike" kern="0" cap="none" spc="0" normalizeH="0" baseline="0" noProof="0" dirty="0" smtClean="0">
                <a:ln>
                  <a:noFill/>
                </a:ln>
                <a:solidFill>
                  <a:srgbClr val="000000"/>
                </a:solidFill>
                <a:effectLst/>
                <a:uLnTx/>
                <a:uFillTx/>
                <a:latin typeface="Arial"/>
                <a:ea typeface="+mn-ea"/>
                <a:cs typeface="+mn-cs"/>
              </a:rPr>
              <a:t> handling noise and missing values</a:t>
            </a:r>
          </a:p>
          <a:p>
            <a:pPr marL="342900" marR="0" lvl="0" indent="-342900" algn="l" defTabSz="914400" rtl="0" eaLnBrk="1" fontAlgn="base" latinLnBrk="0" hangingPunct="1">
              <a:spcBef>
                <a:spcPct val="20000"/>
              </a:spcBef>
              <a:spcAft>
                <a:spcPct val="0"/>
              </a:spcAft>
              <a:buClr>
                <a:srgbClr val="CC9900"/>
              </a:buClr>
              <a:buSzPct val="65000"/>
              <a:buFont typeface="Wingdings" panose="05000000000000000000" pitchFamily="2" charset="2"/>
              <a:buChar char="n"/>
              <a:tabLst/>
              <a:defRPr/>
            </a:pPr>
            <a:r>
              <a:rPr kumimoji="0" lang="en-US" altLang="en-US" sz="2400" b="1" i="0" u="none" strike="noStrike" kern="0" cap="none" spc="0" normalizeH="0" baseline="0" noProof="0" dirty="0" smtClean="0">
                <a:ln>
                  <a:noFill/>
                </a:ln>
                <a:solidFill>
                  <a:srgbClr val="0070C0"/>
                </a:solidFill>
                <a:effectLst/>
                <a:uLnTx/>
                <a:uFillTx/>
                <a:latin typeface="Arial"/>
                <a:ea typeface="+mn-ea"/>
                <a:cs typeface="+mn-cs"/>
              </a:rPr>
              <a:t>Scalability:</a:t>
            </a:r>
            <a:r>
              <a:rPr kumimoji="0" lang="en-US" altLang="en-US" sz="2400" b="0" i="0" u="none" strike="noStrike" kern="0" cap="none" spc="0" normalizeH="0" baseline="0" noProof="0" dirty="0" smtClean="0">
                <a:ln>
                  <a:noFill/>
                </a:ln>
                <a:solidFill>
                  <a:srgbClr val="000000"/>
                </a:solidFill>
                <a:effectLst/>
                <a:uLnTx/>
                <a:uFillTx/>
                <a:latin typeface="Arial"/>
                <a:ea typeface="+mn-ea"/>
                <a:cs typeface="+mn-cs"/>
              </a:rPr>
              <a:t> efficiency in disk-resident databases </a:t>
            </a:r>
          </a:p>
          <a:p>
            <a:pPr marL="342900" marR="0" lvl="0" indent="-342900" algn="l" defTabSz="914400" rtl="0" eaLnBrk="1" fontAlgn="base" latinLnBrk="0" hangingPunct="1">
              <a:spcBef>
                <a:spcPct val="20000"/>
              </a:spcBef>
              <a:spcAft>
                <a:spcPct val="0"/>
              </a:spcAft>
              <a:buClr>
                <a:srgbClr val="CC9900"/>
              </a:buClr>
              <a:buSzPct val="65000"/>
              <a:buFont typeface="Wingdings" panose="05000000000000000000" pitchFamily="2" charset="2"/>
              <a:buChar char="n"/>
              <a:tabLst/>
              <a:defRPr/>
            </a:pPr>
            <a:r>
              <a:rPr kumimoji="0" lang="en-US" altLang="en-US" sz="2400" b="1" i="0" u="none" strike="noStrike" kern="0" cap="none" spc="0" normalizeH="0" baseline="0" noProof="0" dirty="0" smtClean="0">
                <a:ln>
                  <a:noFill/>
                </a:ln>
                <a:solidFill>
                  <a:srgbClr val="0070C0"/>
                </a:solidFill>
                <a:effectLst/>
                <a:uLnTx/>
                <a:uFillTx/>
                <a:latin typeface="Arial"/>
                <a:ea typeface="+mn-ea"/>
                <a:cs typeface="+mn-cs"/>
              </a:rPr>
              <a:t>Interpretability:</a:t>
            </a:r>
            <a:r>
              <a:rPr kumimoji="0" lang="en-US" altLang="en-US" sz="2400" b="0" i="0" u="none" strike="noStrike" kern="0" cap="none" spc="0" normalizeH="0" baseline="0" noProof="0" dirty="0" smtClean="0">
                <a:ln>
                  <a:noFill/>
                </a:ln>
                <a:solidFill>
                  <a:srgbClr val="0070C0"/>
                </a:solidFill>
                <a:effectLst/>
                <a:uLnTx/>
                <a:uFillTx/>
                <a:latin typeface="Arial"/>
                <a:ea typeface="+mn-ea"/>
                <a:cs typeface="+mn-cs"/>
              </a:rPr>
              <a:t> </a:t>
            </a:r>
          </a:p>
          <a:p>
            <a:pPr marL="742950" marR="0" lvl="1" indent="-285750" algn="l" defTabSz="914400" rtl="0" eaLnBrk="1" fontAlgn="base" latinLnBrk="0" hangingPunct="1">
              <a:spcBef>
                <a:spcPct val="20000"/>
              </a:spcBef>
              <a:spcAft>
                <a:spcPct val="0"/>
              </a:spcAft>
              <a:buClr>
                <a:srgbClr val="3B812F"/>
              </a:buClr>
              <a:buSzPct val="60000"/>
              <a:buFont typeface="Wingdings" panose="05000000000000000000" pitchFamily="2" charset="2"/>
              <a:buChar char="q"/>
              <a:tabLst/>
              <a:defRPr/>
            </a:pPr>
            <a:r>
              <a:rPr kumimoji="0" lang="en-US" altLang="en-US" sz="2000" b="0" i="0" u="none" strike="noStrike" kern="0" cap="none" spc="0" normalizeH="0" baseline="0" noProof="0" dirty="0" smtClean="0">
                <a:ln>
                  <a:noFill/>
                </a:ln>
                <a:solidFill>
                  <a:srgbClr val="000000"/>
                </a:solidFill>
                <a:effectLst/>
                <a:uLnTx/>
                <a:uFillTx/>
                <a:latin typeface="Arial"/>
              </a:rPr>
              <a:t>understandable and insight provided by the model</a:t>
            </a:r>
          </a:p>
          <a:p>
            <a:pPr marL="342900" marR="0" lvl="0" indent="-342900" algn="l" defTabSz="914400" rtl="0" eaLnBrk="1" fontAlgn="base" latinLnBrk="0" hangingPunct="1">
              <a:spcBef>
                <a:spcPct val="20000"/>
              </a:spcBef>
              <a:spcAft>
                <a:spcPct val="0"/>
              </a:spcAft>
              <a:buClr>
                <a:srgbClr val="CC9900"/>
              </a:buClr>
              <a:buSzPct val="65000"/>
              <a:buFont typeface="Wingdings" panose="05000000000000000000" pitchFamily="2" charset="2"/>
              <a:buChar char="n"/>
              <a:tabLst/>
              <a:defRPr/>
            </a:pPr>
            <a:r>
              <a:rPr kumimoji="0" lang="en-US" altLang="en-US" sz="2400" b="1" i="0" u="none" strike="noStrike" kern="0" cap="none" spc="0" normalizeH="0" baseline="0" noProof="0" dirty="0" smtClean="0">
                <a:ln>
                  <a:noFill/>
                </a:ln>
                <a:solidFill>
                  <a:srgbClr val="0070C0"/>
                </a:solidFill>
                <a:effectLst/>
                <a:uLnTx/>
                <a:uFillTx/>
                <a:latin typeface="Arial"/>
                <a:ea typeface="+mn-ea"/>
                <a:cs typeface="+mn-cs"/>
              </a:rPr>
              <a:t>Compactness of the model: </a:t>
            </a:r>
            <a:r>
              <a:rPr kumimoji="0" lang="en-US" altLang="en-US" sz="2400" b="0" i="0" u="none" strike="noStrike" kern="0" cap="none" spc="0" normalizeH="0" baseline="0" noProof="0" dirty="0" smtClean="0">
                <a:ln>
                  <a:noFill/>
                </a:ln>
                <a:solidFill>
                  <a:srgbClr val="000000"/>
                </a:solidFill>
                <a:effectLst/>
                <a:uLnTx/>
                <a:uFillTx/>
                <a:latin typeface="Arial"/>
                <a:ea typeface="+mn-ea"/>
                <a:cs typeface="+mn-cs"/>
              </a:rPr>
              <a:t>size of the tree, or the number of rules. </a:t>
            </a:r>
          </a:p>
        </p:txBody>
      </p:sp>
      <p:graphicFrame>
        <p:nvGraphicFramePr>
          <p:cNvPr id="10" name="Object 9"/>
          <p:cNvGraphicFramePr>
            <a:graphicFrameLocks noChangeAspect="1"/>
          </p:cNvGraphicFramePr>
          <p:nvPr>
            <p:extLst>
              <p:ext uri="{D42A27DB-BD31-4B8C-83A1-F6EECF244321}">
                <p14:modId xmlns:p14="http://schemas.microsoft.com/office/powerpoint/2010/main" val="87197513"/>
              </p:ext>
            </p:extLst>
          </p:nvPr>
        </p:nvGraphicFramePr>
        <p:xfrm>
          <a:off x="1600200" y="2057400"/>
          <a:ext cx="6430297" cy="914400"/>
        </p:xfrm>
        <a:graphic>
          <a:graphicData uri="http://schemas.openxmlformats.org/presentationml/2006/ole">
            <mc:AlternateContent xmlns:mc="http://schemas.openxmlformats.org/markup-compatibility/2006">
              <mc:Choice xmlns:v="urn:schemas-microsoft-com:vml" Requires="v">
                <p:oleObj spid="_x0000_s3190" name="Equation" r:id="rId3" imgW="2768400" imgH="393480" progId="">
                  <p:embed/>
                </p:oleObj>
              </mc:Choice>
              <mc:Fallback>
                <p:oleObj name="Equation" r:id="rId3" imgW="2768400" imgH="393480" progId="">
                  <p:embed/>
                  <p:pic>
                    <p:nvPicPr>
                      <p:cNvPr id="0" name="Picture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057400"/>
                        <a:ext cx="6430297"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8717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anim calcmode="lin" valueType="num">
                                      <p:cBhvr additive="base">
                                        <p:cTn id="15"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anim calcmode="lin" valueType="num">
                                      <p:cBhvr additive="base">
                                        <p:cTn id="23" dur="500" fill="hold"/>
                                        <p:tgtEl>
                                          <p:spTgt spid="8">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animEffect transition="in" filter="wipe(down)">
                                      <p:cBhvr>
                                        <p:cTn id="29" dur="500"/>
                                        <p:tgtEl>
                                          <p:spTgt spid="8">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8">
                                            <p:txEl>
                                              <p:pRg st="7" end="7"/>
                                            </p:txEl>
                                          </p:spTgt>
                                        </p:tgtEl>
                                        <p:attrNameLst>
                                          <p:attrName>style.visibility</p:attrName>
                                        </p:attrNameLst>
                                      </p:cBhvr>
                                      <p:to>
                                        <p:strVal val="visible"/>
                                      </p:to>
                                    </p:set>
                                    <p:animEffect transition="in" filter="wipe(down)">
                                      <p:cBhvr>
                                        <p:cTn id="34" dur="500"/>
                                        <p:tgtEl>
                                          <p:spTgt spid="8">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animEffect transition="in" filter="fade">
                                      <p:cBhvr>
                                        <p:cTn id="39" dur="500"/>
                                        <p:tgtEl>
                                          <p:spTgt spid="8">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animEffect transition="in" filter="fade">
                                      <p:cBhvr>
                                        <p:cTn id="42" dur="500"/>
                                        <p:tgtEl>
                                          <p:spTgt spid="8">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image.png"/>
          <p:cNvSpPr>
            <a:spLocks noChangeAspect="1" noChangeArrowheads="1"/>
          </p:cNvSpPr>
          <p:nvPr/>
        </p:nvSpPr>
        <p:spPr bwMode="auto">
          <a:xfrm>
            <a:off x="155574" y="-144463"/>
            <a:ext cx="5483225" cy="54832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p:cNvPicPr>
            <a:picLocks noChangeAspect="1"/>
          </p:cNvPicPr>
          <p:nvPr/>
        </p:nvPicPr>
        <p:blipFill>
          <a:blip r:embed="rId2"/>
          <a:stretch>
            <a:fillRect/>
          </a:stretch>
        </p:blipFill>
        <p:spPr>
          <a:xfrm>
            <a:off x="0" y="64325"/>
            <a:ext cx="9144000" cy="6729350"/>
          </a:xfrm>
          <a:prstGeom prst="rect">
            <a:avLst/>
          </a:prstGeom>
        </p:spPr>
      </p:pic>
    </p:spTree>
    <p:extLst>
      <p:ext uri="{BB962C8B-B14F-4D97-AF65-F5344CB8AC3E}">
        <p14:creationId xmlns:p14="http://schemas.microsoft.com/office/powerpoint/2010/main" val="26135697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57200" y="609600"/>
            <a:ext cx="7797634" cy="4657725"/>
          </a:xfrm>
          <a:prstGeom prst="rect">
            <a:avLst/>
          </a:prstGeom>
        </p:spPr>
      </p:pic>
    </p:spTree>
    <p:extLst>
      <p:ext uri="{BB962C8B-B14F-4D97-AF65-F5344CB8AC3E}">
        <p14:creationId xmlns:p14="http://schemas.microsoft.com/office/powerpoint/2010/main" val="26644860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01301" y="2246293"/>
            <a:ext cx="1803699" cy="954107"/>
          </a:xfrm>
          <a:prstGeom prst="rect">
            <a:avLst/>
          </a:prstGeom>
        </p:spPr>
        <p:txBody>
          <a:bodyPr wrap="none">
            <a:spAutoFit/>
          </a:bodyPr>
          <a:lstStyle/>
          <a:p>
            <a:pPr algn="ctr"/>
            <a:r>
              <a:rPr lang="en-US" sz="2800" b="1" dirty="0">
                <a:solidFill>
                  <a:srgbClr val="0070C0"/>
                </a:solidFill>
              </a:rPr>
              <a:t>Confusion </a:t>
            </a:r>
            <a:endParaRPr lang="en-US" sz="2800" b="1" dirty="0" smtClean="0">
              <a:solidFill>
                <a:srgbClr val="0070C0"/>
              </a:solidFill>
            </a:endParaRPr>
          </a:p>
          <a:p>
            <a:pPr algn="ctr"/>
            <a:r>
              <a:rPr lang="en-US" sz="2800" b="1" dirty="0" smtClean="0">
                <a:solidFill>
                  <a:srgbClr val="0070C0"/>
                </a:solidFill>
              </a:rPr>
              <a:t>Matrix</a:t>
            </a:r>
            <a:endParaRPr lang="en-US" sz="2800" b="1" dirty="0">
              <a:solidFill>
                <a:srgbClr val="0070C0"/>
              </a:solidFill>
            </a:endParaRPr>
          </a:p>
        </p:txBody>
      </p:sp>
      <p:sp>
        <p:nvSpPr>
          <p:cNvPr id="8" name="Rectangle 2"/>
          <p:cNvSpPr txBox="1">
            <a:spLocks noChangeArrowheads="1"/>
          </p:cNvSpPr>
          <p:nvPr/>
        </p:nvSpPr>
        <p:spPr bwMode="auto">
          <a:xfrm>
            <a:off x="450980" y="0"/>
            <a:ext cx="8229600"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3600" b="1" dirty="0">
                <a:solidFill>
                  <a:srgbClr val="333399"/>
                </a:solidFill>
                <a:latin typeface="Arial"/>
              </a:rPr>
              <a:t>Metrics to Evaluate Machine Learning </a:t>
            </a:r>
            <a:r>
              <a:rPr lang="en-US" altLang="en-US" sz="3600" b="1" dirty="0" smtClean="0">
                <a:solidFill>
                  <a:srgbClr val="333399"/>
                </a:solidFill>
                <a:latin typeface="Arial"/>
              </a:rPr>
              <a:t>Algorithm …</a:t>
            </a:r>
            <a:endParaRPr lang="en-US" altLang="en-US" sz="3600" b="1" dirty="0">
              <a:solidFill>
                <a:srgbClr val="333399"/>
              </a:solidFill>
              <a:latin typeface="Arial"/>
            </a:endParaRPr>
          </a:p>
        </p:txBody>
      </p:sp>
      <p:sp>
        <p:nvSpPr>
          <p:cNvPr id="2" name="Rectangle 1"/>
          <p:cNvSpPr/>
          <p:nvPr/>
        </p:nvSpPr>
        <p:spPr>
          <a:xfrm>
            <a:off x="360784" y="3523369"/>
            <a:ext cx="8554616" cy="3334631"/>
          </a:xfrm>
          <a:prstGeom prst="rect">
            <a:avLst/>
          </a:prstGeom>
        </p:spPr>
        <p:txBody>
          <a:bodyPr wrap="square">
            <a:spAutoFit/>
          </a:bodyPr>
          <a:lstStyle/>
          <a:p>
            <a:pPr algn="just">
              <a:lnSpc>
                <a:spcPct val="107000"/>
              </a:lnSpc>
            </a:pPr>
            <a:r>
              <a:rPr lang="en-US" sz="2200" dirty="0">
                <a:latin typeface="Cambria" panose="02040503050406030204" pitchFamily="18" charset="0"/>
                <a:ea typeface="Calibri" panose="020F0502020204030204" pitchFamily="34" charset="0"/>
                <a:cs typeface="Times New Roman" panose="02020603050405020304" pitchFamily="18" charset="0"/>
              </a:rPr>
              <a:t>Where,</a:t>
            </a: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en-US" sz="2200" b="1" dirty="0">
                <a:latin typeface="Cambria" panose="02040503050406030204" pitchFamily="18" charset="0"/>
                <a:ea typeface="Calibri" panose="020F0502020204030204" pitchFamily="34" charset="0"/>
                <a:cs typeface="Times New Roman" panose="02020603050405020304" pitchFamily="18" charset="0"/>
              </a:rPr>
              <a:t>True Positive (TP):</a:t>
            </a:r>
            <a:r>
              <a:rPr lang="en-US" sz="2200" dirty="0">
                <a:latin typeface="Cambria" panose="02040503050406030204" pitchFamily="18" charset="0"/>
                <a:ea typeface="Calibri" panose="020F0502020204030204" pitchFamily="34" charset="0"/>
                <a:cs typeface="Times New Roman" panose="02020603050405020304" pitchFamily="18" charset="0"/>
              </a:rPr>
              <a:t> The number of correct classifications of the positive examples</a:t>
            </a: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en-US" sz="2200" b="1" dirty="0">
                <a:latin typeface="Cambria" panose="02040503050406030204" pitchFamily="18" charset="0"/>
                <a:ea typeface="Calibri" panose="020F0502020204030204" pitchFamily="34" charset="0"/>
                <a:cs typeface="Times New Roman" panose="02020603050405020304" pitchFamily="18" charset="0"/>
              </a:rPr>
              <a:t>False Negative (FN):</a:t>
            </a:r>
            <a:r>
              <a:rPr lang="en-US" sz="2200" dirty="0">
                <a:latin typeface="Cambria" panose="02040503050406030204" pitchFamily="18" charset="0"/>
                <a:ea typeface="Calibri" panose="020F0502020204030204" pitchFamily="34" charset="0"/>
                <a:cs typeface="Times New Roman" panose="02020603050405020304" pitchFamily="18" charset="0"/>
              </a:rPr>
              <a:t> The number of incorrect classifications of the positive examples</a:t>
            </a: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en-US" sz="2200" b="1" dirty="0">
                <a:latin typeface="Cambria" panose="02040503050406030204" pitchFamily="18" charset="0"/>
                <a:ea typeface="Calibri" panose="020F0502020204030204" pitchFamily="34" charset="0"/>
                <a:cs typeface="Times New Roman" panose="02020603050405020304" pitchFamily="18" charset="0"/>
              </a:rPr>
              <a:t>False Positive (FP):</a:t>
            </a:r>
            <a:r>
              <a:rPr lang="en-US" sz="2200" dirty="0">
                <a:latin typeface="Cambria" panose="02040503050406030204" pitchFamily="18" charset="0"/>
                <a:ea typeface="Calibri" panose="020F0502020204030204" pitchFamily="34" charset="0"/>
                <a:cs typeface="Times New Roman" panose="02020603050405020304" pitchFamily="18" charset="0"/>
              </a:rPr>
              <a:t> The number of incorrect classifications of the negative examples</a:t>
            </a:r>
            <a:endParaRPr lang="en-US" sz="22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en-US" sz="2200" b="1" dirty="0">
                <a:latin typeface="Cambria" panose="02040503050406030204" pitchFamily="18" charset="0"/>
                <a:ea typeface="Calibri" panose="020F0502020204030204" pitchFamily="34" charset="0"/>
                <a:cs typeface="Times New Roman" panose="02020603050405020304" pitchFamily="18" charset="0"/>
              </a:rPr>
              <a:t>True Negative (TN):</a:t>
            </a:r>
            <a:r>
              <a:rPr lang="en-US" sz="2200" dirty="0">
                <a:latin typeface="Cambria" panose="02040503050406030204" pitchFamily="18" charset="0"/>
                <a:ea typeface="Calibri" panose="020F0502020204030204" pitchFamily="34" charset="0"/>
                <a:cs typeface="Times New Roman" panose="02020603050405020304" pitchFamily="18" charset="0"/>
              </a:rPr>
              <a:t> The number of correct classifications of the negative examples</a:t>
            </a:r>
            <a:endParaRPr lang="en-US"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930612301"/>
              </p:ext>
            </p:extLst>
          </p:nvPr>
        </p:nvGraphicFramePr>
        <p:xfrm>
          <a:off x="1828800" y="1675519"/>
          <a:ext cx="7086599" cy="1430691"/>
        </p:xfrm>
        <a:graphic>
          <a:graphicData uri="http://schemas.openxmlformats.org/drawingml/2006/table">
            <a:tbl>
              <a:tblPr>
                <a:tableStyleId>{5C22544A-7EE6-4342-B048-85BDC9FD1C3A}</a:tableStyleId>
              </a:tblPr>
              <a:tblGrid>
                <a:gridCol w="2377440">
                  <a:extLst>
                    <a:ext uri="{9D8B030D-6E8A-4147-A177-3AD203B41FA5}">
                      <a16:colId xmlns:a16="http://schemas.microsoft.com/office/drawing/2014/main" val="2706655391"/>
                    </a:ext>
                  </a:extLst>
                </a:gridCol>
                <a:gridCol w="2377440">
                  <a:extLst>
                    <a:ext uri="{9D8B030D-6E8A-4147-A177-3AD203B41FA5}">
                      <a16:colId xmlns:a16="http://schemas.microsoft.com/office/drawing/2014/main" val="2168102713"/>
                    </a:ext>
                  </a:extLst>
                </a:gridCol>
                <a:gridCol w="2331719">
                  <a:extLst>
                    <a:ext uri="{9D8B030D-6E8A-4147-A177-3AD203B41FA5}">
                      <a16:colId xmlns:a16="http://schemas.microsoft.com/office/drawing/2014/main" val="1165388366"/>
                    </a:ext>
                  </a:extLst>
                </a:gridCol>
              </a:tblGrid>
              <a:tr h="476897">
                <a:tc>
                  <a:txBody>
                    <a:bodyPr/>
                    <a:lstStyle/>
                    <a:p>
                      <a:pPr algn="ctr" fontAlgn="b"/>
                      <a:r>
                        <a:rPr lang="en-IN" sz="2000" b="1" u="none" strike="noStrike">
                          <a:effectLst/>
                        </a:rPr>
                        <a:t> </a:t>
                      </a:r>
                      <a:endParaRPr lang="en-IN" sz="2000" b="1" i="0" u="none" strike="noStrike">
                        <a:solidFill>
                          <a:srgbClr val="000000"/>
                        </a:solidFill>
                        <a:effectLst/>
                        <a:latin typeface="Calibri" panose="020F0502020204030204" pitchFamily="34" charset="0"/>
                      </a:endParaRPr>
                    </a:p>
                  </a:txBody>
                  <a:tcPr marL="6350" marR="6350" marT="6350" marB="0" anchor="b"/>
                </a:tc>
                <a:tc>
                  <a:txBody>
                    <a:bodyPr/>
                    <a:lstStyle/>
                    <a:p>
                      <a:pPr algn="ctr" fontAlgn="t"/>
                      <a:r>
                        <a:rPr lang="en-IN" sz="2000" b="1" u="none" strike="noStrike">
                          <a:effectLst/>
                        </a:rPr>
                        <a:t>Actual: Class = Yes</a:t>
                      </a:r>
                      <a:endParaRPr lang="en-IN" sz="2000" b="1" i="0" u="none" strike="noStrike">
                        <a:solidFill>
                          <a:srgbClr val="000000"/>
                        </a:solidFill>
                        <a:effectLst/>
                        <a:latin typeface="Calibri" panose="020F0502020204030204" pitchFamily="34" charset="0"/>
                      </a:endParaRPr>
                    </a:p>
                  </a:txBody>
                  <a:tcPr marL="6350" marR="6350" marT="6350" marB="0"/>
                </a:tc>
                <a:tc>
                  <a:txBody>
                    <a:bodyPr/>
                    <a:lstStyle/>
                    <a:p>
                      <a:pPr algn="ctr" fontAlgn="t"/>
                      <a:r>
                        <a:rPr lang="en-IN" sz="2000" b="1" u="none" strike="noStrike">
                          <a:effectLst/>
                        </a:rPr>
                        <a:t>Actual: Class = No</a:t>
                      </a:r>
                      <a:endParaRPr lang="en-IN" sz="2000" b="1"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912507113"/>
                  </a:ext>
                </a:extLst>
              </a:tr>
              <a:tr h="476897">
                <a:tc>
                  <a:txBody>
                    <a:bodyPr/>
                    <a:lstStyle/>
                    <a:p>
                      <a:pPr algn="ctr" fontAlgn="t"/>
                      <a:r>
                        <a:rPr lang="en-IN" sz="2000" b="1" u="none" strike="noStrike">
                          <a:effectLst/>
                        </a:rPr>
                        <a:t>Predicted: Class =Yes</a:t>
                      </a:r>
                      <a:endParaRPr lang="en-IN" sz="2000" b="1" i="0" u="none" strike="noStrike">
                        <a:solidFill>
                          <a:srgbClr val="000000"/>
                        </a:solidFill>
                        <a:effectLst/>
                        <a:latin typeface="Calibri" panose="020F0502020204030204" pitchFamily="34" charset="0"/>
                      </a:endParaRPr>
                    </a:p>
                  </a:txBody>
                  <a:tcPr marL="6350" marR="6350" marT="6350" marB="0"/>
                </a:tc>
                <a:tc>
                  <a:txBody>
                    <a:bodyPr/>
                    <a:lstStyle/>
                    <a:p>
                      <a:pPr algn="ctr" fontAlgn="b"/>
                      <a:r>
                        <a:rPr lang="en-IN" sz="2000" b="1" u="none" strike="noStrike" dirty="0">
                          <a:solidFill>
                            <a:srgbClr val="00B050"/>
                          </a:solidFill>
                          <a:effectLst/>
                        </a:rPr>
                        <a:t>True Positive</a:t>
                      </a:r>
                      <a:endParaRPr lang="en-IN" sz="2000" b="1" i="0" u="none" strike="noStrike" dirty="0">
                        <a:solidFill>
                          <a:srgbClr val="00B050"/>
                        </a:solidFill>
                        <a:effectLst/>
                        <a:latin typeface="Calibri" panose="020F0502020204030204" pitchFamily="34" charset="0"/>
                      </a:endParaRPr>
                    </a:p>
                  </a:txBody>
                  <a:tcPr marL="6350" marR="6350" marT="6350" marB="0" anchor="b"/>
                </a:tc>
                <a:tc>
                  <a:txBody>
                    <a:bodyPr/>
                    <a:lstStyle/>
                    <a:p>
                      <a:pPr algn="ctr" fontAlgn="b"/>
                      <a:r>
                        <a:rPr lang="en-IN" sz="2000" b="1" u="none" strike="noStrike" dirty="0">
                          <a:solidFill>
                            <a:srgbClr val="FF0000"/>
                          </a:solidFill>
                          <a:effectLst/>
                        </a:rPr>
                        <a:t>False Positive</a:t>
                      </a:r>
                      <a:endParaRPr lang="en-IN" sz="2000" b="1" i="0" u="none" strike="noStrike" dirty="0">
                        <a:solidFill>
                          <a:srgbClr val="FF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35421911"/>
                  </a:ext>
                </a:extLst>
              </a:tr>
              <a:tr h="476897">
                <a:tc>
                  <a:txBody>
                    <a:bodyPr/>
                    <a:lstStyle/>
                    <a:p>
                      <a:pPr algn="ctr" fontAlgn="t"/>
                      <a:r>
                        <a:rPr lang="en-IN" sz="2000" b="1" u="none" strike="noStrike">
                          <a:effectLst/>
                        </a:rPr>
                        <a:t>Predicted: Class = No</a:t>
                      </a:r>
                      <a:endParaRPr lang="en-IN" sz="2000" b="1" i="0" u="none" strike="noStrike">
                        <a:solidFill>
                          <a:srgbClr val="000000"/>
                        </a:solidFill>
                        <a:effectLst/>
                        <a:latin typeface="Calibri" panose="020F0502020204030204" pitchFamily="34" charset="0"/>
                      </a:endParaRPr>
                    </a:p>
                  </a:txBody>
                  <a:tcPr marL="6350" marR="6350" marT="6350" marB="0"/>
                </a:tc>
                <a:tc>
                  <a:txBody>
                    <a:bodyPr/>
                    <a:lstStyle/>
                    <a:p>
                      <a:pPr algn="ctr" fontAlgn="b"/>
                      <a:r>
                        <a:rPr lang="en-IN" sz="2000" b="1" u="none" strike="noStrike" dirty="0">
                          <a:solidFill>
                            <a:srgbClr val="FF0000"/>
                          </a:solidFill>
                          <a:effectLst/>
                        </a:rPr>
                        <a:t>False Negative</a:t>
                      </a:r>
                      <a:endParaRPr lang="en-IN" sz="2000" b="1" i="0" u="none" strike="noStrike" dirty="0">
                        <a:solidFill>
                          <a:srgbClr val="FF0000"/>
                        </a:solidFill>
                        <a:effectLst/>
                        <a:latin typeface="Calibri" panose="020F0502020204030204" pitchFamily="34" charset="0"/>
                      </a:endParaRPr>
                    </a:p>
                  </a:txBody>
                  <a:tcPr marL="6350" marR="6350" marT="6350" marB="0" anchor="b"/>
                </a:tc>
                <a:tc>
                  <a:txBody>
                    <a:bodyPr/>
                    <a:lstStyle/>
                    <a:p>
                      <a:pPr algn="ctr" fontAlgn="b"/>
                      <a:r>
                        <a:rPr lang="en-IN" sz="2000" b="1" u="none" strike="noStrike" dirty="0">
                          <a:solidFill>
                            <a:srgbClr val="00B050"/>
                          </a:solidFill>
                          <a:effectLst/>
                        </a:rPr>
                        <a:t>True Negative</a:t>
                      </a:r>
                      <a:endParaRPr lang="en-IN" sz="2000" b="1" i="0" u="none" strike="noStrike" dirty="0">
                        <a:solidFill>
                          <a:srgbClr val="00B05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014542661"/>
                  </a:ext>
                </a:extLst>
              </a:tr>
            </a:tbl>
          </a:graphicData>
        </a:graphic>
      </p:graphicFrame>
    </p:spTree>
    <p:extLst>
      <p:ext uri="{BB962C8B-B14F-4D97-AF65-F5344CB8AC3E}">
        <p14:creationId xmlns:p14="http://schemas.microsoft.com/office/powerpoint/2010/main" val="15731594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8"/>
          <p:cNvSpPr txBox="1">
            <a:spLocks noChangeArrowheads="1"/>
          </p:cNvSpPr>
          <p:nvPr/>
        </p:nvSpPr>
        <p:spPr bwMode="auto">
          <a:xfrm>
            <a:off x="525461" y="1676400"/>
            <a:ext cx="8389938" cy="2686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10000"/>
              </a:spcBef>
              <a:spcAft>
                <a:spcPts val="1200"/>
              </a:spcAft>
            </a:pPr>
            <a:r>
              <a:rPr lang="en-US" altLang="ja-JP" sz="2600" dirty="0">
                <a:solidFill>
                  <a:srgbClr val="FF0000"/>
                </a:solidFill>
                <a:ea typeface="ＭＳ Ｐゴシック" panose="020B0600070205080204" pitchFamily="34" charset="-128"/>
              </a:rPr>
              <a:t>Precision </a:t>
            </a:r>
            <a:r>
              <a:rPr lang="en-US" altLang="ja-JP" sz="2600" i="1" dirty="0">
                <a:solidFill>
                  <a:srgbClr val="FF0000"/>
                </a:solidFill>
                <a:ea typeface="ＭＳ Ｐゴシック" panose="020B0600070205080204" pitchFamily="34" charset="-128"/>
              </a:rPr>
              <a:t>p</a:t>
            </a:r>
            <a:r>
              <a:rPr lang="en-US" altLang="ja-JP" sz="2600" dirty="0">
                <a:ea typeface="ＭＳ Ｐゴシック" panose="020B0600070205080204" pitchFamily="34" charset="-128"/>
              </a:rPr>
              <a:t> is the number of </a:t>
            </a:r>
            <a:r>
              <a:rPr lang="en-US" altLang="ja-JP" sz="2600" dirty="0">
                <a:solidFill>
                  <a:srgbClr val="3333CC"/>
                </a:solidFill>
                <a:ea typeface="ＭＳ Ｐゴシック" panose="020B0600070205080204" pitchFamily="34" charset="-128"/>
              </a:rPr>
              <a:t>correctly classified positive examples</a:t>
            </a:r>
            <a:r>
              <a:rPr lang="en-US" altLang="ja-JP" sz="2600" dirty="0">
                <a:ea typeface="ＭＳ Ｐゴシック" panose="020B0600070205080204" pitchFamily="34" charset="-128"/>
              </a:rPr>
              <a:t> divided by the total number of examples that are classified as positive. </a:t>
            </a:r>
          </a:p>
          <a:p>
            <a:pPr eaLnBrk="1" hangingPunct="1">
              <a:spcBef>
                <a:spcPct val="10000"/>
              </a:spcBef>
              <a:spcAft>
                <a:spcPts val="1200"/>
              </a:spcAft>
            </a:pPr>
            <a:r>
              <a:rPr lang="en-US" altLang="ja-JP" sz="2600" dirty="0">
                <a:solidFill>
                  <a:srgbClr val="FF0000"/>
                </a:solidFill>
                <a:ea typeface="ＭＳ Ｐゴシック" panose="020B0600070205080204" pitchFamily="34" charset="-128"/>
              </a:rPr>
              <a:t>Recall </a:t>
            </a:r>
            <a:r>
              <a:rPr lang="en-US" altLang="ja-JP" sz="2600" i="1" dirty="0">
                <a:solidFill>
                  <a:srgbClr val="FF0000"/>
                </a:solidFill>
                <a:ea typeface="ＭＳ Ｐゴシック" panose="020B0600070205080204" pitchFamily="34" charset="-128"/>
              </a:rPr>
              <a:t>r</a:t>
            </a:r>
            <a:r>
              <a:rPr lang="en-US" altLang="ja-JP" sz="2600" dirty="0">
                <a:ea typeface="ＭＳ Ｐゴシック" panose="020B0600070205080204" pitchFamily="34" charset="-128"/>
              </a:rPr>
              <a:t> is the number of </a:t>
            </a:r>
            <a:r>
              <a:rPr lang="en-US" altLang="ja-JP" sz="2600" dirty="0">
                <a:solidFill>
                  <a:srgbClr val="3333CC"/>
                </a:solidFill>
                <a:ea typeface="ＭＳ Ｐゴシック" panose="020B0600070205080204" pitchFamily="34" charset="-128"/>
              </a:rPr>
              <a:t>correctly classified positive examples</a:t>
            </a:r>
            <a:r>
              <a:rPr lang="en-US" altLang="ja-JP" sz="2600" dirty="0">
                <a:ea typeface="ＭＳ Ｐゴシック" panose="020B0600070205080204" pitchFamily="34" charset="-128"/>
              </a:rPr>
              <a:t> divided by the total number of actual positive examples in the test set. </a:t>
            </a:r>
            <a:endParaRPr lang="en-US" altLang="en-US" sz="2600" dirty="0"/>
          </a:p>
        </p:txBody>
      </p:sp>
      <p:graphicFrame>
        <p:nvGraphicFramePr>
          <p:cNvPr id="5" name="Object 9"/>
          <p:cNvGraphicFramePr>
            <a:graphicFrameLocks noChangeAspect="1"/>
          </p:cNvGraphicFramePr>
          <p:nvPr>
            <p:extLst>
              <p:ext uri="{D42A27DB-BD31-4B8C-83A1-F6EECF244321}">
                <p14:modId xmlns:p14="http://schemas.microsoft.com/office/powerpoint/2010/main" val="4140318183"/>
              </p:ext>
            </p:extLst>
          </p:nvPr>
        </p:nvGraphicFramePr>
        <p:xfrm>
          <a:off x="1905000" y="4724400"/>
          <a:ext cx="5256213" cy="1066800"/>
        </p:xfrm>
        <a:graphic>
          <a:graphicData uri="http://schemas.openxmlformats.org/presentationml/2006/ole">
            <mc:AlternateContent xmlns:mc="http://schemas.openxmlformats.org/markup-compatibility/2006">
              <mc:Choice xmlns:v="urn:schemas-microsoft-com:vml" Requires="v">
                <p:oleObj spid="_x0000_s4200" name="Equation" r:id="rId4" imgW="1828800" imgH="368300" progId="Equation.3">
                  <p:embed/>
                </p:oleObj>
              </mc:Choice>
              <mc:Fallback>
                <p:oleObj name="Equation" r:id="rId4" imgW="1828800" imgH="368300" progId="Equation.3">
                  <p:embed/>
                  <p:pic>
                    <p:nvPicPr>
                      <p:cNvPr id="0" name="Picture 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4724400"/>
                        <a:ext cx="5256213"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000" b="1" dirty="0">
                <a:solidFill>
                  <a:srgbClr val="333399"/>
                </a:solidFill>
                <a:latin typeface="Arial"/>
              </a:rPr>
              <a:t>Precision and </a:t>
            </a:r>
            <a:r>
              <a:rPr lang="en-US" altLang="en-US" sz="4000" b="1" dirty="0" smtClean="0">
                <a:solidFill>
                  <a:srgbClr val="333399"/>
                </a:solidFill>
                <a:latin typeface="Arial"/>
              </a:rPr>
              <a:t>Recall Measures</a:t>
            </a:r>
            <a:endParaRPr lang="en-US" altLang="en-US" sz="4000" b="1" dirty="0">
              <a:solidFill>
                <a:srgbClr val="333399"/>
              </a:solidFill>
              <a:latin typeface="Arial"/>
            </a:endParaRPr>
          </a:p>
        </p:txBody>
      </p:sp>
    </p:spTree>
    <p:extLst>
      <p:ext uri="{BB962C8B-B14F-4D97-AF65-F5344CB8AC3E}">
        <p14:creationId xmlns:p14="http://schemas.microsoft.com/office/powerpoint/2010/main" val="104870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barn(inVertical)">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inVertic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1676400"/>
            <a:ext cx="8153400" cy="1384995"/>
          </a:xfrm>
          <a:prstGeom prst="rect">
            <a:avLst/>
          </a:prstGeom>
        </p:spPr>
        <p:txBody>
          <a:bodyPr wrap="square">
            <a:spAutoFit/>
          </a:bodyPr>
          <a:lstStyle/>
          <a:p>
            <a:r>
              <a:rPr lang="en-US" altLang="en-US" sz="2800" dirty="0"/>
              <a:t>It is hard to compare two classifiers using two measures. F</a:t>
            </a:r>
            <a:r>
              <a:rPr lang="en-US" altLang="en-US" sz="2800" baseline="-25000" dirty="0">
                <a:ea typeface="ＭＳ Ｐゴシック" panose="020B0600070205080204" pitchFamily="34" charset="-128"/>
              </a:rPr>
              <a:t>1</a:t>
            </a:r>
            <a:r>
              <a:rPr lang="en-US" altLang="en-US" sz="2800" dirty="0"/>
              <a:t> score combines precision and recall into one </a:t>
            </a:r>
            <a:r>
              <a:rPr lang="en-US" altLang="en-US" sz="2800" dirty="0" smtClean="0"/>
              <a:t>measure</a:t>
            </a:r>
          </a:p>
          <a:p>
            <a:r>
              <a:rPr lang="en-US" altLang="en-US" sz="2800" dirty="0"/>
              <a:t>The F score is used to measure a test’s accuracy</a:t>
            </a:r>
          </a:p>
        </p:txBody>
      </p:sp>
      <p:graphicFrame>
        <p:nvGraphicFramePr>
          <p:cNvPr id="5" name="Object 4"/>
          <p:cNvGraphicFramePr>
            <a:graphicFrameLocks noChangeAspect="1"/>
          </p:cNvGraphicFramePr>
          <p:nvPr>
            <p:extLst>
              <p:ext uri="{D42A27DB-BD31-4B8C-83A1-F6EECF244321}">
                <p14:modId xmlns:p14="http://schemas.microsoft.com/office/powerpoint/2010/main" val="158941572"/>
              </p:ext>
            </p:extLst>
          </p:nvPr>
        </p:nvGraphicFramePr>
        <p:xfrm>
          <a:off x="1752601" y="3276600"/>
          <a:ext cx="4648200" cy="1940482"/>
        </p:xfrm>
        <a:graphic>
          <a:graphicData uri="http://schemas.openxmlformats.org/presentationml/2006/ole">
            <mc:AlternateContent xmlns:mc="http://schemas.openxmlformats.org/markup-compatibility/2006">
              <mc:Choice xmlns:v="urn:schemas-microsoft-com:vml" Requires="v">
                <p:oleObj spid="_x0000_s5223" name="Equation" r:id="rId4" imgW="1460160" imgH="609480" progId="">
                  <p:embed/>
                </p:oleObj>
              </mc:Choice>
              <mc:Fallback>
                <p:oleObj name="Equation" r:id="rId4" imgW="1460160" imgH="609480" progId="">
                  <p:embed/>
                  <p:pic>
                    <p:nvPicPr>
                      <p:cNvPr id="0" name="Picture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1" y="3276600"/>
                        <a:ext cx="4648200" cy="194048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609600" y="5217082"/>
            <a:ext cx="8153400" cy="1200329"/>
          </a:xfrm>
          <a:prstGeom prst="rect">
            <a:avLst/>
          </a:prstGeom>
        </p:spPr>
        <p:txBody>
          <a:bodyPr wrap="square">
            <a:spAutoFit/>
          </a:bodyPr>
          <a:lstStyle/>
          <a:p>
            <a:r>
              <a:rPr lang="en-US" sz="2400" b="1" dirty="0">
                <a:solidFill>
                  <a:srgbClr val="0070C0"/>
                </a:solidFill>
              </a:rPr>
              <a:t>The F score reaches the best value, meaning perfect precision and recall, at a value of 1. The worst F score, which means lowest precision and lowest recall, would be a value of 0. </a:t>
            </a:r>
          </a:p>
        </p:txBody>
      </p:sp>
      <p:sp>
        <p:nvSpPr>
          <p:cNvPr id="7"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000" b="1" dirty="0">
                <a:solidFill>
                  <a:srgbClr val="333399"/>
                </a:solidFill>
                <a:latin typeface="Arial"/>
              </a:rPr>
              <a:t>F1-value (also called F1-score)</a:t>
            </a:r>
          </a:p>
        </p:txBody>
      </p:sp>
      <p:sp>
        <p:nvSpPr>
          <p:cNvPr id="2" name="Rectangle 1"/>
          <p:cNvSpPr/>
          <p:nvPr/>
        </p:nvSpPr>
        <p:spPr>
          <a:xfrm>
            <a:off x="468312" y="4569196"/>
            <a:ext cx="4572000" cy="646331"/>
          </a:xfrm>
          <a:prstGeom prst="rect">
            <a:avLst/>
          </a:prstGeom>
        </p:spPr>
        <p:txBody>
          <a:bodyPr>
            <a:spAutoFit/>
          </a:bodyPr>
          <a:lstStyle/>
          <a:p>
            <a:r>
              <a:rPr lang="en-US" dirty="0">
                <a:solidFill>
                  <a:srgbClr val="C00000"/>
                </a:solidFill>
                <a:latin typeface="Helvetica Neue"/>
              </a:rPr>
              <a:t>F1 Score is the weighted average (harmonic mean</a:t>
            </a:r>
            <a:r>
              <a:rPr lang="en-US" dirty="0" smtClean="0">
                <a:solidFill>
                  <a:srgbClr val="C00000"/>
                </a:solidFill>
                <a:latin typeface="Helvetica Neue"/>
              </a:rPr>
              <a:t>) of </a:t>
            </a:r>
            <a:r>
              <a:rPr lang="en-US" dirty="0">
                <a:solidFill>
                  <a:srgbClr val="C00000"/>
                </a:solidFill>
                <a:latin typeface="Helvetica Neue"/>
              </a:rPr>
              <a:t>Precision and Recall. </a:t>
            </a:r>
            <a:endParaRPr lang="en-US" dirty="0">
              <a:solidFill>
                <a:srgbClr val="C00000"/>
              </a:solidFill>
            </a:endParaRPr>
          </a:p>
        </p:txBody>
      </p:sp>
    </p:spTree>
    <p:extLst>
      <p:ext uri="{BB962C8B-B14F-4D97-AF65-F5344CB8AC3E}">
        <p14:creationId xmlns:p14="http://schemas.microsoft.com/office/powerpoint/2010/main" val="2012006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5899" y="304800"/>
            <a:ext cx="8778103" cy="2585323"/>
          </a:xfrm>
          <a:prstGeom prst="rect">
            <a:avLst/>
          </a:prstGeom>
        </p:spPr>
        <p:txBody>
          <a:bodyPr wrap="square">
            <a:spAutoFit/>
          </a:bodyPr>
          <a:lstStyle/>
          <a:p>
            <a:pPr algn="just"/>
            <a:r>
              <a:rPr lang="en-US" b="1" dirty="0" smtClean="0">
                <a:latin typeface="Arial" panose="020B0604020202020204" pitchFamily="34" charset="0"/>
                <a:cs typeface="Arial" panose="020B0604020202020204" pitchFamily="34" charset="0"/>
              </a:rPr>
              <a:t>Question 1:</a:t>
            </a:r>
            <a:r>
              <a:rPr lang="en-US" dirty="0" smtClean="0">
                <a:latin typeface="Arial" panose="020B0604020202020204" pitchFamily="34" charset="0"/>
                <a:cs typeface="Arial" panose="020B0604020202020204" pitchFamily="34" charset="0"/>
              </a:rPr>
              <a:t> Which </a:t>
            </a:r>
            <a:r>
              <a:rPr lang="en-US" dirty="0">
                <a:latin typeface="Arial" panose="020B0604020202020204" pitchFamily="34" charset="0"/>
                <a:cs typeface="Arial" panose="020B0604020202020204" pitchFamily="34" charset="0"/>
              </a:rPr>
              <a:t>of the following statements best describes </a:t>
            </a:r>
            <a:r>
              <a:rPr lang="en-US" b="1" dirty="0">
                <a:latin typeface="Arial" panose="020B0604020202020204" pitchFamily="34" charset="0"/>
                <a:cs typeface="Arial" panose="020B0604020202020204" pitchFamily="34" charset="0"/>
              </a:rPr>
              <a:t>precision</a:t>
            </a:r>
            <a:r>
              <a:rPr lang="en-US" dirty="0">
                <a:latin typeface="Arial" panose="020B0604020202020204" pitchFamily="34" charset="0"/>
                <a:cs typeface="Arial" panose="020B0604020202020204" pitchFamily="34" charset="0"/>
              </a:rPr>
              <a:t> in the context of evaluating a machine learning classifier?</a:t>
            </a:r>
          </a:p>
          <a:p>
            <a:r>
              <a:rPr lang="en-US" b="1" dirty="0">
                <a:latin typeface="Arial" panose="020B0604020202020204" pitchFamily="34" charset="0"/>
                <a:cs typeface="Arial" panose="020B0604020202020204" pitchFamily="34" charset="0"/>
              </a:rPr>
              <a:t>Options:</a:t>
            </a: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 It measures the proportion of correctly classified examples out of all actual positives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B. It measures the proportion of correctly classified positives among all predicted positives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 It measures how fast the model runs on large datasets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 It indicates the size and interpretability of the model</a:t>
            </a:r>
          </a:p>
        </p:txBody>
      </p:sp>
      <p:sp>
        <p:nvSpPr>
          <p:cNvPr id="6" name="Rectangle 5"/>
          <p:cNvSpPr/>
          <p:nvPr/>
        </p:nvSpPr>
        <p:spPr>
          <a:xfrm>
            <a:off x="215900" y="2915523"/>
            <a:ext cx="8928100" cy="646331"/>
          </a:xfrm>
          <a:prstGeom prst="rect">
            <a:avLst/>
          </a:prstGeom>
        </p:spPr>
        <p:txBody>
          <a:bodyPr wrap="square">
            <a:spAutoFit/>
          </a:bodyPr>
          <a:lstStyle/>
          <a:p>
            <a:r>
              <a:rPr lang="en-US" b="1" dirty="0">
                <a:solidFill>
                  <a:srgbClr val="00B050"/>
                </a:solidFill>
                <a:latin typeface="Arial" panose="020B0604020202020204" pitchFamily="34" charset="0"/>
                <a:cs typeface="Arial" panose="020B0604020202020204" pitchFamily="34" charset="0"/>
              </a:rPr>
              <a:t>Correct </a:t>
            </a:r>
            <a:r>
              <a:rPr lang="en-US" b="1" dirty="0" smtClean="0">
                <a:solidFill>
                  <a:srgbClr val="00B050"/>
                </a:solidFill>
                <a:latin typeface="Arial" panose="020B0604020202020204" pitchFamily="34" charset="0"/>
                <a:cs typeface="Arial" panose="020B0604020202020204" pitchFamily="34" charset="0"/>
              </a:rPr>
              <a:t>Answer:</a:t>
            </a:r>
            <a:r>
              <a:rPr lang="en-US" dirty="0" smtClean="0">
                <a:solidFill>
                  <a:srgbClr val="00B050"/>
                </a:solidFill>
                <a:latin typeface="Arial" panose="020B0604020202020204" pitchFamily="34" charset="0"/>
                <a:cs typeface="Arial" panose="020B0604020202020204" pitchFamily="34" charset="0"/>
              </a:rPr>
              <a:t> </a:t>
            </a:r>
            <a:r>
              <a:rPr lang="en-US" b="1" dirty="0" smtClean="0">
                <a:solidFill>
                  <a:srgbClr val="00B050"/>
                </a:solidFill>
                <a:latin typeface="Arial" panose="020B0604020202020204" pitchFamily="34" charset="0"/>
                <a:cs typeface="Arial" panose="020B0604020202020204" pitchFamily="34" charset="0"/>
              </a:rPr>
              <a:t>B</a:t>
            </a:r>
            <a:r>
              <a:rPr lang="en-US" b="1" dirty="0">
                <a:solidFill>
                  <a:srgbClr val="00B050"/>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It measures the proportion of correctly classified positives among all predicted positives</a:t>
            </a:r>
            <a:endParaRPr lang="en-US" dirty="0">
              <a:latin typeface="Arial" panose="020B0604020202020204" pitchFamily="34" charset="0"/>
              <a:cs typeface="Arial" panose="020B0604020202020204" pitchFamily="34" charset="0"/>
            </a:endParaRPr>
          </a:p>
        </p:txBody>
      </p:sp>
      <p:sp>
        <p:nvSpPr>
          <p:cNvPr id="7" name="Rectangle 6"/>
          <p:cNvSpPr/>
          <p:nvPr/>
        </p:nvSpPr>
        <p:spPr>
          <a:xfrm>
            <a:off x="208643" y="3886200"/>
            <a:ext cx="8686800" cy="2031325"/>
          </a:xfrm>
          <a:prstGeom prst="rect">
            <a:avLst/>
          </a:prstGeom>
        </p:spPr>
        <p:txBody>
          <a:bodyPr wrap="square">
            <a:spAutoFit/>
          </a:bodyPr>
          <a:lstStyle/>
          <a:p>
            <a:pPr algn="just"/>
            <a:r>
              <a:rPr lang="en-US" b="1" dirty="0" smtClean="0">
                <a:latin typeface="Arial" panose="020B0604020202020204" pitchFamily="34" charset="0"/>
                <a:cs typeface="Arial" panose="020B0604020202020204" pitchFamily="34" charset="0"/>
              </a:rPr>
              <a:t>Question 2:</a:t>
            </a:r>
            <a:r>
              <a:rPr lang="en-US" dirty="0" smtClean="0">
                <a:latin typeface="Arial" panose="020B0604020202020204" pitchFamily="34" charset="0"/>
                <a:cs typeface="Arial" panose="020B0604020202020204" pitchFamily="34" charset="0"/>
              </a:rPr>
              <a:t> Why </a:t>
            </a:r>
            <a:r>
              <a:rPr lang="en-US" dirty="0">
                <a:latin typeface="Arial" panose="020B0604020202020204" pitchFamily="34" charset="0"/>
                <a:cs typeface="Arial" panose="020B0604020202020204" pitchFamily="34" charset="0"/>
              </a:rPr>
              <a:t>is the </a:t>
            </a:r>
            <a:r>
              <a:rPr lang="en-US" b="1" dirty="0">
                <a:latin typeface="Arial" panose="020B0604020202020204" pitchFamily="34" charset="0"/>
                <a:cs typeface="Arial" panose="020B0604020202020204" pitchFamily="34" charset="0"/>
              </a:rPr>
              <a:t>F1-score</a:t>
            </a:r>
            <a:r>
              <a:rPr lang="en-US" dirty="0">
                <a:latin typeface="Arial" panose="020B0604020202020204" pitchFamily="34" charset="0"/>
                <a:cs typeface="Arial" panose="020B0604020202020204" pitchFamily="34" charset="0"/>
              </a:rPr>
              <a:t> often preferred over using </a:t>
            </a:r>
            <a:r>
              <a:rPr lang="en-US" b="1" dirty="0">
                <a:latin typeface="Arial" panose="020B0604020202020204" pitchFamily="34" charset="0"/>
                <a:cs typeface="Arial" panose="020B0604020202020204" pitchFamily="34" charset="0"/>
              </a:rPr>
              <a:t>precision and recall separately</a:t>
            </a:r>
            <a:r>
              <a:rPr lang="en-US" dirty="0">
                <a:latin typeface="Arial" panose="020B0604020202020204" pitchFamily="34" charset="0"/>
                <a:cs typeface="Arial" panose="020B0604020202020204" pitchFamily="34" charset="0"/>
              </a:rPr>
              <a:t> when comparing classification models?</a:t>
            </a:r>
          </a:p>
          <a:p>
            <a:r>
              <a:rPr lang="en-US" b="1" dirty="0">
                <a:latin typeface="Arial" panose="020B0604020202020204" pitchFamily="34" charset="0"/>
                <a:cs typeface="Arial" panose="020B0604020202020204" pitchFamily="34" charset="0"/>
              </a:rPr>
              <a:t>Options:</a:t>
            </a: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 Because it only considers true negatives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B. Because it balances the trade-off between training and testing time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 Because it provides a single metric that balances both precision and recall</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 Because it measures interpretability of the model</a:t>
            </a:r>
          </a:p>
        </p:txBody>
      </p:sp>
      <p:sp>
        <p:nvSpPr>
          <p:cNvPr id="8" name="Rectangle 7"/>
          <p:cNvSpPr/>
          <p:nvPr/>
        </p:nvSpPr>
        <p:spPr>
          <a:xfrm>
            <a:off x="190499" y="6019800"/>
            <a:ext cx="8686800" cy="646331"/>
          </a:xfrm>
          <a:prstGeom prst="rect">
            <a:avLst/>
          </a:prstGeom>
        </p:spPr>
        <p:txBody>
          <a:bodyPr wrap="square">
            <a:spAutoFit/>
          </a:bodyPr>
          <a:lstStyle/>
          <a:p>
            <a:r>
              <a:rPr lang="en-US" b="1" dirty="0">
                <a:solidFill>
                  <a:srgbClr val="00B050"/>
                </a:solidFill>
                <a:latin typeface="Arial" panose="020B0604020202020204" pitchFamily="34" charset="0"/>
                <a:cs typeface="Arial" panose="020B0604020202020204" pitchFamily="34" charset="0"/>
              </a:rPr>
              <a:t>Correct </a:t>
            </a:r>
            <a:r>
              <a:rPr lang="en-US" b="1" dirty="0" smtClean="0">
                <a:solidFill>
                  <a:srgbClr val="00B050"/>
                </a:solidFill>
                <a:latin typeface="Arial" panose="020B0604020202020204" pitchFamily="34" charset="0"/>
                <a:cs typeface="Arial" panose="020B0604020202020204" pitchFamily="34" charset="0"/>
              </a:rPr>
              <a:t>Answer:</a:t>
            </a:r>
            <a:r>
              <a:rPr lang="en-US" dirty="0" smtClean="0">
                <a:solidFill>
                  <a:srgbClr val="00B050"/>
                </a:solidFill>
                <a:latin typeface="Arial" panose="020B0604020202020204" pitchFamily="34" charset="0"/>
                <a:cs typeface="Arial" panose="020B0604020202020204" pitchFamily="34" charset="0"/>
              </a:rPr>
              <a:t> </a:t>
            </a:r>
            <a:r>
              <a:rPr lang="en-US" b="1" dirty="0" smtClean="0">
                <a:solidFill>
                  <a:srgbClr val="00B050"/>
                </a:solidFill>
                <a:latin typeface="Arial" panose="020B0604020202020204" pitchFamily="34" charset="0"/>
                <a:cs typeface="Arial" panose="020B0604020202020204" pitchFamily="34" charset="0"/>
              </a:rPr>
              <a:t>C</a:t>
            </a:r>
            <a:r>
              <a:rPr lang="en-US" b="1" dirty="0">
                <a:solidFill>
                  <a:srgbClr val="00B050"/>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Because it provides a single metric that balances both precision and recall</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8184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p:spTree>
    <p:extLst>
      <p:ext uri="{BB962C8B-B14F-4D97-AF65-F5344CB8AC3E}">
        <p14:creationId xmlns:p14="http://schemas.microsoft.com/office/powerpoint/2010/main" val="21616501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562600" y="3048000"/>
                <a:ext cx="253122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m:t>
                      </m:r>
                    </m:oMath>
                  </m:oMathPara>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562600" y="3048000"/>
                <a:ext cx="2531228" cy="369332"/>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59170462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562600" y="3048000"/>
                <a:ext cx="2531228"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a:t>
                </a:r>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562600" y="3048000"/>
                <a:ext cx="2531228" cy="513410"/>
              </a:xfrm>
              <a:prstGeom prst="rect">
                <a:avLst/>
              </a:prstGeom>
              <a:blipFill>
                <a:blip r:embed="rId2"/>
                <a:stretch>
                  <a:fillRect b="-5952"/>
                </a:stretch>
              </a:blipFill>
            </p:spPr>
            <p:txBody>
              <a:bodyPr/>
              <a:lstStyle/>
              <a:p>
                <a:r>
                  <a:rPr lang="en-IN">
                    <a:noFill/>
                  </a:rPr>
                  <a:t> </a:t>
                </a:r>
              </a:p>
            </p:txBody>
          </p:sp>
        </mc:Fallback>
      </mc:AlternateContent>
    </p:spTree>
    <p:extLst>
      <p:ext uri="{BB962C8B-B14F-4D97-AF65-F5344CB8AC3E}">
        <p14:creationId xmlns:p14="http://schemas.microsoft.com/office/powerpoint/2010/main" val="32454344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562599" y="3048000"/>
                <a:ext cx="3352799"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562599" y="3048000"/>
                <a:ext cx="3352799" cy="513410"/>
              </a:xfrm>
              <a:prstGeom prst="rect">
                <a:avLst/>
              </a:prstGeom>
              <a:blipFill>
                <a:blip r:embed="rId2"/>
                <a:stretch>
                  <a:fillRect b="-5952"/>
                </a:stretch>
              </a:blipFill>
            </p:spPr>
            <p:txBody>
              <a:bodyPr/>
              <a:lstStyle/>
              <a:p>
                <a:r>
                  <a:rPr lang="en-IN">
                    <a:noFill/>
                  </a:rPr>
                  <a:t> </a:t>
                </a:r>
              </a:p>
            </p:txBody>
          </p:sp>
        </mc:Fallback>
      </mc:AlternateContent>
    </p:spTree>
    <p:extLst>
      <p:ext uri="{BB962C8B-B14F-4D97-AF65-F5344CB8AC3E}">
        <p14:creationId xmlns:p14="http://schemas.microsoft.com/office/powerpoint/2010/main" val="181720123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562599"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562599" y="3048000"/>
                <a:ext cx="3581401" cy="513410"/>
              </a:xfrm>
              <a:prstGeom prst="rect">
                <a:avLst/>
              </a:prstGeom>
              <a:blipFill>
                <a:blip r:embed="rId2"/>
                <a:stretch>
                  <a:fillRect b="-5952"/>
                </a:stretch>
              </a:blipFill>
            </p:spPr>
            <p:txBody>
              <a:bodyPr/>
              <a:lstStyle/>
              <a:p>
                <a:r>
                  <a:rPr lang="en-IN">
                    <a:noFill/>
                  </a:rPr>
                  <a:t> </a:t>
                </a:r>
              </a:p>
            </p:txBody>
          </p:sp>
        </mc:Fallback>
      </mc:AlternateContent>
    </p:spTree>
    <p:extLst>
      <p:ext uri="{BB962C8B-B14F-4D97-AF65-F5344CB8AC3E}">
        <p14:creationId xmlns:p14="http://schemas.microsoft.com/office/powerpoint/2010/main" val="21658795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2"/>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m:t>
                      </m:r>
                    </m:oMath>
                  </m:oMathPara>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369332"/>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4068936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2"/>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64126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oMath>
                  </m:oMathPara>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641266"/>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0280723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2"/>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685188"/>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oMath>
                  </m:oMathPara>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685188"/>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1159740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1756760984"/>
              </p:ext>
            </p:extLst>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2"/>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516808"/>
              </a:xfrm>
              <a:prstGeom prst="rect">
                <a:avLst/>
              </a:prstGeom>
              <a:blipFill>
                <a:blip r:embed="rId3"/>
                <a:stretch>
                  <a:fillRect b="-7059"/>
                </a:stretch>
              </a:blipFill>
            </p:spPr>
            <p:txBody>
              <a:bodyPr/>
              <a:lstStyle/>
              <a:p>
                <a:r>
                  <a:rPr lang="en-IN">
                    <a:noFill/>
                  </a:rPr>
                  <a:t> </a:t>
                </a:r>
              </a:p>
            </p:txBody>
          </p:sp>
        </mc:Fallback>
      </mc:AlternateContent>
    </p:spTree>
    <p:extLst>
      <p:ext uri="{BB962C8B-B14F-4D97-AF65-F5344CB8AC3E}">
        <p14:creationId xmlns:p14="http://schemas.microsoft.com/office/powerpoint/2010/main" val="253862066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2"/>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516808"/>
              </a:xfrm>
              <a:prstGeom prst="rect">
                <a:avLst/>
              </a:prstGeom>
              <a:blipFill>
                <a:blip r:embed="rId3"/>
                <a:stretch>
                  <a:fillRect b="-70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375561" y="4659418"/>
                <a:ext cx="3581401"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oMath>
                  </m:oMathPara>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5375561" y="4659418"/>
                <a:ext cx="3581401" cy="369332"/>
              </a:xfrm>
              <a:prstGeom prst="rect">
                <a:avLst/>
              </a:prstGeom>
              <a:blipFill>
                <a:blip r:embed="rId4"/>
                <a:stretch>
                  <a:fillRect l="-511" b="-11475"/>
                </a:stretch>
              </a:blipFill>
            </p:spPr>
            <p:txBody>
              <a:bodyPr/>
              <a:lstStyle/>
              <a:p>
                <a:r>
                  <a:rPr lang="en-IN">
                    <a:noFill/>
                  </a:rPr>
                  <a:t> </a:t>
                </a:r>
              </a:p>
            </p:txBody>
          </p:sp>
        </mc:Fallback>
      </mc:AlternateContent>
    </p:spTree>
    <p:extLst>
      <p:ext uri="{BB962C8B-B14F-4D97-AF65-F5344CB8AC3E}">
        <p14:creationId xmlns:p14="http://schemas.microsoft.com/office/powerpoint/2010/main" val="344307317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2"/>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516808"/>
              </a:xfrm>
              <a:prstGeom prst="rect">
                <a:avLst/>
              </a:prstGeom>
              <a:blipFill>
                <a:blip r:embed="rId3"/>
                <a:stretch>
                  <a:fillRect b="-70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375561" y="4659418"/>
                <a:ext cx="3581401" cy="512576"/>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𝑡𝑛</m:t>
                        </m:r>
                      </m:num>
                      <m:den>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𝑓𝑝</m:t>
                        </m:r>
                        <m:r>
                          <a:rPr lang="en-IN" b="0" i="1" dirty="0" smtClean="0">
                            <a:latin typeface="Cambria Math" panose="02040503050406030204" pitchFamily="18" charset="0"/>
                          </a:rPr>
                          <m:t>+</m:t>
                        </m:r>
                        <m:r>
                          <a:rPr lang="en-IN" b="0" i="1" dirty="0" smtClean="0">
                            <a:latin typeface="Cambria Math" panose="02040503050406030204" pitchFamily="18" charset="0"/>
                          </a:rPr>
                          <m:t>𝑓𝑛</m:t>
                        </m:r>
                        <m:r>
                          <a:rPr lang="en-IN" b="0" i="1" dirty="0" smtClean="0">
                            <a:latin typeface="Cambria Math" panose="02040503050406030204" pitchFamily="18" charset="0"/>
                          </a:rPr>
                          <m:t>+</m:t>
                        </m:r>
                        <m:r>
                          <a:rPr lang="en-IN" b="0" i="1" dirty="0" smtClean="0">
                            <a:latin typeface="Cambria Math" panose="02040503050406030204" pitchFamily="18" charset="0"/>
                          </a:rPr>
                          <m:t>𝑡𝑛</m:t>
                        </m:r>
                      </m:den>
                    </m:f>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5375561" y="4659418"/>
                <a:ext cx="3581401" cy="512576"/>
              </a:xfrm>
              <a:prstGeom prst="rect">
                <a:avLst/>
              </a:prstGeom>
              <a:blipFill>
                <a:blip r:embed="rId4"/>
                <a:stretch>
                  <a:fillRect l="-511" b="-7143"/>
                </a:stretch>
              </a:blipFill>
            </p:spPr>
            <p:txBody>
              <a:bodyPr/>
              <a:lstStyle/>
              <a:p>
                <a:r>
                  <a:rPr lang="en-IN">
                    <a:noFill/>
                  </a:rPr>
                  <a:t> </a:t>
                </a:r>
              </a:p>
            </p:txBody>
          </p:sp>
        </mc:Fallback>
      </mc:AlternateContent>
    </p:spTree>
    <p:extLst>
      <p:ext uri="{BB962C8B-B14F-4D97-AF65-F5344CB8AC3E}">
        <p14:creationId xmlns:p14="http://schemas.microsoft.com/office/powerpoint/2010/main" val="158352529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2"/>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516808"/>
              </a:xfrm>
              <a:prstGeom prst="rect">
                <a:avLst/>
              </a:prstGeom>
              <a:blipFill>
                <a:blip r:embed="rId3"/>
                <a:stretch>
                  <a:fillRect b="-70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691855" y="5007033"/>
                <a:ext cx="4343400"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𝑡𝑛</m:t>
                        </m:r>
                      </m:num>
                      <m:den>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𝑓𝑝</m:t>
                        </m:r>
                        <m:r>
                          <a:rPr lang="en-IN" b="0" i="1" dirty="0" smtClean="0">
                            <a:latin typeface="Cambria Math" panose="02040503050406030204" pitchFamily="18" charset="0"/>
                          </a:rPr>
                          <m:t>+</m:t>
                        </m:r>
                        <m:r>
                          <a:rPr lang="en-IN" b="0" i="1" dirty="0" smtClean="0">
                            <a:latin typeface="Cambria Math" panose="02040503050406030204" pitchFamily="18" charset="0"/>
                          </a:rPr>
                          <m:t>𝑓𝑛</m:t>
                        </m:r>
                        <m:r>
                          <a:rPr lang="en-IN" b="0" i="1" dirty="0" smtClean="0">
                            <a:latin typeface="Cambria Math" panose="02040503050406030204" pitchFamily="18" charset="0"/>
                          </a:rPr>
                          <m:t>+</m:t>
                        </m:r>
                        <m:r>
                          <a:rPr lang="en-IN" b="0" i="1" dirty="0" smtClean="0">
                            <a:latin typeface="Cambria Math" panose="02040503050406030204" pitchFamily="18" charset="0"/>
                          </a:rPr>
                          <m:t>𝑡𝑛</m:t>
                        </m:r>
                      </m:den>
                    </m:f>
                  </m:oMath>
                </a14:m>
                <a:r>
                  <a:rPr lang="en-IN" dirty="0" smtClean="0"/>
                  <a:t> </a:t>
                </a:r>
                <a14:m>
                  <m:oMath xmlns:m="http://schemas.openxmlformats.org/officeDocument/2006/math">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100+50</m:t>
                        </m:r>
                      </m:num>
                      <m:den>
                        <m:r>
                          <a:rPr lang="en-IN" b="0" i="1" dirty="0" smtClean="0">
                            <a:latin typeface="Cambria Math" panose="02040503050406030204" pitchFamily="18" charset="0"/>
                          </a:rPr>
                          <m:t>100+5+10+50</m:t>
                        </m:r>
                      </m:den>
                    </m:f>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4691855" y="5007033"/>
                <a:ext cx="4343400" cy="513410"/>
              </a:xfrm>
              <a:prstGeom prst="rect">
                <a:avLst/>
              </a:prstGeom>
              <a:blipFill>
                <a:blip r:embed="rId4"/>
                <a:stretch>
                  <a:fillRect l="-421" b="-7059"/>
                </a:stretch>
              </a:blipFill>
            </p:spPr>
            <p:txBody>
              <a:bodyPr/>
              <a:lstStyle/>
              <a:p>
                <a:r>
                  <a:rPr lang="en-IN">
                    <a:noFill/>
                  </a:rPr>
                  <a:t> </a:t>
                </a:r>
              </a:p>
            </p:txBody>
          </p:sp>
        </mc:Fallback>
      </mc:AlternateContent>
    </p:spTree>
    <p:extLst>
      <p:ext uri="{BB962C8B-B14F-4D97-AF65-F5344CB8AC3E}">
        <p14:creationId xmlns:p14="http://schemas.microsoft.com/office/powerpoint/2010/main" val="121369472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3"/>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516808"/>
              </a:xfrm>
              <a:prstGeom prst="rect">
                <a:avLst/>
              </a:prstGeom>
              <a:blipFill>
                <a:blip r:embed="rId4"/>
                <a:stretch>
                  <a:fillRect b="-70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733800" y="5450180"/>
                <a:ext cx="4953000"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𝑡𝑛</m:t>
                        </m:r>
                      </m:num>
                      <m:den>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𝑓𝑝</m:t>
                        </m:r>
                        <m:r>
                          <a:rPr lang="en-IN" b="0" i="1" dirty="0" smtClean="0">
                            <a:latin typeface="Cambria Math" panose="02040503050406030204" pitchFamily="18" charset="0"/>
                          </a:rPr>
                          <m:t>+</m:t>
                        </m:r>
                        <m:r>
                          <a:rPr lang="en-IN" b="0" i="1" dirty="0" smtClean="0">
                            <a:latin typeface="Cambria Math" panose="02040503050406030204" pitchFamily="18" charset="0"/>
                          </a:rPr>
                          <m:t>𝑓𝑛</m:t>
                        </m:r>
                        <m:r>
                          <a:rPr lang="en-IN" b="0" i="1" dirty="0" smtClean="0">
                            <a:latin typeface="Cambria Math" panose="02040503050406030204" pitchFamily="18" charset="0"/>
                          </a:rPr>
                          <m:t>+</m:t>
                        </m:r>
                        <m:r>
                          <a:rPr lang="en-IN" b="0" i="1" dirty="0" smtClean="0">
                            <a:latin typeface="Cambria Math" panose="02040503050406030204" pitchFamily="18" charset="0"/>
                          </a:rPr>
                          <m:t>𝑡𝑛</m:t>
                        </m:r>
                      </m:den>
                    </m:f>
                  </m:oMath>
                </a14:m>
                <a:r>
                  <a:rPr lang="en-IN" dirty="0" smtClean="0"/>
                  <a:t> </a:t>
                </a:r>
                <a14:m>
                  <m:oMath xmlns:m="http://schemas.openxmlformats.org/officeDocument/2006/math">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100+50</m:t>
                        </m:r>
                      </m:num>
                      <m:den>
                        <m:r>
                          <a:rPr lang="en-IN" b="0" i="1" dirty="0" smtClean="0">
                            <a:latin typeface="Cambria Math" panose="02040503050406030204" pitchFamily="18" charset="0"/>
                          </a:rPr>
                          <m:t>100+5+10+50</m:t>
                        </m:r>
                      </m:den>
                    </m:f>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150</m:t>
                        </m:r>
                      </m:num>
                      <m:den>
                        <m:r>
                          <a:rPr lang="en-IN" b="0" i="1" dirty="0" smtClean="0">
                            <a:latin typeface="Cambria Math" panose="02040503050406030204" pitchFamily="18" charset="0"/>
                          </a:rPr>
                          <m:t>165</m:t>
                        </m:r>
                      </m:den>
                    </m:f>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3733800" y="5450180"/>
                <a:ext cx="4953000" cy="513410"/>
              </a:xfrm>
              <a:prstGeom prst="rect">
                <a:avLst/>
              </a:prstGeom>
              <a:blipFill>
                <a:blip r:embed="rId5"/>
                <a:stretch>
                  <a:fillRect l="-369" b="-8333"/>
                </a:stretch>
              </a:blipFill>
            </p:spPr>
            <p:txBody>
              <a:bodyPr/>
              <a:lstStyle/>
              <a:p>
                <a:r>
                  <a:rPr lang="en-IN">
                    <a:noFill/>
                  </a:rPr>
                  <a:t> </a:t>
                </a:r>
              </a:p>
            </p:txBody>
          </p:sp>
        </mc:Fallback>
      </mc:AlternateContent>
    </p:spTree>
    <p:extLst>
      <p:ext uri="{BB962C8B-B14F-4D97-AF65-F5344CB8AC3E}">
        <p14:creationId xmlns:p14="http://schemas.microsoft.com/office/powerpoint/2010/main" val="3541123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3"/>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516808"/>
              </a:xfrm>
              <a:prstGeom prst="rect">
                <a:avLst/>
              </a:prstGeom>
              <a:blipFill>
                <a:blip r:embed="rId4"/>
                <a:stretch>
                  <a:fillRect b="-70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733800" y="5450180"/>
                <a:ext cx="4953000"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𝑡𝑛</m:t>
                        </m:r>
                      </m:num>
                      <m:den>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𝑓𝑝</m:t>
                        </m:r>
                        <m:r>
                          <a:rPr lang="en-IN" b="0" i="1" dirty="0" smtClean="0">
                            <a:latin typeface="Cambria Math" panose="02040503050406030204" pitchFamily="18" charset="0"/>
                          </a:rPr>
                          <m:t>+</m:t>
                        </m:r>
                        <m:r>
                          <a:rPr lang="en-IN" b="0" i="1" dirty="0" smtClean="0">
                            <a:latin typeface="Cambria Math" panose="02040503050406030204" pitchFamily="18" charset="0"/>
                          </a:rPr>
                          <m:t>𝑓𝑛</m:t>
                        </m:r>
                        <m:r>
                          <a:rPr lang="en-IN" b="0" i="1" dirty="0" smtClean="0">
                            <a:latin typeface="Cambria Math" panose="02040503050406030204" pitchFamily="18" charset="0"/>
                          </a:rPr>
                          <m:t>+</m:t>
                        </m:r>
                        <m:r>
                          <a:rPr lang="en-IN" b="0" i="1" dirty="0" smtClean="0">
                            <a:latin typeface="Cambria Math" panose="02040503050406030204" pitchFamily="18" charset="0"/>
                          </a:rPr>
                          <m:t>𝑡𝑛</m:t>
                        </m:r>
                      </m:den>
                    </m:f>
                  </m:oMath>
                </a14:m>
                <a:r>
                  <a:rPr lang="en-IN" dirty="0" smtClean="0"/>
                  <a:t> </a:t>
                </a:r>
                <a14:m>
                  <m:oMath xmlns:m="http://schemas.openxmlformats.org/officeDocument/2006/math">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100+50</m:t>
                        </m:r>
                      </m:num>
                      <m:den>
                        <m:r>
                          <a:rPr lang="en-IN" b="0" i="1" dirty="0" smtClean="0">
                            <a:latin typeface="Cambria Math" panose="02040503050406030204" pitchFamily="18" charset="0"/>
                          </a:rPr>
                          <m:t>100+5+10+50</m:t>
                        </m:r>
                      </m:den>
                    </m:f>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150</m:t>
                        </m:r>
                      </m:num>
                      <m:den>
                        <m:r>
                          <a:rPr lang="en-IN" b="0" i="1" dirty="0" smtClean="0">
                            <a:latin typeface="Cambria Math" panose="02040503050406030204" pitchFamily="18" charset="0"/>
                          </a:rPr>
                          <m:t>165</m:t>
                        </m:r>
                      </m:den>
                    </m:f>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3733800" y="5450180"/>
                <a:ext cx="4953000" cy="513410"/>
              </a:xfrm>
              <a:prstGeom prst="rect">
                <a:avLst/>
              </a:prstGeom>
              <a:blipFill>
                <a:blip r:embed="rId5"/>
                <a:stretch>
                  <a:fillRect l="-369" b="-8333"/>
                </a:stretch>
              </a:blipFill>
            </p:spPr>
            <p:txBody>
              <a:bodyPr/>
              <a:lstStyle/>
              <a:p>
                <a:r>
                  <a:rPr lang="en-IN">
                    <a:noFill/>
                  </a:rPr>
                  <a:t> </a:t>
                </a:r>
              </a:p>
            </p:txBody>
          </p:sp>
        </mc:Fallback>
      </mc:AlternateContent>
    </p:spTree>
    <p:extLst>
      <p:ext uri="{BB962C8B-B14F-4D97-AF65-F5344CB8AC3E}">
        <p14:creationId xmlns:p14="http://schemas.microsoft.com/office/powerpoint/2010/main" val="244270131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3"/>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516808"/>
              </a:xfrm>
              <a:prstGeom prst="rect">
                <a:avLst/>
              </a:prstGeom>
              <a:blipFill>
                <a:blip r:embed="rId4"/>
                <a:stretch>
                  <a:fillRect b="-70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733800" y="5450180"/>
                <a:ext cx="4953000"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𝑡𝑝</m:t>
                        </m:r>
                      </m:num>
                      <m:den>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𝑓𝑝</m:t>
                        </m:r>
                        <m:r>
                          <a:rPr lang="en-IN" b="0" i="1" dirty="0" smtClean="0">
                            <a:latin typeface="Cambria Math" panose="02040503050406030204" pitchFamily="18" charset="0"/>
                          </a:rPr>
                          <m:t>+</m:t>
                        </m:r>
                        <m:r>
                          <a:rPr lang="en-IN" b="0" i="1" dirty="0" smtClean="0">
                            <a:latin typeface="Cambria Math" panose="02040503050406030204" pitchFamily="18" charset="0"/>
                          </a:rPr>
                          <m:t>𝑓𝑛</m:t>
                        </m:r>
                        <m:r>
                          <a:rPr lang="en-IN" b="0" i="1" dirty="0" smtClean="0">
                            <a:latin typeface="Cambria Math" panose="02040503050406030204" pitchFamily="18" charset="0"/>
                          </a:rPr>
                          <m:t>+</m:t>
                        </m:r>
                        <m:r>
                          <a:rPr lang="en-IN" b="0" i="1" dirty="0" smtClean="0">
                            <a:latin typeface="Cambria Math" panose="02040503050406030204" pitchFamily="18" charset="0"/>
                          </a:rPr>
                          <m:t>𝑡𝑛</m:t>
                        </m:r>
                      </m:den>
                    </m:f>
                  </m:oMath>
                </a14:m>
                <a:r>
                  <a:rPr lang="en-IN" dirty="0" smtClean="0"/>
                  <a:t> </a:t>
                </a:r>
                <a14:m>
                  <m:oMath xmlns:m="http://schemas.openxmlformats.org/officeDocument/2006/math">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100+5+10+50</m:t>
                        </m:r>
                      </m:den>
                    </m:f>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165</m:t>
                        </m:r>
                      </m:den>
                    </m:f>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3733800" y="5450180"/>
                <a:ext cx="4953000" cy="513410"/>
              </a:xfrm>
              <a:prstGeom prst="rect">
                <a:avLst/>
              </a:prstGeom>
              <a:blipFill>
                <a:blip r:embed="rId5"/>
                <a:stretch>
                  <a:fillRect l="-369" b="-71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362200" y="6124378"/>
                <a:ext cx="4953000"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b="0" i="1" smtClean="0">
                          <a:latin typeface="Cambria Math" panose="02040503050406030204" pitchFamily="18" charset="0"/>
                        </a:rPr>
                        <m:t>𝐹</m:t>
                      </m:r>
                      <m:r>
                        <a:rPr lang="en-IN" b="0" i="1" smtClean="0">
                          <a:latin typeface="Cambria Math" panose="02040503050406030204" pitchFamily="18" charset="0"/>
                        </a:rPr>
                        <m:t>−</m:t>
                      </m:r>
                      <m:r>
                        <a:rPr lang="en-IN" b="0" i="1" smtClean="0">
                          <a:latin typeface="Cambria Math" panose="02040503050406030204" pitchFamily="18" charset="0"/>
                        </a:rPr>
                        <m:t>𝑚𝑒𝑎𝑠𝑢𝑟𝑒</m:t>
                      </m:r>
                      <m:r>
                        <a:rPr lang="en-IN" b="0" i="1" smtClean="0">
                          <a:latin typeface="Cambria Math" panose="02040503050406030204" pitchFamily="18" charset="0"/>
                        </a:rPr>
                        <m:t>=</m:t>
                      </m:r>
                    </m:oMath>
                  </m:oMathPara>
                </a14:m>
                <a:endParaRPr lang="en-IN" dirty="0"/>
              </a:p>
            </p:txBody>
          </p:sp>
        </mc:Choice>
        <mc:Fallback xmlns="">
          <p:sp>
            <p:nvSpPr>
              <p:cNvPr id="9" name="TextBox 8"/>
              <p:cNvSpPr txBox="1">
                <a:spLocks noRot="1" noChangeAspect="1" noMove="1" noResize="1" noEditPoints="1" noAdjustHandles="1" noChangeArrowheads="1" noChangeShapeType="1" noTextEdit="1"/>
              </p:cNvSpPr>
              <p:nvPr/>
            </p:nvSpPr>
            <p:spPr>
              <a:xfrm>
                <a:off x="2362200" y="6124378"/>
                <a:ext cx="4953000" cy="369332"/>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53797712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nvGraphicFramePr>
        <p:xfrm>
          <a:off x="586045" y="3048000"/>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5350623" y="3048000"/>
                <a:ext cx="3581401"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5350623" y="3048000"/>
                <a:ext cx="3581401" cy="513410"/>
              </a:xfrm>
              <a:prstGeom prst="rect">
                <a:avLst/>
              </a:prstGeom>
              <a:blipFill>
                <a:blip r:embed="rId3"/>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353394" y="3934295"/>
                <a:ext cx="3581401"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5353394" y="3934295"/>
                <a:ext cx="3581401" cy="516808"/>
              </a:xfrm>
              <a:prstGeom prst="rect">
                <a:avLst/>
              </a:prstGeom>
              <a:blipFill>
                <a:blip r:embed="rId4"/>
                <a:stretch>
                  <a:fillRect b="-70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733800" y="5450180"/>
                <a:ext cx="4953000"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𝑡𝑝</m:t>
                        </m:r>
                      </m:num>
                      <m:den>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𝑓𝑝</m:t>
                        </m:r>
                        <m:r>
                          <a:rPr lang="en-IN" b="0" i="1" dirty="0" smtClean="0">
                            <a:latin typeface="Cambria Math" panose="02040503050406030204" pitchFamily="18" charset="0"/>
                          </a:rPr>
                          <m:t>+</m:t>
                        </m:r>
                        <m:r>
                          <a:rPr lang="en-IN" b="0" i="1" dirty="0" smtClean="0">
                            <a:latin typeface="Cambria Math" panose="02040503050406030204" pitchFamily="18" charset="0"/>
                          </a:rPr>
                          <m:t>𝑓𝑛</m:t>
                        </m:r>
                        <m:r>
                          <a:rPr lang="en-IN" b="0" i="1" dirty="0" smtClean="0">
                            <a:latin typeface="Cambria Math" panose="02040503050406030204" pitchFamily="18" charset="0"/>
                          </a:rPr>
                          <m:t>+</m:t>
                        </m:r>
                        <m:r>
                          <a:rPr lang="en-IN" b="0" i="1" dirty="0" smtClean="0">
                            <a:latin typeface="Cambria Math" panose="02040503050406030204" pitchFamily="18" charset="0"/>
                          </a:rPr>
                          <m:t>𝑡𝑛</m:t>
                        </m:r>
                      </m:den>
                    </m:f>
                  </m:oMath>
                </a14:m>
                <a:r>
                  <a:rPr lang="en-IN" dirty="0" smtClean="0"/>
                  <a:t> </a:t>
                </a:r>
                <a14:m>
                  <m:oMath xmlns:m="http://schemas.openxmlformats.org/officeDocument/2006/math">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100+5+10+50</m:t>
                        </m:r>
                      </m:den>
                    </m:f>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165</m:t>
                        </m:r>
                      </m:den>
                    </m:f>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3733800" y="5450180"/>
                <a:ext cx="4953000" cy="513410"/>
              </a:xfrm>
              <a:prstGeom prst="rect">
                <a:avLst/>
              </a:prstGeom>
              <a:blipFill>
                <a:blip r:embed="rId5"/>
                <a:stretch>
                  <a:fillRect l="-369" b="-71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362200" y="6124378"/>
                <a:ext cx="4953000" cy="525721"/>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𝐹</m:t>
                    </m:r>
                    <m:r>
                      <a:rPr lang="en-IN" b="0" i="1" smtClean="0">
                        <a:latin typeface="Cambria Math" panose="02040503050406030204" pitchFamily="18" charset="0"/>
                      </a:rPr>
                      <m:t>−</m:t>
                    </m:r>
                    <m:r>
                      <a:rPr lang="en-IN" b="0" i="1" smtClean="0">
                        <a:latin typeface="Cambria Math" panose="02040503050406030204" pitchFamily="18" charset="0"/>
                      </a:rPr>
                      <m:t>𝑚𝑒𝑎𝑠𝑢𝑟𝑒</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2 ∗</m:t>
                        </m:r>
                        <m:r>
                          <a:rPr lang="en-IN" b="0" i="1" dirty="0" smtClean="0">
                            <a:latin typeface="Cambria Math" panose="02040503050406030204" pitchFamily="18" charset="0"/>
                          </a:rPr>
                          <m:t>𝑝𝑟𝑒𝑐𝑖𝑠𝑖𝑜𝑛</m:t>
                        </m:r>
                        <m:r>
                          <a:rPr lang="en-IN" b="0" i="1" dirty="0" smtClean="0">
                            <a:latin typeface="Cambria Math" panose="02040503050406030204" pitchFamily="18" charset="0"/>
                          </a:rPr>
                          <m:t>∗</m:t>
                        </m:r>
                        <m:r>
                          <a:rPr lang="en-IN" b="0" i="1" dirty="0" smtClean="0">
                            <a:latin typeface="Cambria Math" panose="02040503050406030204" pitchFamily="18" charset="0"/>
                          </a:rPr>
                          <m:t>𝑟𝑒𝑐𝑎𝑙𝑙</m:t>
                        </m:r>
                      </m:num>
                      <m:den>
                        <m:r>
                          <a:rPr lang="en-IN" b="0" i="1" dirty="0" smtClean="0">
                            <a:latin typeface="Cambria Math" panose="02040503050406030204" pitchFamily="18" charset="0"/>
                          </a:rPr>
                          <m:t>𝑝𝑟𝑒𝑐𝑖𝑠𝑖𝑜𝑛</m:t>
                        </m:r>
                        <m:r>
                          <a:rPr lang="en-IN" b="0" i="1" dirty="0" smtClean="0">
                            <a:latin typeface="Cambria Math" panose="02040503050406030204" pitchFamily="18" charset="0"/>
                          </a:rPr>
                          <m:t>+</m:t>
                        </m:r>
                        <m:r>
                          <a:rPr lang="en-IN" b="0" i="1" dirty="0" smtClean="0">
                            <a:latin typeface="Cambria Math" panose="02040503050406030204" pitchFamily="18" charset="0"/>
                          </a:rPr>
                          <m:t>𝑟𝑒𝑐𝑎𝑙𝑙</m:t>
                        </m:r>
                      </m:den>
                    </m:f>
                  </m:oMath>
                </a14:m>
                <a:endParaRPr lang="en-IN" dirty="0"/>
              </a:p>
            </p:txBody>
          </p:sp>
        </mc:Choice>
        <mc:Fallback xmlns="">
          <p:sp>
            <p:nvSpPr>
              <p:cNvPr id="9" name="TextBox 8"/>
              <p:cNvSpPr txBox="1">
                <a:spLocks noRot="1" noChangeAspect="1" noMove="1" noResize="1" noEditPoints="1" noAdjustHandles="1" noChangeArrowheads="1" noChangeShapeType="1" noTextEdit="1"/>
              </p:cNvSpPr>
              <p:nvPr/>
            </p:nvSpPr>
            <p:spPr>
              <a:xfrm>
                <a:off x="2362200" y="6124378"/>
                <a:ext cx="4953000" cy="525721"/>
              </a:xfrm>
              <a:prstGeom prst="rect">
                <a:avLst/>
              </a:prstGeom>
              <a:blipFill>
                <a:blip r:embed="rId6"/>
                <a:stretch>
                  <a:fillRect b="-4651"/>
                </a:stretch>
              </a:blipFill>
            </p:spPr>
            <p:txBody>
              <a:bodyPr/>
              <a:lstStyle/>
              <a:p>
                <a:r>
                  <a:rPr lang="en-IN">
                    <a:noFill/>
                  </a:rPr>
                  <a:t> </a:t>
                </a:r>
              </a:p>
            </p:txBody>
          </p:sp>
        </mc:Fallback>
      </mc:AlternateContent>
    </p:spTree>
    <p:extLst>
      <p:ext uri="{BB962C8B-B14F-4D97-AF65-F5344CB8AC3E}">
        <p14:creationId xmlns:p14="http://schemas.microsoft.com/office/powerpoint/2010/main" val="158438575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graphicFrame>
        <p:nvGraphicFramePr>
          <p:cNvPr id="2" name="Table 1"/>
          <p:cNvGraphicFramePr>
            <a:graphicFrameLocks noGrp="1"/>
          </p:cNvGraphicFramePr>
          <p:nvPr>
            <p:extLst>
              <p:ext uri="{D42A27DB-BD31-4B8C-83A1-F6EECF244321}">
                <p14:modId xmlns:p14="http://schemas.microsoft.com/office/powerpoint/2010/main" val="4017956132"/>
              </p:ext>
            </p:extLst>
          </p:nvPr>
        </p:nvGraphicFramePr>
        <p:xfrm>
          <a:off x="228600" y="3069752"/>
          <a:ext cx="4595554" cy="2286000"/>
        </p:xfrm>
        <a:graphic>
          <a:graphicData uri="http://schemas.openxmlformats.org/drawingml/2006/table">
            <a:tbl>
              <a:tblPr firstRow="1" bandRow="1">
                <a:tableStyleId>{2D5ABB26-0587-4C30-8999-92F81FD0307C}</a:tableStyleId>
              </a:tblPr>
              <a:tblGrid>
                <a:gridCol w="1188922">
                  <a:extLst>
                    <a:ext uri="{9D8B030D-6E8A-4147-A177-3AD203B41FA5}">
                      <a16:colId xmlns:a16="http://schemas.microsoft.com/office/drawing/2014/main" val="3671611517"/>
                    </a:ext>
                  </a:extLst>
                </a:gridCol>
                <a:gridCol w="649299">
                  <a:extLst>
                    <a:ext uri="{9D8B030D-6E8A-4147-A177-3AD203B41FA5}">
                      <a16:colId xmlns:a16="http://schemas.microsoft.com/office/drawing/2014/main" val="1587803806"/>
                    </a:ext>
                  </a:extLst>
                </a:gridCol>
                <a:gridCol w="919111">
                  <a:extLst>
                    <a:ext uri="{9D8B030D-6E8A-4147-A177-3AD203B41FA5}">
                      <a16:colId xmlns:a16="http://schemas.microsoft.com/office/drawing/2014/main" val="3584101841"/>
                    </a:ext>
                  </a:extLst>
                </a:gridCol>
                <a:gridCol w="919111">
                  <a:extLst>
                    <a:ext uri="{9D8B030D-6E8A-4147-A177-3AD203B41FA5}">
                      <a16:colId xmlns:a16="http://schemas.microsoft.com/office/drawing/2014/main" val="127957778"/>
                    </a:ext>
                  </a:extLst>
                </a:gridCol>
                <a:gridCol w="919111">
                  <a:extLst>
                    <a:ext uri="{9D8B030D-6E8A-4147-A177-3AD203B41FA5}">
                      <a16:colId xmlns:a16="http://schemas.microsoft.com/office/drawing/2014/main" val="1704924134"/>
                    </a:ext>
                  </a:extLst>
                </a:gridCol>
              </a:tblGrid>
              <a:tr h="334392">
                <a:tc rowSpan="2" gridSpan="2">
                  <a:txBody>
                    <a:bodyPr/>
                    <a:lstStyle/>
                    <a:p>
                      <a:pPr algn="ctr"/>
                      <a:r>
                        <a:rPr lang="en-IN" sz="2400" dirty="0" smtClean="0">
                          <a:latin typeface="Cambria Math" panose="02040503050406030204" pitchFamily="18" charset="0"/>
                          <a:ea typeface="Cambria Math" panose="02040503050406030204" pitchFamily="18" charset="0"/>
                        </a:rPr>
                        <a:t>N=165</a:t>
                      </a: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rowSpan="2" h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2400" dirty="0" smtClean="0">
                          <a:latin typeface="Cambria Math" panose="02040503050406030204" pitchFamily="18" charset="0"/>
                          <a:ea typeface="Cambria Math" panose="02040503050406030204" pitchFamily="18" charset="0"/>
                        </a:rPr>
                        <a:t>Predicted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09022605"/>
                  </a:ext>
                </a:extLst>
              </a:tr>
              <a:tr h="401775">
                <a:tc gridSpan="2" vMerge="1">
                  <a:txBody>
                    <a:bodyPr/>
                    <a:lstStyle/>
                    <a:p>
                      <a:pPr algn="ctr"/>
                      <a:endParaRPr lang="en-IN"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vMerge="1">
                  <a:txBody>
                    <a:bodyPr/>
                    <a:lstStyle/>
                    <a:p>
                      <a:pPr algn="ctr"/>
                      <a:endParaRPr lang="en-IN" dirty="0"/>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33767218"/>
                  </a:ext>
                </a:extLst>
              </a:tr>
              <a:tr h="401775">
                <a:tc rowSpan="2">
                  <a:txBody>
                    <a:bodyPr/>
                    <a:lstStyle/>
                    <a:p>
                      <a:pPr algn="ctr"/>
                      <a:r>
                        <a:rPr lang="en-IN" sz="2400" dirty="0" smtClean="0">
                          <a:latin typeface="Cambria Math" panose="02040503050406030204" pitchFamily="18" charset="0"/>
                          <a:ea typeface="Cambria Math" panose="02040503050406030204" pitchFamily="18" charset="0"/>
                        </a:rPr>
                        <a:t>Actual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yes</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657824"/>
                  </a:ext>
                </a:extLst>
              </a:tr>
              <a:tr h="401775">
                <a:tc vMerge="1">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no</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60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407055"/>
                  </a:ext>
                </a:extLst>
              </a:tr>
              <a:tr h="401775">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2400" dirty="0" smtClean="0">
                          <a:latin typeface="Cambria Math" panose="02040503050406030204" pitchFamily="18" charset="0"/>
                          <a:ea typeface="Cambria Math" panose="02040503050406030204" pitchFamily="18" charset="0"/>
                        </a:rPr>
                        <a:t>110</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2400" dirty="0" smtClean="0">
                          <a:latin typeface="Cambria Math" panose="02040503050406030204" pitchFamily="18" charset="0"/>
                          <a:ea typeface="Cambria Math" panose="02040503050406030204" pitchFamily="18" charset="0"/>
                        </a:rPr>
                        <a:t>55</a:t>
                      </a: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IN" sz="2400" dirty="0">
                        <a:latin typeface="Cambria Math" panose="02040503050406030204" pitchFamily="18" charset="0"/>
                        <a:ea typeface="Cambria Math" panose="02040503050406030204" pitchFamily="18" charset="0"/>
                      </a:endParaRP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69190945"/>
                  </a:ext>
                </a:extLst>
              </a:tr>
            </a:tbl>
          </a:graphicData>
        </a:graphic>
      </p:graphicFrame>
      <mc:AlternateContent xmlns:mc="http://schemas.openxmlformats.org/markup-compatibility/2006" xmlns:a14="http://schemas.microsoft.com/office/drawing/2010/main">
        <mc:Choice Requires="a14">
          <p:sp>
            <p:nvSpPr>
              <p:cNvPr id="3" name="TextBox 2"/>
              <p:cNvSpPr txBox="1"/>
              <p:nvPr/>
            </p:nvSpPr>
            <p:spPr>
              <a:xfrm>
                <a:off x="4691855" y="3096121"/>
                <a:ext cx="4741025"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𝑃𝑟𝑒𝑐𝑖𝑠𝑖𝑜𝑛</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𝑓𝑝</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r>
                      <a:rPr lang="en-IN" b="0" i="1" smtClean="0">
                        <a:latin typeface="Cambria Math" panose="02040503050406030204" pitchFamily="18" charset="0"/>
                      </a:rPr>
                      <m:t>=0.909</m:t>
                    </m:r>
                  </m:oMath>
                </a14:m>
                <a:endParaRPr lang="en-IN" dirty="0"/>
              </a:p>
            </p:txBody>
          </p:sp>
        </mc:Choice>
        <mc:Fallback xmlns="">
          <p:sp>
            <p:nvSpPr>
              <p:cNvPr id="3" name="TextBox 2"/>
              <p:cNvSpPr txBox="1">
                <a:spLocks noRot="1" noChangeAspect="1" noMove="1" noResize="1" noEditPoints="1" noAdjustHandles="1" noChangeArrowheads="1" noChangeShapeType="1" noTextEdit="1"/>
              </p:cNvSpPr>
              <p:nvPr/>
            </p:nvSpPr>
            <p:spPr>
              <a:xfrm>
                <a:off x="4691855" y="3096121"/>
                <a:ext cx="4741025" cy="513410"/>
              </a:xfrm>
              <a:prstGeom prst="rect">
                <a:avLst/>
              </a:prstGeom>
              <a:blipFill>
                <a:blip r:embed="rId3"/>
                <a:stretch>
                  <a:fillRect b="-595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876799" y="3946327"/>
                <a:ext cx="4038600" cy="516808"/>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𝑅𝑒𝑐𝑎𝑙𝑙</m:t>
                    </m:r>
                    <m:r>
                      <a:rPr lang="en-IN" b="0" i="1" smtClean="0">
                        <a:latin typeface="Cambria Math" panose="02040503050406030204" pitchFamily="18" charset="0"/>
                      </a:rPr>
                      <m:t>= </m:t>
                    </m:r>
                    <m:f>
                      <m:fPr>
                        <m:ctrlPr>
                          <a:rPr lang="en-IN" b="0" i="1" smtClean="0">
                            <a:latin typeface="Cambria Math" panose="02040503050406030204" pitchFamily="18" charset="0"/>
                          </a:rPr>
                        </m:ctrlPr>
                      </m:fPr>
                      <m:num>
                        <m:r>
                          <a:rPr lang="en-IN" b="0" i="1" smtClean="0">
                            <a:latin typeface="Cambria Math" panose="02040503050406030204" pitchFamily="18" charset="0"/>
                          </a:rPr>
                          <m:t>𝑡𝑝</m:t>
                        </m:r>
                      </m:num>
                      <m:den>
                        <m:r>
                          <a:rPr lang="en-IN" b="0" i="1" smtClean="0">
                            <a:latin typeface="Cambria Math" panose="02040503050406030204" pitchFamily="18" charset="0"/>
                          </a:rPr>
                          <m:t>𝑡𝑝</m:t>
                        </m:r>
                        <m:r>
                          <a:rPr lang="en-IN" b="0" i="1" smtClean="0">
                            <a:latin typeface="Cambria Math" panose="02040503050406030204" pitchFamily="18" charset="0"/>
                          </a:rPr>
                          <m:t>+</m:t>
                        </m:r>
                        <m:r>
                          <a:rPr lang="en-IN" b="0" i="1" smtClean="0">
                            <a:latin typeface="Cambria Math" panose="02040503050406030204" pitchFamily="18" charset="0"/>
                          </a:rPr>
                          <m:t>𝑓𝑛</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100+5</m:t>
                        </m:r>
                      </m:den>
                    </m:f>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100</m:t>
                        </m:r>
                      </m:num>
                      <m:den>
                        <m:r>
                          <a:rPr lang="en-IN" b="0" i="1" dirty="0" smtClean="0">
                            <a:latin typeface="Cambria Math" panose="02040503050406030204" pitchFamily="18" charset="0"/>
                          </a:rPr>
                          <m:t>105</m:t>
                        </m:r>
                      </m:den>
                    </m:f>
                    <m:r>
                      <a:rPr lang="en-IN" b="0" i="1" dirty="0" smtClean="0">
                        <a:latin typeface="Cambria Math" panose="02040503050406030204" pitchFamily="18" charset="0"/>
                      </a:rPr>
                      <m:t>=0.952</m:t>
                    </m:r>
                  </m:oMath>
                </a14:m>
                <a:endParaRPr lang="en-IN" dirty="0"/>
              </a:p>
            </p:txBody>
          </p:sp>
        </mc:Choice>
        <mc:Fallback xmlns="">
          <p:sp>
            <p:nvSpPr>
              <p:cNvPr id="7" name="TextBox 6"/>
              <p:cNvSpPr txBox="1">
                <a:spLocks noRot="1" noChangeAspect="1" noMove="1" noResize="1" noEditPoints="1" noAdjustHandles="1" noChangeArrowheads="1" noChangeShapeType="1" noTextEdit="1"/>
              </p:cNvSpPr>
              <p:nvPr/>
            </p:nvSpPr>
            <p:spPr>
              <a:xfrm>
                <a:off x="4876799" y="3946327"/>
                <a:ext cx="4038600" cy="516808"/>
              </a:xfrm>
              <a:prstGeom prst="rect">
                <a:avLst/>
              </a:prstGeom>
              <a:blipFill>
                <a:blip r:embed="rId4"/>
                <a:stretch>
                  <a:fillRect b="-705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819400" y="5450180"/>
                <a:ext cx="5867400" cy="513410"/>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𝐴𝑐𝑐𝑢𝑟𝑎𝑐𝑦</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𝑡𝑛</m:t>
                        </m:r>
                      </m:num>
                      <m:den>
                        <m:r>
                          <a:rPr lang="en-IN" b="0" i="1" dirty="0" smtClean="0">
                            <a:latin typeface="Cambria Math" panose="02040503050406030204" pitchFamily="18" charset="0"/>
                          </a:rPr>
                          <m:t>𝑡𝑝</m:t>
                        </m:r>
                        <m:r>
                          <a:rPr lang="en-IN" b="0" i="1" dirty="0" smtClean="0">
                            <a:latin typeface="Cambria Math" panose="02040503050406030204" pitchFamily="18" charset="0"/>
                          </a:rPr>
                          <m:t>+</m:t>
                        </m:r>
                        <m:r>
                          <a:rPr lang="en-IN" b="0" i="1" dirty="0" smtClean="0">
                            <a:latin typeface="Cambria Math" panose="02040503050406030204" pitchFamily="18" charset="0"/>
                          </a:rPr>
                          <m:t>𝑓𝑝</m:t>
                        </m:r>
                        <m:r>
                          <a:rPr lang="en-IN" b="0" i="1" dirty="0" smtClean="0">
                            <a:latin typeface="Cambria Math" panose="02040503050406030204" pitchFamily="18" charset="0"/>
                          </a:rPr>
                          <m:t>+</m:t>
                        </m:r>
                        <m:r>
                          <a:rPr lang="en-IN" b="0" i="1" dirty="0" smtClean="0">
                            <a:latin typeface="Cambria Math" panose="02040503050406030204" pitchFamily="18" charset="0"/>
                          </a:rPr>
                          <m:t>𝑓𝑛</m:t>
                        </m:r>
                        <m:r>
                          <a:rPr lang="en-IN" b="0" i="1" dirty="0" smtClean="0">
                            <a:latin typeface="Cambria Math" panose="02040503050406030204" pitchFamily="18" charset="0"/>
                          </a:rPr>
                          <m:t>+</m:t>
                        </m:r>
                        <m:r>
                          <a:rPr lang="en-IN" b="0" i="1" dirty="0" smtClean="0">
                            <a:latin typeface="Cambria Math" panose="02040503050406030204" pitchFamily="18" charset="0"/>
                          </a:rPr>
                          <m:t>𝑡𝑛</m:t>
                        </m:r>
                      </m:den>
                    </m:f>
                  </m:oMath>
                </a14:m>
                <a:r>
                  <a:rPr lang="en-IN" dirty="0" smtClean="0"/>
                  <a:t> </a:t>
                </a:r>
                <a14:m>
                  <m:oMath xmlns:m="http://schemas.openxmlformats.org/officeDocument/2006/math">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100+50</m:t>
                        </m:r>
                      </m:num>
                      <m:den>
                        <m:r>
                          <a:rPr lang="en-IN" b="0" i="1" dirty="0" smtClean="0">
                            <a:latin typeface="Cambria Math" panose="02040503050406030204" pitchFamily="18" charset="0"/>
                          </a:rPr>
                          <m:t>100+5+10+50</m:t>
                        </m:r>
                      </m:den>
                    </m:f>
                    <m:r>
                      <a:rPr lang="en-IN" b="0" i="1" dirty="0" smtClean="0">
                        <a:latin typeface="Cambria Math" panose="02040503050406030204" pitchFamily="18" charset="0"/>
                      </a:rPr>
                      <m:t>= </m:t>
                    </m:r>
                    <m:f>
                      <m:fPr>
                        <m:ctrlPr>
                          <a:rPr lang="en-IN" b="0" i="1" dirty="0" smtClean="0">
                            <a:latin typeface="Cambria Math" panose="02040503050406030204" pitchFamily="18" charset="0"/>
                          </a:rPr>
                        </m:ctrlPr>
                      </m:fPr>
                      <m:num>
                        <m:r>
                          <a:rPr lang="en-IN" b="0" i="1" dirty="0" smtClean="0">
                            <a:latin typeface="Cambria Math" panose="02040503050406030204" pitchFamily="18" charset="0"/>
                          </a:rPr>
                          <m:t>150</m:t>
                        </m:r>
                      </m:num>
                      <m:den>
                        <m:r>
                          <a:rPr lang="en-IN" b="0" i="1" dirty="0" smtClean="0">
                            <a:latin typeface="Cambria Math" panose="02040503050406030204" pitchFamily="18" charset="0"/>
                          </a:rPr>
                          <m:t>165</m:t>
                        </m:r>
                      </m:den>
                    </m:f>
                    <m:r>
                      <a:rPr lang="en-IN" b="0" i="1" dirty="0" smtClean="0">
                        <a:latin typeface="Cambria Math" panose="02040503050406030204" pitchFamily="18" charset="0"/>
                      </a:rPr>
                      <m:t>=0.909</m:t>
                    </m:r>
                  </m:oMath>
                </a14:m>
                <a:endParaRPr lang="en-IN" dirty="0"/>
              </a:p>
            </p:txBody>
          </p:sp>
        </mc:Choice>
        <mc:Fallback xmlns="">
          <p:sp>
            <p:nvSpPr>
              <p:cNvPr id="8" name="TextBox 7"/>
              <p:cNvSpPr txBox="1">
                <a:spLocks noRot="1" noChangeAspect="1" noMove="1" noResize="1" noEditPoints="1" noAdjustHandles="1" noChangeArrowheads="1" noChangeShapeType="1" noTextEdit="1"/>
              </p:cNvSpPr>
              <p:nvPr/>
            </p:nvSpPr>
            <p:spPr>
              <a:xfrm>
                <a:off x="2819400" y="5450180"/>
                <a:ext cx="5867400" cy="513410"/>
              </a:xfrm>
              <a:prstGeom prst="rect">
                <a:avLst/>
              </a:prstGeom>
              <a:blipFill>
                <a:blip r:embed="rId5"/>
                <a:stretch>
                  <a:fillRect l="-312" b="-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828800" y="6124378"/>
                <a:ext cx="6858000" cy="707566"/>
              </a:xfrm>
              <a:prstGeom prst="rect">
                <a:avLst/>
              </a:prstGeom>
              <a:noFill/>
            </p:spPr>
            <p:txBody>
              <a:bodyPr wrap="square" rtlCol="0">
                <a:spAutoFit/>
              </a:bodyPr>
              <a:lstStyle/>
              <a:p>
                <a14:m>
                  <m:oMath xmlns:m="http://schemas.openxmlformats.org/officeDocument/2006/math">
                    <m:r>
                      <a:rPr lang="en-IN" b="0" i="1" smtClean="0">
                        <a:latin typeface="Cambria Math" panose="02040503050406030204" pitchFamily="18" charset="0"/>
                      </a:rPr>
                      <m:t>𝐹</m:t>
                    </m:r>
                    <m:r>
                      <a:rPr lang="en-IN" b="0" i="1" smtClean="0">
                        <a:latin typeface="Cambria Math" panose="02040503050406030204" pitchFamily="18" charset="0"/>
                      </a:rPr>
                      <m:t>−</m:t>
                    </m:r>
                    <m:r>
                      <a:rPr lang="en-IN" b="0" i="1" smtClean="0">
                        <a:latin typeface="Cambria Math" panose="02040503050406030204" pitchFamily="18" charset="0"/>
                      </a:rPr>
                      <m:t>𝑚𝑒𝑎𝑠𝑢𝑟𝑒</m:t>
                    </m:r>
                    <m:r>
                      <a:rPr lang="en-IN" b="0" i="1" smtClean="0">
                        <a:latin typeface="Cambria Math" panose="02040503050406030204" pitchFamily="18" charset="0"/>
                      </a:rPr>
                      <m:t>=</m:t>
                    </m:r>
                  </m:oMath>
                </a14:m>
                <a:r>
                  <a:rPr lang="en-IN" dirty="0" smtClean="0"/>
                  <a:t> </a:t>
                </a:r>
                <a14:m>
                  <m:oMath xmlns:m="http://schemas.openxmlformats.org/officeDocument/2006/math">
                    <m:f>
                      <m:fPr>
                        <m:ctrlPr>
                          <a:rPr lang="en-IN" i="1" dirty="0" smtClean="0">
                            <a:latin typeface="Cambria Math" panose="02040503050406030204" pitchFamily="18" charset="0"/>
                          </a:rPr>
                        </m:ctrlPr>
                      </m:fPr>
                      <m:num>
                        <m:r>
                          <a:rPr lang="en-IN" b="0" i="1" dirty="0" smtClean="0">
                            <a:latin typeface="Cambria Math" panose="02040503050406030204" pitchFamily="18" charset="0"/>
                          </a:rPr>
                          <m:t>2 ∗</m:t>
                        </m:r>
                        <m:r>
                          <a:rPr lang="en-IN" b="0" i="1" dirty="0" smtClean="0">
                            <a:latin typeface="Cambria Math" panose="02040503050406030204" pitchFamily="18" charset="0"/>
                          </a:rPr>
                          <m:t>𝑝𝑟𝑒𝑐𝑖𝑠𝑖𝑜𝑛</m:t>
                        </m:r>
                        <m:r>
                          <a:rPr lang="en-IN" b="0" i="1" dirty="0" smtClean="0">
                            <a:latin typeface="Cambria Math" panose="02040503050406030204" pitchFamily="18" charset="0"/>
                          </a:rPr>
                          <m:t>∗</m:t>
                        </m:r>
                        <m:r>
                          <a:rPr lang="en-IN" b="0" i="1" dirty="0" smtClean="0">
                            <a:latin typeface="Cambria Math" panose="02040503050406030204" pitchFamily="18" charset="0"/>
                          </a:rPr>
                          <m:t>𝑟𝑒𝑐𝑎𝑙𝑙</m:t>
                        </m:r>
                      </m:num>
                      <m:den>
                        <m:r>
                          <a:rPr lang="en-IN" b="0" i="1" dirty="0" smtClean="0">
                            <a:latin typeface="Cambria Math" panose="02040503050406030204" pitchFamily="18" charset="0"/>
                          </a:rPr>
                          <m:t>𝑝𝑟𝑒𝑐𝑖𝑠𝑖𝑜𝑛</m:t>
                        </m:r>
                        <m:r>
                          <a:rPr lang="en-IN" b="0" i="1" dirty="0" smtClean="0">
                            <a:latin typeface="Cambria Math" panose="02040503050406030204" pitchFamily="18" charset="0"/>
                          </a:rPr>
                          <m:t>+</m:t>
                        </m:r>
                        <m:r>
                          <a:rPr lang="en-IN" b="0" i="1" dirty="0" smtClean="0">
                            <a:latin typeface="Cambria Math" panose="02040503050406030204" pitchFamily="18" charset="0"/>
                          </a:rPr>
                          <m:t>𝑟𝑒𝑐𝑎𝑙𝑙</m:t>
                        </m:r>
                      </m:den>
                    </m:f>
                  </m:oMath>
                </a14:m>
                <a:r>
                  <a:rPr lang="en-IN" dirty="0" smtClean="0"/>
                  <a:t> = </a:t>
                </a:r>
                <a14:m>
                  <m:oMath xmlns:m="http://schemas.openxmlformats.org/officeDocument/2006/math">
                    <m:f>
                      <m:fPr>
                        <m:ctrlPr>
                          <a:rPr lang="en-IN" i="1" smtClean="0">
                            <a:latin typeface="Cambria Math" panose="02040503050406030204" pitchFamily="18" charset="0"/>
                          </a:rPr>
                        </m:ctrlPr>
                      </m:fPr>
                      <m:num>
                        <m:r>
                          <a:rPr lang="en-IN" b="0" i="1" smtClean="0">
                            <a:latin typeface="Cambria Math" panose="02040503050406030204" pitchFamily="18" charset="0"/>
                          </a:rPr>
                          <m:t>2 ∗</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105</m:t>
                            </m:r>
                          </m:den>
                        </m:f>
                      </m:num>
                      <m:den>
                        <m:f>
                          <m:fPr>
                            <m:ctrlPr>
                              <a:rPr lang="en-IN"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110</m:t>
                            </m:r>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100</m:t>
                            </m:r>
                          </m:num>
                          <m:den>
                            <m:r>
                              <a:rPr lang="en-IN" b="0" i="1" smtClean="0">
                                <a:latin typeface="Cambria Math" panose="02040503050406030204" pitchFamily="18" charset="0"/>
                              </a:rPr>
                              <m:t>105</m:t>
                            </m:r>
                          </m:den>
                        </m:f>
                      </m:den>
                    </m:f>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i="1">
                            <a:latin typeface="Cambria Math" panose="02040503050406030204" pitchFamily="18" charset="0"/>
                          </a:rPr>
                          <m:t>2∗0.9</m:t>
                        </m:r>
                        <m:r>
                          <a:rPr lang="en-IN" b="0" i="1" smtClean="0">
                            <a:latin typeface="Cambria Math" panose="02040503050406030204" pitchFamily="18" charset="0"/>
                          </a:rPr>
                          <m:t>09</m:t>
                        </m:r>
                        <m:r>
                          <a:rPr lang="en-IN" i="1">
                            <a:latin typeface="Cambria Math" panose="02040503050406030204" pitchFamily="18" charset="0"/>
                          </a:rPr>
                          <m:t>∗0.95</m:t>
                        </m:r>
                        <m:r>
                          <a:rPr lang="en-IN" b="0" i="1" smtClean="0">
                            <a:latin typeface="Cambria Math" panose="02040503050406030204" pitchFamily="18" charset="0"/>
                          </a:rPr>
                          <m:t>2</m:t>
                        </m:r>
                      </m:num>
                      <m:den>
                        <m:r>
                          <a:rPr lang="en-IN" b="0" i="1" smtClean="0">
                            <a:latin typeface="Cambria Math" panose="02040503050406030204" pitchFamily="18" charset="0"/>
                          </a:rPr>
                          <m:t>0.909+0.952</m:t>
                        </m:r>
                      </m:den>
                    </m:f>
                  </m:oMath>
                </a14:m>
                <a:r>
                  <a:rPr lang="en-IN" dirty="0" smtClean="0"/>
                  <a:t>=</a:t>
                </a:r>
                <a14:m>
                  <m:oMath xmlns:m="http://schemas.openxmlformats.org/officeDocument/2006/math">
                    <m:r>
                      <a:rPr lang="en-IN" b="0" i="1" dirty="0" smtClean="0">
                        <a:latin typeface="Cambria Math" panose="02040503050406030204" pitchFamily="18" charset="0"/>
                      </a:rPr>
                      <m:t>0.929</m:t>
                    </m:r>
                  </m:oMath>
                </a14:m>
                <a:endParaRPr lang="en-IN" dirty="0"/>
              </a:p>
            </p:txBody>
          </p:sp>
        </mc:Choice>
        <mc:Fallback xmlns="">
          <p:sp>
            <p:nvSpPr>
              <p:cNvPr id="9" name="TextBox 8"/>
              <p:cNvSpPr txBox="1">
                <a:spLocks noRot="1" noChangeAspect="1" noMove="1" noResize="1" noEditPoints="1" noAdjustHandles="1" noChangeArrowheads="1" noChangeShapeType="1" noTextEdit="1"/>
              </p:cNvSpPr>
              <p:nvPr/>
            </p:nvSpPr>
            <p:spPr>
              <a:xfrm>
                <a:off x="1828800" y="6124378"/>
                <a:ext cx="6858000" cy="707566"/>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14441507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miro.medium.com/max/676/1*rpvtED63QpDxPaLotrzQlA.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302"/>
          <a:stretch/>
        </p:blipFill>
        <p:spPr bwMode="auto">
          <a:xfrm>
            <a:off x="1676400" y="2895600"/>
            <a:ext cx="5067300" cy="194310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09600" y="1676400"/>
            <a:ext cx="7484228" cy="954107"/>
          </a:xfrm>
          <a:prstGeom prst="rect">
            <a:avLst/>
          </a:prstGeom>
        </p:spPr>
        <p:txBody>
          <a:bodyPr wrap="none">
            <a:spAutoFit/>
          </a:bodyPr>
          <a:lstStyle/>
          <a:p>
            <a:r>
              <a:rPr lang="en-US" sz="2800" dirty="0" smtClean="0"/>
              <a:t>Given the </a:t>
            </a:r>
            <a:r>
              <a:rPr lang="en-US" sz="2800" dirty="0"/>
              <a:t>confusion </a:t>
            </a:r>
            <a:r>
              <a:rPr lang="en-US" sz="2800" dirty="0" smtClean="0"/>
              <a:t>matrix, find:</a:t>
            </a:r>
          </a:p>
          <a:p>
            <a:r>
              <a:rPr lang="en-US" sz="2800" dirty="0" smtClean="0"/>
              <a:t>Classification Accuracy, Recall, Precision, </a:t>
            </a:r>
            <a:r>
              <a:rPr lang="en-US" sz="2800" dirty="0"/>
              <a:t>F-measure</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Assignment</a:t>
            </a:r>
            <a:endParaRPr lang="en-US" altLang="en-US" sz="4400" b="1" dirty="0">
              <a:solidFill>
                <a:srgbClr val="333399"/>
              </a:solidFill>
              <a:latin typeface="Arial"/>
            </a:endParaRPr>
          </a:p>
        </p:txBody>
      </p:sp>
    </p:spTree>
    <p:extLst>
      <p:ext uri="{BB962C8B-B14F-4D97-AF65-F5344CB8AC3E}">
        <p14:creationId xmlns:p14="http://schemas.microsoft.com/office/powerpoint/2010/main" val="226881703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2" descr="https://miro.medium.com/max/676/1*rpvtED63QpDxPaLotrzQlA.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1302"/>
          <a:stretch/>
        </p:blipFill>
        <p:spPr bwMode="auto">
          <a:xfrm>
            <a:off x="0" y="1590675"/>
            <a:ext cx="5067300" cy="194310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TextBox 4"/>
              <p:cNvSpPr txBox="1"/>
              <p:nvPr/>
            </p:nvSpPr>
            <p:spPr>
              <a:xfrm>
                <a:off x="2245661" y="3642453"/>
                <a:ext cx="4814331" cy="561500"/>
              </a:xfrm>
              <a:prstGeom prst="rect">
                <a:avLst/>
              </a:prstGeom>
              <a:noFill/>
            </p:spPr>
            <p:txBody>
              <a:bodyPr wrap="none" lIns="0" tIns="0" rIns="0" bIns="0" rtlCol="0">
                <a:spAutoFit/>
              </a:bodyPr>
              <a:lstStyle/>
              <a:p>
                <a:pPr algn="ctr"/>
                <a14:m>
                  <m:oMath xmlns:m="http://schemas.openxmlformats.org/officeDocument/2006/math">
                    <m:r>
                      <a:rPr lang="en-IN" sz="2400" b="0" i="1" smtClean="0">
                        <a:latin typeface="Cambria Math" panose="02040503050406030204" pitchFamily="18" charset="0"/>
                      </a:rPr>
                      <m:t>𝑃𝑟𝑒𝑐𝑖𝑠𝑖𝑜𝑛</m:t>
                    </m:r>
                    <m:r>
                      <a:rPr lang="en-IN" sz="2400" b="0" i="1" smtClean="0">
                        <a:latin typeface="Cambria Math" panose="02040503050406030204" pitchFamily="18" charset="0"/>
                      </a:rPr>
                      <m:t>= </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𝑡𝑝</m:t>
                        </m:r>
                      </m:num>
                      <m:den>
                        <m:r>
                          <a:rPr lang="en-IN" sz="2400" b="0" i="1" smtClean="0">
                            <a:latin typeface="Cambria Math" panose="02040503050406030204" pitchFamily="18" charset="0"/>
                          </a:rPr>
                          <m:t>𝑡𝑝</m:t>
                        </m:r>
                        <m:r>
                          <a:rPr lang="en-IN" sz="2400" b="0" i="1" smtClean="0">
                            <a:latin typeface="Cambria Math" panose="02040503050406030204" pitchFamily="18" charset="0"/>
                          </a:rPr>
                          <m:t>+</m:t>
                        </m:r>
                        <m:r>
                          <a:rPr lang="en-IN" sz="2400" b="0" i="1" smtClean="0">
                            <a:latin typeface="Cambria Math" panose="02040503050406030204" pitchFamily="18" charset="0"/>
                          </a:rPr>
                          <m:t>𝑓𝑝</m:t>
                        </m:r>
                      </m:den>
                    </m:f>
                  </m:oMath>
                </a14:m>
                <a:r>
                  <a:rPr lang="en-IN" sz="2400" dirty="0" smtClean="0"/>
                  <a:t> </a:t>
                </a:r>
                <a14:m>
                  <m:oMath xmlns:m="http://schemas.openxmlformats.org/officeDocument/2006/math">
                    <m:r>
                      <a:rPr lang="en-IN" sz="2400" i="1" dirty="0" smtClean="0">
                        <a:latin typeface="Cambria Math" panose="02040503050406030204" pitchFamily="18" charset="0"/>
                      </a:rPr>
                      <m:t>=</m:t>
                    </m:r>
                    <m:f>
                      <m:fPr>
                        <m:ctrlPr>
                          <a:rPr lang="en-IN" sz="2400" i="1" dirty="0" smtClean="0">
                            <a:latin typeface="Cambria Math" panose="02040503050406030204" pitchFamily="18" charset="0"/>
                          </a:rPr>
                        </m:ctrlPr>
                      </m:fPr>
                      <m:num>
                        <m:r>
                          <a:rPr lang="en-IN" sz="2400" b="0" i="1" dirty="0" smtClean="0">
                            <a:latin typeface="Cambria Math" panose="02040503050406030204" pitchFamily="18" charset="0"/>
                          </a:rPr>
                          <m:t>238</m:t>
                        </m:r>
                      </m:num>
                      <m:den>
                        <m:r>
                          <a:rPr lang="en-IN" sz="2400" b="0" i="1" dirty="0" smtClean="0">
                            <a:latin typeface="Cambria Math" panose="02040503050406030204" pitchFamily="18" charset="0"/>
                          </a:rPr>
                          <m:t>238+19</m:t>
                        </m:r>
                      </m:den>
                    </m:f>
                    <m:r>
                      <a:rPr lang="en-IN" sz="2400" b="0" i="1" dirty="0" smtClean="0">
                        <a:latin typeface="Cambria Math" panose="02040503050406030204" pitchFamily="18" charset="0"/>
                      </a:rPr>
                      <m:t>=0.926</m:t>
                    </m:r>
                  </m:oMath>
                </a14:m>
                <a:endParaRPr lang="en-IN"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2245661" y="3642453"/>
                <a:ext cx="4814331" cy="56150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680908" y="4312630"/>
                <a:ext cx="4379084" cy="561500"/>
              </a:xfrm>
              <a:prstGeom prst="rect">
                <a:avLst/>
              </a:prstGeom>
              <a:noFill/>
            </p:spPr>
            <p:txBody>
              <a:bodyPr wrap="none" lIns="0" tIns="0" rIns="0" bIns="0" rtlCol="0">
                <a:spAutoFit/>
              </a:bodyPr>
              <a:lstStyle/>
              <a:p>
                <a:pPr algn="ctr"/>
                <a14:m>
                  <m:oMath xmlns:m="http://schemas.openxmlformats.org/officeDocument/2006/math">
                    <m:r>
                      <a:rPr lang="en-IN" sz="2400" b="0" i="1" smtClean="0">
                        <a:latin typeface="Cambria Math" panose="02040503050406030204" pitchFamily="18" charset="0"/>
                      </a:rPr>
                      <m:t>𝑅𝑒𝑐𝑎𝑙𝑙</m:t>
                    </m:r>
                    <m:r>
                      <a:rPr lang="en-IN" sz="2400" b="0" i="1" smtClean="0">
                        <a:latin typeface="Cambria Math" panose="02040503050406030204" pitchFamily="18" charset="0"/>
                      </a:rPr>
                      <m:t>= </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𝑡𝑝</m:t>
                        </m:r>
                      </m:num>
                      <m:den>
                        <m:r>
                          <a:rPr lang="en-IN" sz="2400" b="0" i="1" smtClean="0">
                            <a:latin typeface="Cambria Math" panose="02040503050406030204" pitchFamily="18" charset="0"/>
                          </a:rPr>
                          <m:t>𝑡𝑝</m:t>
                        </m:r>
                        <m:r>
                          <a:rPr lang="en-IN" sz="2400" b="0" i="1" smtClean="0">
                            <a:latin typeface="Cambria Math" panose="02040503050406030204" pitchFamily="18" charset="0"/>
                          </a:rPr>
                          <m:t>+</m:t>
                        </m:r>
                        <m:r>
                          <a:rPr lang="en-IN" sz="2400" b="0" i="1" smtClean="0">
                            <a:latin typeface="Cambria Math" panose="02040503050406030204" pitchFamily="18" charset="0"/>
                          </a:rPr>
                          <m:t>𝑓𝑛</m:t>
                        </m:r>
                      </m:den>
                    </m:f>
                  </m:oMath>
                </a14:m>
                <a:r>
                  <a:rPr lang="en-IN" sz="2400" dirty="0" smtClean="0"/>
                  <a:t> </a:t>
                </a:r>
                <a14:m>
                  <m:oMath xmlns:m="http://schemas.openxmlformats.org/officeDocument/2006/math">
                    <m:r>
                      <a:rPr lang="en-IN" sz="2400" i="1" dirty="0" smtClean="0">
                        <a:latin typeface="Cambria Math" panose="02040503050406030204" pitchFamily="18" charset="0"/>
                      </a:rPr>
                      <m:t>=</m:t>
                    </m:r>
                    <m:f>
                      <m:fPr>
                        <m:ctrlPr>
                          <a:rPr lang="en-IN" sz="2400" i="1" dirty="0" smtClean="0">
                            <a:latin typeface="Cambria Math" panose="02040503050406030204" pitchFamily="18" charset="0"/>
                          </a:rPr>
                        </m:ctrlPr>
                      </m:fPr>
                      <m:num>
                        <m:r>
                          <a:rPr lang="en-IN" sz="2400" b="0" i="1" dirty="0" smtClean="0">
                            <a:latin typeface="Cambria Math" panose="02040503050406030204" pitchFamily="18" charset="0"/>
                          </a:rPr>
                          <m:t>238</m:t>
                        </m:r>
                      </m:num>
                      <m:den>
                        <m:r>
                          <a:rPr lang="en-IN" sz="2400" b="0" i="1" dirty="0" smtClean="0">
                            <a:latin typeface="Cambria Math" panose="02040503050406030204" pitchFamily="18" charset="0"/>
                          </a:rPr>
                          <m:t>238+24</m:t>
                        </m:r>
                      </m:den>
                    </m:f>
                    <m:r>
                      <a:rPr lang="en-IN" sz="2400" b="0" i="1" dirty="0" smtClean="0">
                        <a:latin typeface="Cambria Math" panose="02040503050406030204" pitchFamily="18" charset="0"/>
                      </a:rPr>
                      <m:t>=0.908</m:t>
                    </m:r>
                  </m:oMath>
                </a14:m>
                <a:endParaRPr lang="en-IN"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2680908" y="4312630"/>
                <a:ext cx="4379084" cy="561500"/>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379050" y="4936414"/>
                <a:ext cx="6620595" cy="561500"/>
              </a:xfrm>
              <a:prstGeom prst="rect">
                <a:avLst/>
              </a:prstGeom>
              <a:noFill/>
            </p:spPr>
            <p:txBody>
              <a:bodyPr wrap="none" lIns="0" tIns="0" rIns="0" bIns="0" rtlCol="0">
                <a:spAutoFit/>
              </a:bodyPr>
              <a:lstStyle/>
              <a:p>
                <a14:m>
                  <m:oMath xmlns:m="http://schemas.openxmlformats.org/officeDocument/2006/math">
                    <m:r>
                      <a:rPr lang="en-IN" sz="2400" b="0" i="1" smtClean="0">
                        <a:latin typeface="Cambria Math" panose="02040503050406030204" pitchFamily="18" charset="0"/>
                      </a:rPr>
                      <m:t>𝐴𝑐𝑐𝑢𝑟𝑎𝑐𝑦</m:t>
                    </m:r>
                    <m:r>
                      <a:rPr lang="en-IN" sz="2400" b="0" i="1" smtClean="0">
                        <a:latin typeface="Cambria Math" panose="02040503050406030204" pitchFamily="18" charset="0"/>
                      </a:rPr>
                      <m:t>= </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𝑡𝑝</m:t>
                        </m:r>
                        <m:r>
                          <a:rPr lang="en-IN" sz="2400" b="0" i="1" smtClean="0">
                            <a:latin typeface="Cambria Math" panose="02040503050406030204" pitchFamily="18" charset="0"/>
                          </a:rPr>
                          <m:t>+</m:t>
                        </m:r>
                        <m:r>
                          <a:rPr lang="en-IN" sz="2400" b="0" i="1" smtClean="0">
                            <a:latin typeface="Cambria Math" panose="02040503050406030204" pitchFamily="18" charset="0"/>
                          </a:rPr>
                          <m:t>𝑡𝑛</m:t>
                        </m:r>
                      </m:num>
                      <m:den>
                        <m:r>
                          <a:rPr lang="en-IN" sz="2400" b="0" i="1" smtClean="0">
                            <a:latin typeface="Cambria Math" panose="02040503050406030204" pitchFamily="18" charset="0"/>
                          </a:rPr>
                          <m:t>𝑡𝑝</m:t>
                        </m:r>
                        <m:r>
                          <a:rPr lang="en-IN" sz="2400" b="0" i="1" smtClean="0">
                            <a:latin typeface="Cambria Math" panose="02040503050406030204" pitchFamily="18" charset="0"/>
                          </a:rPr>
                          <m:t>+</m:t>
                        </m:r>
                        <m:r>
                          <a:rPr lang="en-IN" sz="2400" b="0" i="1" smtClean="0">
                            <a:latin typeface="Cambria Math" panose="02040503050406030204" pitchFamily="18" charset="0"/>
                          </a:rPr>
                          <m:t>𝑡𝑛</m:t>
                        </m:r>
                        <m:r>
                          <a:rPr lang="en-IN" sz="2400" b="0" i="1" smtClean="0">
                            <a:latin typeface="Cambria Math" panose="02040503050406030204" pitchFamily="18" charset="0"/>
                          </a:rPr>
                          <m:t>+</m:t>
                        </m:r>
                        <m:r>
                          <a:rPr lang="en-IN" sz="2400" b="0" i="1" smtClean="0">
                            <a:latin typeface="Cambria Math" panose="02040503050406030204" pitchFamily="18" charset="0"/>
                          </a:rPr>
                          <m:t>𝑓𝑝</m:t>
                        </m:r>
                        <m:r>
                          <a:rPr lang="en-IN" sz="2400" b="0" i="1" smtClean="0">
                            <a:latin typeface="Cambria Math" panose="02040503050406030204" pitchFamily="18" charset="0"/>
                          </a:rPr>
                          <m:t>+</m:t>
                        </m:r>
                        <m:r>
                          <a:rPr lang="en-IN" sz="2400" b="0" i="1" smtClean="0">
                            <a:latin typeface="Cambria Math" panose="02040503050406030204" pitchFamily="18" charset="0"/>
                          </a:rPr>
                          <m:t>𝑓𝑛</m:t>
                        </m:r>
                      </m:den>
                    </m:f>
                  </m:oMath>
                </a14:m>
                <a:r>
                  <a:rPr lang="en-IN" sz="2400" dirty="0" smtClean="0"/>
                  <a:t> </a:t>
                </a:r>
                <a14:m>
                  <m:oMath xmlns:m="http://schemas.openxmlformats.org/officeDocument/2006/math">
                    <m:r>
                      <a:rPr lang="en-IN" sz="2400" i="1" dirty="0" smtClean="0">
                        <a:latin typeface="Cambria Math" panose="02040503050406030204" pitchFamily="18" charset="0"/>
                      </a:rPr>
                      <m:t>=</m:t>
                    </m:r>
                    <m:f>
                      <m:fPr>
                        <m:ctrlPr>
                          <a:rPr lang="en-IN" sz="2400" i="1" dirty="0" smtClean="0">
                            <a:latin typeface="Cambria Math" panose="02040503050406030204" pitchFamily="18" charset="0"/>
                          </a:rPr>
                        </m:ctrlPr>
                      </m:fPr>
                      <m:num>
                        <m:r>
                          <a:rPr lang="en-IN" sz="2400" b="0" i="1" dirty="0" smtClean="0">
                            <a:latin typeface="Cambria Math" panose="02040503050406030204" pitchFamily="18" charset="0"/>
                          </a:rPr>
                          <m:t>238+219</m:t>
                        </m:r>
                      </m:num>
                      <m:den>
                        <m:r>
                          <a:rPr lang="en-IN" sz="2400" b="0" i="1" dirty="0" smtClean="0">
                            <a:latin typeface="Cambria Math" panose="02040503050406030204" pitchFamily="18" charset="0"/>
                          </a:rPr>
                          <m:t>238+219+19+24</m:t>
                        </m:r>
                      </m:den>
                    </m:f>
                    <m:r>
                      <a:rPr lang="en-IN" sz="2400" b="0" i="1" dirty="0" smtClean="0">
                        <a:latin typeface="Cambria Math" panose="02040503050406030204" pitchFamily="18" charset="0"/>
                      </a:rPr>
                      <m:t>=0.914</m:t>
                    </m:r>
                  </m:oMath>
                </a14:m>
                <a:endParaRPr lang="en-IN"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1379050" y="4936414"/>
                <a:ext cx="6620595" cy="561500"/>
              </a:xfrm>
              <a:prstGeom prst="rect">
                <a:avLst/>
              </a:prstGeom>
              <a:blipFill>
                <a:blip r:embed="rId5"/>
                <a:stretch>
                  <a:fillRect l="-9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1066800" y="5620734"/>
                <a:ext cx="6638869" cy="537327"/>
              </a:xfrm>
              <a:prstGeom prst="rect">
                <a:avLst/>
              </a:prstGeom>
              <a:noFill/>
            </p:spPr>
            <p:txBody>
              <a:bodyPr wrap="none" lIns="0" tIns="0" rIns="0" bIns="0" rtlCol="0">
                <a:spAutoFit/>
              </a:bodyPr>
              <a:lstStyle/>
              <a:p>
                <a:pPr algn="ctr"/>
                <a14:m>
                  <m:oMath xmlns:m="http://schemas.openxmlformats.org/officeDocument/2006/math">
                    <m:sSub>
                      <m:sSubPr>
                        <m:ctrlPr>
                          <a:rPr lang="en-IN" sz="2400" b="0" i="1" smtClean="0">
                            <a:latin typeface="Cambria Math" panose="02040503050406030204" pitchFamily="18" charset="0"/>
                          </a:rPr>
                        </m:ctrlPr>
                      </m:sSubPr>
                      <m:e>
                        <m:r>
                          <a:rPr lang="en-IN" sz="2400" b="0" i="1" smtClean="0">
                            <a:latin typeface="Cambria Math" panose="02040503050406030204" pitchFamily="18" charset="0"/>
                          </a:rPr>
                          <m:t>𝑓</m:t>
                        </m:r>
                      </m:e>
                      <m:sub>
                        <m:r>
                          <a:rPr lang="en-IN" sz="2400" b="0" i="1" smtClean="0">
                            <a:latin typeface="Cambria Math" panose="02040503050406030204" pitchFamily="18" charset="0"/>
                          </a:rPr>
                          <m:t>1</m:t>
                        </m:r>
                      </m:sub>
                    </m:sSub>
                    <m:r>
                      <a:rPr lang="en-IN" sz="2400" b="0" i="1" smtClean="0">
                        <a:latin typeface="Cambria Math" panose="02040503050406030204" pitchFamily="18" charset="0"/>
                      </a:rPr>
                      <m:t> </m:t>
                    </m:r>
                    <m:r>
                      <a:rPr lang="en-IN" sz="2400" b="0" i="1" smtClean="0">
                        <a:latin typeface="Cambria Math" panose="02040503050406030204" pitchFamily="18" charset="0"/>
                      </a:rPr>
                      <m:t>𝑠𝑐𝑜𝑟𝑒</m:t>
                    </m:r>
                    <m:r>
                      <a:rPr lang="en-IN" sz="2400" b="0" i="1" smtClean="0">
                        <a:latin typeface="Cambria Math" panose="02040503050406030204" pitchFamily="18" charset="0"/>
                      </a:rPr>
                      <m:t>= </m:t>
                    </m:r>
                    <m:f>
                      <m:fPr>
                        <m:ctrlPr>
                          <a:rPr lang="en-IN" sz="2400" b="0" i="1" smtClean="0">
                            <a:latin typeface="Cambria Math" panose="02040503050406030204" pitchFamily="18" charset="0"/>
                          </a:rPr>
                        </m:ctrlPr>
                      </m:fPr>
                      <m:num>
                        <m:r>
                          <a:rPr lang="en-IN" sz="2400" b="0" i="1" smtClean="0">
                            <a:latin typeface="Cambria Math" panose="02040503050406030204" pitchFamily="18" charset="0"/>
                          </a:rPr>
                          <m:t>2∗</m:t>
                        </m:r>
                        <m:r>
                          <a:rPr lang="en-IN" sz="2400" b="0" i="1" smtClean="0">
                            <a:latin typeface="Cambria Math" panose="02040503050406030204" pitchFamily="18" charset="0"/>
                          </a:rPr>
                          <m:t>𝑃𝑟𝑒𝑐𝑖𝑠𝑖𝑜𝑛</m:t>
                        </m:r>
                        <m:r>
                          <a:rPr lang="en-IN" sz="2400" b="0" i="1" smtClean="0">
                            <a:latin typeface="Cambria Math" panose="02040503050406030204" pitchFamily="18" charset="0"/>
                          </a:rPr>
                          <m:t>∗</m:t>
                        </m:r>
                        <m:r>
                          <a:rPr lang="en-IN" sz="2400" b="0" i="1" smtClean="0">
                            <a:latin typeface="Cambria Math" panose="02040503050406030204" pitchFamily="18" charset="0"/>
                          </a:rPr>
                          <m:t>𝑅𝑒𝑐𝑎𝑙𝑙</m:t>
                        </m:r>
                      </m:num>
                      <m:den>
                        <m:r>
                          <a:rPr lang="en-IN" sz="2400" b="0" i="1" smtClean="0">
                            <a:latin typeface="Cambria Math" panose="02040503050406030204" pitchFamily="18" charset="0"/>
                          </a:rPr>
                          <m:t>𝑃𝑟𝑒𝑐𝑖𝑠𝑖𝑜𝑛</m:t>
                        </m:r>
                        <m:r>
                          <a:rPr lang="en-IN" sz="2400" b="0" i="1" smtClean="0">
                            <a:latin typeface="Cambria Math" panose="02040503050406030204" pitchFamily="18" charset="0"/>
                          </a:rPr>
                          <m:t>+</m:t>
                        </m:r>
                        <m:r>
                          <a:rPr lang="en-IN" sz="2400" b="0" i="1" smtClean="0">
                            <a:latin typeface="Cambria Math" panose="02040503050406030204" pitchFamily="18" charset="0"/>
                          </a:rPr>
                          <m:t>𝑅𝑒𝑐𝑎𝑙𝑙</m:t>
                        </m:r>
                      </m:den>
                    </m:f>
                  </m:oMath>
                </a14:m>
                <a:r>
                  <a:rPr lang="en-IN" sz="2400" dirty="0" smtClean="0"/>
                  <a:t> </a:t>
                </a:r>
                <a14:m>
                  <m:oMath xmlns:m="http://schemas.openxmlformats.org/officeDocument/2006/math">
                    <m:r>
                      <a:rPr lang="en-IN" sz="2400" i="1" dirty="0" smtClean="0">
                        <a:latin typeface="Cambria Math" panose="02040503050406030204" pitchFamily="18" charset="0"/>
                      </a:rPr>
                      <m:t>=</m:t>
                    </m:r>
                    <m:f>
                      <m:fPr>
                        <m:ctrlPr>
                          <a:rPr lang="en-IN" sz="2400" i="1" dirty="0" smtClean="0">
                            <a:latin typeface="Cambria Math" panose="02040503050406030204" pitchFamily="18" charset="0"/>
                          </a:rPr>
                        </m:ctrlPr>
                      </m:fPr>
                      <m:num>
                        <m:r>
                          <a:rPr lang="en-IN" sz="2400" b="0" i="1" dirty="0" smtClean="0">
                            <a:latin typeface="Cambria Math" panose="02040503050406030204" pitchFamily="18" charset="0"/>
                          </a:rPr>
                          <m:t>2∗0.926∗0.908</m:t>
                        </m:r>
                      </m:num>
                      <m:den>
                        <m:r>
                          <a:rPr lang="en-IN" sz="2400" b="0" i="1" dirty="0" smtClean="0">
                            <a:latin typeface="Cambria Math" panose="02040503050406030204" pitchFamily="18" charset="0"/>
                          </a:rPr>
                          <m:t>0.926+0.908</m:t>
                        </m:r>
                      </m:den>
                    </m:f>
                    <m:r>
                      <a:rPr lang="en-IN" sz="2400" b="0" i="1" dirty="0" smtClean="0">
                        <a:latin typeface="Cambria Math" panose="02040503050406030204" pitchFamily="18" charset="0"/>
                      </a:rPr>
                      <m:t>=0.916</m:t>
                    </m:r>
                  </m:oMath>
                </a14:m>
                <a:endParaRPr lang="en-IN"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1066800" y="5620734"/>
                <a:ext cx="6638869" cy="537327"/>
              </a:xfrm>
              <a:prstGeom prst="rect">
                <a:avLst/>
              </a:prstGeom>
              <a:blipFill>
                <a:blip r:embed="rId6"/>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18791601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p:cNvSpPr>
            <a:spLocks noGrp="1"/>
          </p:cNvSpPr>
          <p:nvPr>
            <p:ph idx="1"/>
          </p:nvPr>
        </p:nvSpPr>
        <p:spPr>
          <a:xfrm>
            <a:off x="311150" y="3317875"/>
            <a:ext cx="8229600" cy="3921125"/>
          </a:xfrm>
        </p:spPr>
        <p:txBody>
          <a:bodyPr/>
          <a:lstStyle/>
          <a:p>
            <a:pPr eaLnBrk="1" hangingPunct="1">
              <a:buClr>
                <a:srgbClr val="0070C0"/>
              </a:buClr>
              <a:buSzPct val="80000"/>
              <a:buFont typeface="Wingdings" panose="05000000000000000000" pitchFamily="2" charset="2"/>
              <a:buChar char="§"/>
            </a:pPr>
            <a:r>
              <a:rPr lang="en-US" altLang="en-US" dirty="0" smtClean="0"/>
              <a:t>It is a plot of the </a:t>
            </a:r>
            <a:r>
              <a:rPr lang="en-US" altLang="en-US" dirty="0" smtClean="0">
                <a:solidFill>
                  <a:srgbClr val="3333CC"/>
                </a:solidFill>
              </a:rPr>
              <a:t>True Positive Rate (TPR) </a:t>
            </a:r>
            <a:r>
              <a:rPr lang="en-US" altLang="en-US" dirty="0" smtClean="0"/>
              <a:t>against the </a:t>
            </a:r>
            <a:r>
              <a:rPr lang="en-US" altLang="en-US" dirty="0" smtClean="0">
                <a:solidFill>
                  <a:srgbClr val="3333CC"/>
                </a:solidFill>
              </a:rPr>
              <a:t>False Positive Rate (FPR).</a:t>
            </a:r>
          </a:p>
          <a:p>
            <a:pPr>
              <a:buClr>
                <a:srgbClr val="0070C0"/>
              </a:buClr>
              <a:buSzPct val="80000"/>
              <a:buFont typeface="Wingdings" panose="05000000000000000000" pitchFamily="2" charset="2"/>
              <a:buChar char="§"/>
            </a:pPr>
            <a:r>
              <a:rPr lang="en-US" altLang="en-US" dirty="0" smtClean="0">
                <a:solidFill>
                  <a:srgbClr val="3333CC"/>
                </a:solidFill>
              </a:rPr>
              <a:t>True </a:t>
            </a:r>
            <a:r>
              <a:rPr lang="en-US" altLang="en-US" dirty="0">
                <a:solidFill>
                  <a:srgbClr val="3333CC"/>
                </a:solidFill>
              </a:rPr>
              <a:t>Positive Rate (TPR) :</a:t>
            </a:r>
            <a:endParaRPr lang="en-US" altLang="en-US" dirty="0" smtClean="0">
              <a:solidFill>
                <a:srgbClr val="3333CC"/>
              </a:solidFill>
            </a:endParaRPr>
          </a:p>
          <a:p>
            <a:pPr eaLnBrk="1" hangingPunct="1">
              <a:buClr>
                <a:srgbClr val="0070C0"/>
              </a:buClr>
              <a:buSzPct val="80000"/>
              <a:buFont typeface="Wingdings" panose="05000000000000000000" pitchFamily="2" charset="2"/>
              <a:buChar char="§"/>
            </a:pPr>
            <a:endParaRPr lang="en-US" altLang="en-US" dirty="0" smtClean="0">
              <a:solidFill>
                <a:srgbClr val="FF0000"/>
              </a:solidFill>
            </a:endParaRPr>
          </a:p>
          <a:p>
            <a:pPr eaLnBrk="1" hangingPunct="1">
              <a:buClr>
                <a:srgbClr val="0070C0"/>
              </a:buClr>
              <a:buSzPct val="80000"/>
              <a:buFont typeface="Wingdings" panose="05000000000000000000" pitchFamily="2" charset="2"/>
              <a:buChar char="§"/>
            </a:pPr>
            <a:endParaRPr lang="en-US" altLang="en-US" dirty="0" smtClean="0">
              <a:solidFill>
                <a:srgbClr val="FF0000"/>
              </a:solidFill>
            </a:endParaRPr>
          </a:p>
          <a:p>
            <a:pPr>
              <a:buClr>
                <a:srgbClr val="0070C0"/>
              </a:buClr>
              <a:buSzPct val="80000"/>
              <a:buFont typeface="Wingdings" panose="05000000000000000000" pitchFamily="2" charset="2"/>
              <a:buChar char="§"/>
            </a:pPr>
            <a:r>
              <a:rPr lang="en-US" altLang="en-US" dirty="0" smtClean="0">
                <a:solidFill>
                  <a:srgbClr val="3333CC"/>
                </a:solidFill>
              </a:rPr>
              <a:t>False </a:t>
            </a:r>
            <a:r>
              <a:rPr lang="en-US" altLang="en-US" dirty="0">
                <a:solidFill>
                  <a:srgbClr val="3333CC"/>
                </a:solidFill>
              </a:rPr>
              <a:t>Positive Rate (FPR):</a:t>
            </a:r>
            <a:endParaRPr lang="en-US" altLang="en-US" dirty="0" smtClean="0">
              <a:solidFill>
                <a:srgbClr val="3333CC"/>
              </a:solidFill>
            </a:endParaRPr>
          </a:p>
        </p:txBody>
      </p:sp>
      <p:pic>
        <p:nvPicPr>
          <p:cNvPr id="11"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59300" y="3962400"/>
            <a:ext cx="252730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3102" y="5589587"/>
            <a:ext cx="2676525"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3"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2800" b="1" dirty="0" smtClean="0">
                <a:solidFill>
                  <a:srgbClr val="333399"/>
                </a:solidFill>
                <a:latin typeface="Arial"/>
              </a:rPr>
              <a:t>Receiver </a:t>
            </a:r>
            <a:r>
              <a:rPr lang="en-US" altLang="en-US" sz="2800" b="1" dirty="0">
                <a:solidFill>
                  <a:srgbClr val="333399"/>
                </a:solidFill>
                <a:latin typeface="Arial"/>
              </a:rPr>
              <a:t>Operating Characteristics C</a:t>
            </a:r>
            <a:r>
              <a:rPr lang="en-US" altLang="en-US" sz="2800" b="1" dirty="0" smtClean="0">
                <a:solidFill>
                  <a:srgbClr val="333399"/>
                </a:solidFill>
                <a:latin typeface="Arial"/>
              </a:rPr>
              <a:t>urve</a:t>
            </a:r>
            <a:endParaRPr lang="en-US" altLang="en-US" sz="2800" b="1" dirty="0">
              <a:solidFill>
                <a:srgbClr val="333399"/>
              </a:solidFill>
              <a:latin typeface="Arial"/>
            </a:endParaRPr>
          </a:p>
        </p:txBody>
      </p:sp>
      <p:sp>
        <p:nvSpPr>
          <p:cNvPr id="2" name="Rectangle 1"/>
          <p:cNvSpPr/>
          <p:nvPr/>
        </p:nvSpPr>
        <p:spPr>
          <a:xfrm>
            <a:off x="477643" y="1510605"/>
            <a:ext cx="8437756" cy="1569660"/>
          </a:xfrm>
          <a:prstGeom prst="rect">
            <a:avLst/>
          </a:prstGeom>
        </p:spPr>
        <p:txBody>
          <a:bodyPr wrap="square">
            <a:spAutoFit/>
          </a:bodyPr>
          <a:lstStyle/>
          <a:p>
            <a:r>
              <a:rPr lang="en-US" sz="3200" dirty="0">
                <a:solidFill>
                  <a:srgbClr val="5E024C"/>
                </a:solidFill>
              </a:rPr>
              <a:t>An ROC curve (receiver operating characteristic curve) is a graph showing the performance of a classification model at all classification thresholds.</a:t>
            </a:r>
          </a:p>
        </p:txBody>
      </p:sp>
    </p:spTree>
    <p:extLst>
      <p:ext uri="{BB962C8B-B14F-4D97-AF65-F5344CB8AC3E}">
        <p14:creationId xmlns:p14="http://schemas.microsoft.com/office/powerpoint/2010/main" val="71777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barn(inVertic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Effect transition="in" filter="fade">
                                      <p:cBhvr>
                                        <p:cTn id="12" dur="1000"/>
                                        <p:tgtEl>
                                          <p:spTgt spid="10">
                                            <p:txEl>
                                              <p:pRg st="1" end="1"/>
                                            </p:txEl>
                                          </p:spTgt>
                                        </p:tgtEl>
                                      </p:cBhvr>
                                    </p:animEffect>
                                    <p:anim calcmode="lin" valueType="num">
                                      <p:cBhvr>
                                        <p:cTn id="13"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0">
                                            <p:txEl>
                                              <p:pRg st="4" end="4"/>
                                            </p:txEl>
                                          </p:spTgt>
                                        </p:tgtEl>
                                        <p:attrNameLst>
                                          <p:attrName>style.visibility</p:attrName>
                                        </p:attrNameLst>
                                      </p:cBhvr>
                                      <p:to>
                                        <p:strVal val="visible"/>
                                      </p:to>
                                    </p:set>
                                    <p:animEffect transition="in" filter="barn(inVertical)">
                                      <p:cBhvr>
                                        <p:cTn id="26" dur="500"/>
                                        <p:tgtEl>
                                          <p:spTgt spid="10">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arn(inVertical)">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https://miro.medium.com/max/940/1*4OqtyBCCcD_89od_8fNkCg.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3244"/>
          <a:stretch/>
        </p:blipFill>
        <p:spPr bwMode="auto">
          <a:xfrm>
            <a:off x="518160" y="1577326"/>
            <a:ext cx="8321040" cy="489967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38200" y="6153834"/>
            <a:ext cx="7391400" cy="461665"/>
          </a:xfrm>
          <a:prstGeom prst="rect">
            <a:avLst/>
          </a:prstGeom>
        </p:spPr>
        <p:txBody>
          <a:bodyPr wrap="square">
            <a:spAutoFit/>
          </a:bodyPr>
          <a:lstStyle/>
          <a:p>
            <a:r>
              <a:rPr lang="en-US" sz="2400" b="1" dirty="0">
                <a:solidFill>
                  <a:srgbClr val="002060"/>
                </a:solidFill>
              </a:rPr>
              <a:t>TP Vs. FP rate at different classification thresholds</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2800" b="1" dirty="0" smtClean="0">
                <a:solidFill>
                  <a:srgbClr val="333399"/>
                </a:solidFill>
                <a:latin typeface="Arial"/>
              </a:rPr>
              <a:t>Receiver </a:t>
            </a:r>
            <a:r>
              <a:rPr lang="en-US" altLang="en-US" sz="2800" b="1" dirty="0">
                <a:solidFill>
                  <a:srgbClr val="333399"/>
                </a:solidFill>
                <a:latin typeface="Arial"/>
              </a:rPr>
              <a:t>Operating Characteristics C</a:t>
            </a:r>
            <a:r>
              <a:rPr lang="en-US" altLang="en-US" sz="2800" b="1" dirty="0" smtClean="0">
                <a:solidFill>
                  <a:srgbClr val="333399"/>
                </a:solidFill>
                <a:latin typeface="Arial"/>
              </a:rPr>
              <a:t>urve</a:t>
            </a:r>
            <a:endParaRPr lang="en-US" altLang="en-US" sz="2800" b="1" dirty="0">
              <a:solidFill>
                <a:srgbClr val="333399"/>
              </a:solidFill>
              <a:latin typeface="Arial"/>
            </a:endParaRPr>
          </a:p>
        </p:txBody>
      </p:sp>
    </p:spTree>
    <p:extLst>
      <p:ext uri="{BB962C8B-B14F-4D97-AF65-F5344CB8AC3E}">
        <p14:creationId xmlns:p14="http://schemas.microsoft.com/office/powerpoint/2010/main" val="418490371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9059"/>
          <a:stretch/>
        </p:blipFill>
        <p:spPr bwMode="auto">
          <a:xfrm>
            <a:off x="281767" y="1905000"/>
            <a:ext cx="8516938"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 name="Rectangle 4"/>
          <p:cNvSpPr/>
          <p:nvPr/>
        </p:nvSpPr>
        <p:spPr>
          <a:xfrm>
            <a:off x="1143000" y="6096000"/>
            <a:ext cx="8153400" cy="461665"/>
          </a:xfrm>
          <a:prstGeom prst="rect">
            <a:avLst/>
          </a:prstGeom>
        </p:spPr>
        <p:txBody>
          <a:bodyPr wrap="square">
            <a:spAutoFit/>
          </a:bodyPr>
          <a:lstStyle/>
          <a:p>
            <a:r>
              <a:rPr lang="en-US" sz="2400" dirty="0"/>
              <a:t>ROC </a:t>
            </a:r>
            <a:r>
              <a:rPr lang="en-US" sz="2400" dirty="0" err="1"/>
              <a:t>cuvers</a:t>
            </a:r>
            <a:r>
              <a:rPr lang="en-US" sz="2400" dirty="0"/>
              <a:t> for two classifiers (C1 and C2) on the same data</a:t>
            </a:r>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a:solidFill>
                  <a:srgbClr val="333399"/>
                </a:solidFill>
                <a:latin typeface="Arial"/>
              </a:rPr>
              <a:t>Example ROC curves</a:t>
            </a:r>
          </a:p>
        </p:txBody>
      </p:sp>
    </p:spTree>
    <p:extLst>
      <p:ext uri="{BB962C8B-B14F-4D97-AF65-F5344CB8AC3E}">
        <p14:creationId xmlns:p14="http://schemas.microsoft.com/office/powerpoint/2010/main" val="15881964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1600200"/>
            <a:ext cx="8229600" cy="4530725"/>
          </a:xfrm>
        </p:spPr>
        <p:txBody>
          <a:bodyPr/>
          <a:lstStyle/>
          <a:p>
            <a:pPr eaLnBrk="1" hangingPunct="1">
              <a:defRPr/>
            </a:pPr>
            <a:r>
              <a:rPr lang="en-US" dirty="0" smtClean="0"/>
              <a:t>Which classifier is better, C</a:t>
            </a:r>
            <a:r>
              <a:rPr lang="en-US" baseline="-25000" dirty="0" smtClean="0"/>
              <a:t>1</a:t>
            </a:r>
            <a:r>
              <a:rPr lang="en-US" dirty="0" smtClean="0"/>
              <a:t> or C</a:t>
            </a:r>
            <a:r>
              <a:rPr lang="en-US" baseline="-25000" dirty="0" smtClean="0"/>
              <a:t>2</a:t>
            </a:r>
            <a:r>
              <a:rPr lang="en-US" dirty="0" smtClean="0"/>
              <a:t>? </a:t>
            </a:r>
          </a:p>
          <a:p>
            <a:pPr lvl="1" eaLnBrk="1" hangingPunct="1">
              <a:defRPr/>
            </a:pPr>
            <a:r>
              <a:rPr lang="en-US" dirty="0" smtClean="0"/>
              <a:t>It depends on which region you talk about.</a:t>
            </a:r>
          </a:p>
          <a:p>
            <a:pPr eaLnBrk="1" hangingPunct="1">
              <a:defRPr/>
            </a:pPr>
            <a:r>
              <a:rPr lang="en-US" dirty="0" smtClean="0"/>
              <a:t>Can we have one measure?</a:t>
            </a:r>
          </a:p>
          <a:p>
            <a:pPr lvl="1" eaLnBrk="1" hangingPunct="1">
              <a:defRPr/>
            </a:pPr>
            <a:r>
              <a:rPr lang="en-US" dirty="0" smtClean="0"/>
              <a:t>Yes, we compute the area under the curve (AUC)</a:t>
            </a:r>
          </a:p>
          <a:p>
            <a:pPr eaLnBrk="1" hangingPunct="1">
              <a:defRPr/>
            </a:pPr>
            <a:r>
              <a:rPr lang="en-US" dirty="0" smtClean="0"/>
              <a:t>If AUC for </a:t>
            </a:r>
            <a:r>
              <a:rPr lang="en-US" dirty="0" err="1" smtClean="0"/>
              <a:t>C</a:t>
            </a:r>
            <a:r>
              <a:rPr lang="en-US" baseline="-25000" dirty="0" err="1" smtClean="0"/>
              <a:t>i</a:t>
            </a:r>
            <a:r>
              <a:rPr lang="en-US" dirty="0" smtClean="0"/>
              <a:t> is greater than that of </a:t>
            </a:r>
            <a:r>
              <a:rPr lang="en-US" dirty="0" err="1" smtClean="0"/>
              <a:t>C</a:t>
            </a:r>
            <a:r>
              <a:rPr lang="en-US" baseline="-25000" dirty="0" err="1" smtClean="0"/>
              <a:t>j</a:t>
            </a:r>
            <a:r>
              <a:rPr lang="en-US" dirty="0" smtClean="0"/>
              <a:t>, it is said that </a:t>
            </a:r>
            <a:r>
              <a:rPr lang="en-US" dirty="0" err="1" smtClean="0"/>
              <a:t>C</a:t>
            </a:r>
            <a:r>
              <a:rPr lang="en-US" baseline="-25000" dirty="0" err="1" smtClean="0"/>
              <a:t>i</a:t>
            </a:r>
            <a:r>
              <a:rPr lang="en-US" dirty="0" smtClean="0"/>
              <a:t> is better than </a:t>
            </a:r>
            <a:r>
              <a:rPr lang="en-US" dirty="0" err="1" smtClean="0"/>
              <a:t>C</a:t>
            </a:r>
            <a:r>
              <a:rPr lang="en-US" baseline="-25000" dirty="0" err="1" smtClean="0"/>
              <a:t>j</a:t>
            </a:r>
            <a:r>
              <a:rPr lang="en-US" dirty="0" smtClean="0"/>
              <a:t>. </a:t>
            </a:r>
          </a:p>
          <a:p>
            <a:pPr lvl="1" eaLnBrk="1" hangingPunct="1">
              <a:defRPr/>
            </a:pPr>
            <a:r>
              <a:rPr lang="en-US" dirty="0" smtClean="0">
                <a:ea typeface="+mn-ea"/>
                <a:cs typeface="+mn-cs"/>
              </a:rPr>
              <a:t>If a classifier is perfect, its AUC value is 1</a:t>
            </a:r>
          </a:p>
          <a:p>
            <a:pPr lvl="1" eaLnBrk="1" hangingPunct="1">
              <a:defRPr/>
            </a:pPr>
            <a:r>
              <a:rPr lang="en-US" dirty="0" smtClean="0">
                <a:ea typeface="+mn-ea"/>
                <a:cs typeface="+mn-cs"/>
              </a:rPr>
              <a:t>If a classifier makes all random guesses, its AUC value is 0.5.</a:t>
            </a:r>
            <a:endParaRPr lang="en-US" dirty="0" smtClean="0"/>
          </a:p>
        </p:txBody>
      </p:sp>
      <p:sp>
        <p:nvSpPr>
          <p:cNvPr id="6"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a:solidFill>
                  <a:srgbClr val="333399"/>
                </a:solidFill>
                <a:latin typeface="Arial"/>
              </a:rPr>
              <a:t>Area Under the Curve (AUC)</a:t>
            </a:r>
          </a:p>
        </p:txBody>
      </p:sp>
    </p:spTree>
    <p:extLst>
      <p:ext uri="{BB962C8B-B14F-4D97-AF65-F5344CB8AC3E}">
        <p14:creationId xmlns:p14="http://schemas.microsoft.com/office/powerpoint/2010/main" val="251907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barn(inVertical)">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barn(inVertical)">
                                      <p:cBhvr>
                                        <p:cTn id="25" dur="500"/>
                                        <p:tgtEl>
                                          <p:spTgt spid="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
                                            <p:txEl>
                                              <p:pRg st="5" end="5"/>
                                            </p:txEl>
                                          </p:spTgt>
                                        </p:tgtEl>
                                        <p:attrNameLst>
                                          <p:attrName>style.visibility</p:attrName>
                                        </p:attrNameLst>
                                      </p:cBhvr>
                                      <p:to>
                                        <p:strVal val="visible"/>
                                      </p:to>
                                    </p:set>
                                    <p:animEffect transition="in" filter="fade">
                                      <p:cBhvr>
                                        <p:cTn id="34" dur="1000"/>
                                        <p:tgtEl>
                                          <p:spTgt spid="4">
                                            <p:txEl>
                                              <p:pRg st="5" end="5"/>
                                            </p:txEl>
                                          </p:spTgt>
                                        </p:tgtEl>
                                      </p:cBhvr>
                                    </p:animEffect>
                                    <p:anim calcmode="lin" valueType="num">
                                      <p:cBhvr>
                                        <p:cTn id="3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animEffect transition="in" filter="fade">
                                      <p:cBhvr>
                                        <p:cTn id="39" dur="1000"/>
                                        <p:tgtEl>
                                          <p:spTgt spid="4">
                                            <p:txEl>
                                              <p:pRg st="6" end="6"/>
                                            </p:txEl>
                                          </p:spTgt>
                                        </p:tgtEl>
                                      </p:cBhvr>
                                    </p:animEffect>
                                    <p:anim calcmode="lin" valueType="num">
                                      <p:cBhvr>
                                        <p:cTn id="4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1"/>
          </p:nvPr>
        </p:nvSpPr>
        <p:spPr>
          <a:xfrm>
            <a:off x="457200" y="1600200"/>
            <a:ext cx="8229600" cy="4530725"/>
          </a:xfrm>
        </p:spPr>
        <p:txBody>
          <a:bodyPr>
            <a:normAutofit/>
          </a:bodyPr>
          <a:lstStyle/>
          <a:p>
            <a:pPr eaLnBrk="1" hangingPunct="1"/>
            <a:r>
              <a:rPr lang="en-US" altLang="en-US" sz="2800" dirty="0" smtClean="0"/>
              <a:t>In statistics, there are two other evaluation measures:</a:t>
            </a:r>
          </a:p>
          <a:p>
            <a:pPr lvl="1" eaLnBrk="1" hangingPunct="1"/>
            <a:r>
              <a:rPr lang="en-US" altLang="en-US" sz="2800" dirty="0" smtClean="0">
                <a:solidFill>
                  <a:srgbClr val="3333CC"/>
                </a:solidFill>
              </a:rPr>
              <a:t>Sensitivity</a:t>
            </a:r>
            <a:r>
              <a:rPr lang="en-US" altLang="en-US" sz="2800" dirty="0" smtClean="0"/>
              <a:t>: Same as TPR</a:t>
            </a:r>
          </a:p>
          <a:p>
            <a:pPr lvl="1" eaLnBrk="1" hangingPunct="1"/>
            <a:r>
              <a:rPr lang="en-US" altLang="en-US" sz="2800" dirty="0" smtClean="0">
                <a:solidFill>
                  <a:srgbClr val="3333CC"/>
                </a:solidFill>
              </a:rPr>
              <a:t>Specificity</a:t>
            </a:r>
            <a:r>
              <a:rPr lang="en-US" altLang="en-US" sz="2800" dirty="0" smtClean="0"/>
              <a:t>: Also called </a:t>
            </a:r>
            <a:r>
              <a:rPr lang="en-US" altLang="en-US" sz="2800" dirty="0" smtClean="0">
                <a:solidFill>
                  <a:srgbClr val="3333CC"/>
                </a:solidFill>
              </a:rPr>
              <a:t>True Negative Rate </a:t>
            </a:r>
            <a:r>
              <a:rPr lang="en-US" altLang="en-US" sz="2800" dirty="0" smtClean="0"/>
              <a:t>(TNR)</a:t>
            </a:r>
          </a:p>
          <a:p>
            <a:pPr eaLnBrk="1" hangingPunct="1"/>
            <a:endParaRPr lang="en-US" altLang="en-US" sz="2800" dirty="0" smtClean="0"/>
          </a:p>
          <a:p>
            <a:pPr eaLnBrk="1" hangingPunct="1"/>
            <a:endParaRPr lang="en-US" altLang="en-US" sz="2800" dirty="0" smtClean="0"/>
          </a:p>
          <a:p>
            <a:pPr eaLnBrk="1" hangingPunct="1"/>
            <a:r>
              <a:rPr lang="en-US" altLang="en-US" sz="2800" dirty="0" smtClean="0"/>
              <a:t>Then we have</a:t>
            </a: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4067" y="3272098"/>
            <a:ext cx="2194560" cy="90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89249" y="4813696"/>
            <a:ext cx="360521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Rectangle 2"/>
          <p:cNvSpPr txBox="1">
            <a:spLocks noChangeArrowheads="1"/>
          </p:cNvSpPr>
          <p:nvPr/>
        </p:nvSpPr>
        <p:spPr bwMode="auto">
          <a:xfrm>
            <a:off x="457200" y="133745"/>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a:solidFill>
                  <a:srgbClr val="333399"/>
                </a:solidFill>
                <a:latin typeface="Arial"/>
              </a:rPr>
              <a:t>Sensitivity and Specificity</a:t>
            </a:r>
          </a:p>
        </p:txBody>
      </p:sp>
    </p:spTree>
    <p:extLst>
      <p:ext uri="{BB962C8B-B14F-4D97-AF65-F5344CB8AC3E}">
        <p14:creationId xmlns:p14="http://schemas.microsoft.com/office/powerpoint/2010/main" val="2233627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down)">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wipe(down)">
                                      <p:cBhvr>
                                        <p:cTn id="21" dur="500"/>
                                        <p:tgtEl>
                                          <p:spTgt spid="4">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stretch>
            <a:fillRect/>
          </a:stretch>
        </p:blipFill>
        <p:spPr>
          <a:xfrm>
            <a:off x="37322" y="1905002"/>
            <a:ext cx="9052560" cy="3923306"/>
          </a:xfrm>
          <a:prstGeom prst="rect">
            <a:avLst/>
          </a:prstGeom>
        </p:spPr>
      </p:pic>
      <p:sp>
        <p:nvSpPr>
          <p:cNvPr id="5"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Summary</a:t>
            </a:r>
            <a:endParaRPr lang="en-US" altLang="en-US" sz="4400" b="1" dirty="0">
              <a:solidFill>
                <a:srgbClr val="333399"/>
              </a:solidFill>
              <a:latin typeface="Arial"/>
            </a:endParaRPr>
          </a:p>
        </p:txBody>
      </p:sp>
    </p:spTree>
    <p:extLst>
      <p:ext uri="{BB962C8B-B14F-4D97-AF65-F5344CB8AC3E}">
        <p14:creationId xmlns:p14="http://schemas.microsoft.com/office/powerpoint/2010/main" val="299772178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Type 1 vs Type 2 Error - Machine Learning Interview Questions - Edurek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259" y="1676400"/>
            <a:ext cx="8869680" cy="193887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p:cNvSpPr txBox="1">
            <a:spLocks noChangeArrowheads="1"/>
          </p:cNvSpPr>
          <p:nvPr/>
        </p:nvSpPr>
        <p:spPr bwMode="auto">
          <a:xfrm>
            <a:off x="468312" y="152400"/>
            <a:ext cx="8447087"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b"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a:lstStyle>
          <a:p>
            <a:pPr lvl="0" eaLnBrk="1" hangingPunct="1"/>
            <a:r>
              <a:rPr lang="en-US" altLang="en-US" sz="4400" b="1" dirty="0" smtClean="0">
                <a:solidFill>
                  <a:srgbClr val="333399"/>
                </a:solidFill>
                <a:latin typeface="Arial"/>
              </a:rPr>
              <a:t>Type of Error</a:t>
            </a:r>
            <a:endParaRPr lang="en-US" altLang="en-US" sz="4400" b="1" dirty="0">
              <a:solidFill>
                <a:srgbClr val="333399"/>
              </a:solidFill>
              <a:latin typeface="Arial"/>
            </a:endParaRPr>
          </a:p>
        </p:txBody>
      </p:sp>
      <p:pic>
        <p:nvPicPr>
          <p:cNvPr id="13316" name="Picture 4" descr="Image result for Type I Erro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4255" y="3810000"/>
            <a:ext cx="7315200" cy="2951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257824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551656" y="1600200"/>
            <a:ext cx="8329049"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Char char="n"/>
              <a:tabLst/>
              <a:defRPr/>
            </a:pPr>
            <a:r>
              <a:rPr kumimoji="0" lang="sv-SE" altLang="en-US" b="0" i="0" u="none" strike="noStrike" kern="0" cap="none" spc="0" normalizeH="0" baseline="0" noProof="0" dirty="0" smtClean="0">
                <a:ln>
                  <a:noFill/>
                </a:ln>
                <a:solidFill>
                  <a:srgbClr val="000000"/>
                </a:solidFill>
                <a:effectLst/>
                <a:uLnTx/>
                <a:uFillTx/>
                <a:latin typeface="Tahoma"/>
                <a:ea typeface="+mn-ea"/>
                <a:cs typeface="+mn-cs"/>
              </a:rPr>
              <a:t>One of the biggest problems with decision trees is </a:t>
            </a:r>
            <a:r>
              <a:rPr kumimoji="0" lang="sv-SE" altLang="en-US" b="1" i="0" u="none" strike="noStrike" kern="0" cap="none" spc="0" normalizeH="0" baseline="0" noProof="0" dirty="0" smtClean="0">
                <a:ln>
                  <a:noFill/>
                </a:ln>
                <a:solidFill>
                  <a:srgbClr val="000000"/>
                </a:solidFill>
                <a:effectLst/>
                <a:uLnTx/>
                <a:uFillTx/>
                <a:latin typeface="Tahoma"/>
                <a:ea typeface="+mn-ea"/>
                <a:cs typeface="+mn-cs"/>
              </a:rPr>
              <a:t>Overfitting</a:t>
            </a:r>
            <a:endParaRPr kumimoji="0" lang="sv-SE" altLang="en-US" b="0" i="0" u="none" strike="noStrike" kern="0" cap="none" spc="0" normalizeH="0" baseline="0" noProof="0" dirty="0" smtClean="0">
              <a:ln>
                <a:noFill/>
              </a:ln>
              <a:solidFill>
                <a:srgbClr val="000000"/>
              </a:solidFill>
              <a:effectLst/>
              <a:uLnTx/>
              <a:uFillTx/>
              <a:latin typeface="Tahoma"/>
              <a:ea typeface="+mn-ea"/>
              <a:cs typeface="+mn-cs"/>
            </a:endParaRPr>
          </a:p>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endParaRPr kumimoji="0" lang="sv-SE" altLang="en-US" sz="2200" b="0" i="0" u="none" strike="noStrike" kern="0" cap="none" spc="0" normalizeH="0" baseline="0" noProof="0" dirty="0" smtClean="0">
              <a:ln>
                <a:noFill/>
              </a:ln>
              <a:solidFill>
                <a:srgbClr val="000000"/>
              </a:solidFill>
              <a:effectLst/>
              <a:uLnTx/>
              <a:uFillTx/>
              <a:latin typeface="Tahoma"/>
              <a:ea typeface="+mn-ea"/>
              <a:cs typeface="+mn-cs"/>
            </a:endParaRPr>
          </a:p>
        </p:txBody>
      </p:sp>
      <p:sp>
        <p:nvSpPr>
          <p:cNvPr id="5" name="Rectangle 2"/>
          <p:cNvSpPr txBox="1">
            <a:spLocks noChangeArrowheads="1"/>
          </p:cNvSpPr>
          <p:nvPr/>
        </p:nvSpPr>
        <p:spPr bwMode="auto">
          <a:xfrm>
            <a:off x="651105" y="152400"/>
            <a:ext cx="8229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Garamond" panose="02020404030301010803" pitchFamily="18" charset="0"/>
              </a:defRPr>
            </a:lvl2pPr>
            <a:lvl3pPr algn="l" rtl="0" fontAlgn="base">
              <a:spcBef>
                <a:spcPct val="0"/>
              </a:spcBef>
              <a:spcAft>
                <a:spcPct val="0"/>
              </a:spcAft>
              <a:defRPr sz="4400">
                <a:solidFill>
                  <a:schemeClr val="tx2"/>
                </a:solidFill>
                <a:latin typeface="Garamond" panose="02020404030301010803" pitchFamily="18" charset="0"/>
              </a:defRPr>
            </a:lvl3pPr>
            <a:lvl4pPr algn="l" rtl="0" fontAlgn="base">
              <a:spcBef>
                <a:spcPct val="0"/>
              </a:spcBef>
              <a:spcAft>
                <a:spcPct val="0"/>
              </a:spcAft>
              <a:defRPr sz="4400">
                <a:solidFill>
                  <a:schemeClr val="tx2"/>
                </a:solidFill>
                <a:latin typeface="Garamond" panose="02020404030301010803" pitchFamily="18" charset="0"/>
              </a:defRPr>
            </a:lvl4pPr>
            <a:lvl5pPr algn="l" rtl="0" fontAlgn="base">
              <a:spcBef>
                <a:spcPct val="0"/>
              </a:spcBef>
              <a:spcAft>
                <a:spcPct val="0"/>
              </a:spcAft>
              <a:defRPr sz="4400">
                <a:solidFill>
                  <a:schemeClr val="tx2"/>
                </a:solidFill>
                <a:latin typeface="Garamond" panose="02020404030301010803" pitchFamily="18" charset="0"/>
              </a:defRPr>
            </a:lvl5pPr>
            <a:lvl6pPr marL="457200" algn="l" rtl="0" fontAlgn="base">
              <a:spcBef>
                <a:spcPct val="0"/>
              </a:spcBef>
              <a:spcAft>
                <a:spcPct val="0"/>
              </a:spcAft>
              <a:defRPr sz="4400">
                <a:solidFill>
                  <a:schemeClr val="tx2"/>
                </a:solidFill>
                <a:latin typeface="Garamond" panose="02020404030301010803" pitchFamily="18" charset="0"/>
              </a:defRPr>
            </a:lvl6pPr>
            <a:lvl7pPr marL="914400" algn="l" rtl="0" fontAlgn="base">
              <a:spcBef>
                <a:spcPct val="0"/>
              </a:spcBef>
              <a:spcAft>
                <a:spcPct val="0"/>
              </a:spcAft>
              <a:defRPr sz="4400">
                <a:solidFill>
                  <a:schemeClr val="tx2"/>
                </a:solidFill>
                <a:latin typeface="Garamond" panose="02020404030301010803" pitchFamily="18" charset="0"/>
              </a:defRPr>
            </a:lvl7pPr>
            <a:lvl8pPr marL="1371600" algn="l" rtl="0" fontAlgn="base">
              <a:spcBef>
                <a:spcPct val="0"/>
              </a:spcBef>
              <a:spcAft>
                <a:spcPct val="0"/>
              </a:spcAft>
              <a:defRPr sz="4400">
                <a:solidFill>
                  <a:schemeClr val="tx2"/>
                </a:solidFill>
                <a:latin typeface="Garamond" panose="02020404030301010803" pitchFamily="18" charset="0"/>
              </a:defRPr>
            </a:lvl8pPr>
            <a:lvl9pPr marL="1828800" algn="l" rtl="0" fontAlgn="base">
              <a:spcBef>
                <a:spcPct val="0"/>
              </a:spcBef>
              <a:spcAft>
                <a:spcPct val="0"/>
              </a:spcAft>
              <a:defRPr sz="4400">
                <a:solidFill>
                  <a:schemeClr val="tx2"/>
                </a:solidFill>
                <a:latin typeface="Garamond" panose="02020404030301010803" pitchFamily="18" charset="0"/>
              </a:defRPr>
            </a:lvl9pPr>
          </a:lstStyle>
          <a:p>
            <a:pPr lvl="0"/>
            <a:r>
              <a:rPr lang="en-US" altLang="en-US" b="1" dirty="0">
                <a:solidFill>
                  <a:srgbClr val="333399"/>
                </a:solidFill>
                <a:latin typeface="Arial"/>
              </a:rPr>
              <a:t>Overfitting</a:t>
            </a:r>
          </a:p>
        </p:txBody>
      </p:sp>
      <p:sp>
        <p:nvSpPr>
          <p:cNvPr id="6" name="Rectangle 3"/>
          <p:cNvSpPr txBox="1">
            <a:spLocks noChangeArrowheads="1"/>
          </p:cNvSpPr>
          <p:nvPr/>
        </p:nvSpPr>
        <p:spPr>
          <a:xfrm>
            <a:off x="533400" y="2474913"/>
            <a:ext cx="7772400" cy="4383087"/>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pPr>
              <a:buFont typeface="Wingdings" panose="05000000000000000000" pitchFamily="2" charset="2"/>
              <a:buNone/>
            </a:pPr>
            <a:r>
              <a:rPr lang="en-US" altLang="en-US" sz="2800" dirty="0" smtClean="0"/>
              <a:t>Consider error of hypothesis h over</a:t>
            </a:r>
          </a:p>
          <a:p>
            <a:pPr>
              <a:buClr>
                <a:srgbClr val="0070C0"/>
              </a:buClr>
              <a:buSzPct val="100000"/>
              <a:buFont typeface="Arial" panose="020B0604020202020204" pitchFamily="34" charset="0"/>
              <a:buChar char="•"/>
            </a:pPr>
            <a:r>
              <a:rPr lang="en-US" altLang="en-US" sz="2800" dirty="0" smtClean="0"/>
              <a:t>Training data: </a:t>
            </a:r>
            <a:r>
              <a:rPr lang="en-US" altLang="en-US" sz="2800" dirty="0" err="1" smtClean="0"/>
              <a:t>error</a:t>
            </a:r>
            <a:r>
              <a:rPr lang="en-US" altLang="en-US" sz="2800" baseline="-25000" dirty="0" err="1" smtClean="0"/>
              <a:t>train</a:t>
            </a:r>
            <a:r>
              <a:rPr lang="en-US" altLang="en-US" sz="2800" dirty="0" smtClean="0"/>
              <a:t>(h)</a:t>
            </a:r>
          </a:p>
          <a:p>
            <a:pPr>
              <a:buClr>
                <a:srgbClr val="0070C0"/>
              </a:buClr>
              <a:buSzPct val="100000"/>
              <a:buFont typeface="Arial" panose="020B0604020202020204" pitchFamily="34" charset="0"/>
              <a:buChar char="•"/>
            </a:pPr>
            <a:r>
              <a:rPr lang="en-US" altLang="en-US" sz="2800" dirty="0" smtClean="0"/>
              <a:t>Entire distribution D of data: </a:t>
            </a:r>
            <a:r>
              <a:rPr lang="en-US" altLang="en-US" sz="2800" dirty="0" err="1" smtClean="0"/>
              <a:t>error</a:t>
            </a:r>
            <a:r>
              <a:rPr lang="en-US" altLang="en-US" sz="2800" baseline="-25000" dirty="0" err="1" smtClean="0"/>
              <a:t>D</a:t>
            </a:r>
            <a:r>
              <a:rPr lang="en-US" altLang="en-US" sz="2800" dirty="0" smtClean="0"/>
              <a:t>(h)</a:t>
            </a:r>
          </a:p>
          <a:p>
            <a:pPr>
              <a:buFont typeface="Wingdings" panose="05000000000000000000" pitchFamily="2" charset="2"/>
              <a:buNone/>
            </a:pPr>
            <a:r>
              <a:rPr lang="en-US" altLang="en-US" sz="2800" dirty="0" smtClean="0"/>
              <a:t>Hypothesis </a:t>
            </a:r>
            <a:r>
              <a:rPr lang="en-US" altLang="en-US" sz="2800" dirty="0" err="1" smtClean="0"/>
              <a:t>h</a:t>
            </a:r>
            <a:r>
              <a:rPr lang="en-US" altLang="en-US" sz="2800" dirty="0" err="1" smtClean="0">
                <a:sym typeface="Symbol" panose="05050102010706020507" pitchFamily="18" charset="2"/>
              </a:rPr>
              <a:t>H</a:t>
            </a:r>
            <a:r>
              <a:rPr lang="en-US" altLang="en-US" sz="2800" dirty="0" smtClean="0">
                <a:sym typeface="Symbol" panose="05050102010706020507" pitchFamily="18" charset="2"/>
              </a:rPr>
              <a:t> </a:t>
            </a:r>
            <a:r>
              <a:rPr lang="en-US" altLang="en-US" sz="2800" i="1" dirty="0" err="1" smtClean="0">
                <a:sym typeface="Symbol" panose="05050102010706020507" pitchFamily="18" charset="2"/>
              </a:rPr>
              <a:t>overfits</a:t>
            </a:r>
            <a:r>
              <a:rPr lang="en-US" altLang="en-US" sz="2800" dirty="0" smtClean="0">
                <a:sym typeface="Symbol" panose="05050102010706020507" pitchFamily="18" charset="2"/>
              </a:rPr>
              <a:t> training data if there is an alternative hypothesis </a:t>
            </a:r>
            <a:r>
              <a:rPr lang="en-US" altLang="en-US" sz="2800" dirty="0" err="1" smtClean="0">
                <a:sym typeface="Symbol" panose="05050102010706020507" pitchFamily="18" charset="2"/>
              </a:rPr>
              <a:t>h’H</a:t>
            </a:r>
            <a:r>
              <a:rPr lang="en-US" altLang="en-US" sz="2800" dirty="0" smtClean="0">
                <a:sym typeface="Symbol" panose="05050102010706020507" pitchFamily="18" charset="2"/>
              </a:rPr>
              <a:t> such that</a:t>
            </a:r>
          </a:p>
          <a:p>
            <a:pPr>
              <a:buFont typeface="Wingdings" panose="05000000000000000000" pitchFamily="2" charset="2"/>
              <a:buNone/>
            </a:pPr>
            <a:r>
              <a:rPr lang="en-US" altLang="en-US" sz="2800" dirty="0" smtClean="0">
                <a:sym typeface="Symbol" panose="05050102010706020507" pitchFamily="18" charset="2"/>
              </a:rPr>
              <a:t>		 </a:t>
            </a:r>
            <a:r>
              <a:rPr lang="en-US" altLang="en-US" sz="2800" dirty="0" err="1" smtClean="0"/>
              <a:t>error</a:t>
            </a:r>
            <a:r>
              <a:rPr lang="en-US" altLang="en-US" sz="2800" baseline="-25000" dirty="0" err="1" smtClean="0"/>
              <a:t>train</a:t>
            </a:r>
            <a:r>
              <a:rPr lang="en-US" altLang="en-US" sz="2800" dirty="0" smtClean="0"/>
              <a:t>(h) &lt; </a:t>
            </a:r>
            <a:r>
              <a:rPr lang="en-US" altLang="en-US" sz="2800" dirty="0" err="1" smtClean="0"/>
              <a:t>error</a:t>
            </a:r>
            <a:r>
              <a:rPr lang="en-US" altLang="en-US" sz="2800" baseline="-25000" dirty="0" err="1" smtClean="0"/>
              <a:t>train</a:t>
            </a:r>
            <a:r>
              <a:rPr lang="en-US" altLang="en-US" sz="2800" dirty="0" smtClean="0"/>
              <a:t>(h’)</a:t>
            </a:r>
          </a:p>
          <a:p>
            <a:pPr>
              <a:buFont typeface="Wingdings" panose="05000000000000000000" pitchFamily="2" charset="2"/>
              <a:buNone/>
            </a:pPr>
            <a:r>
              <a:rPr lang="en-US" altLang="en-US" sz="2800" dirty="0" smtClean="0"/>
              <a:t>and</a:t>
            </a:r>
          </a:p>
          <a:p>
            <a:pPr>
              <a:buFont typeface="Wingdings" panose="05000000000000000000" pitchFamily="2" charset="2"/>
              <a:buNone/>
            </a:pPr>
            <a:r>
              <a:rPr lang="en-US" altLang="en-US" sz="2800" dirty="0" smtClean="0"/>
              <a:t>		 </a:t>
            </a:r>
            <a:r>
              <a:rPr lang="en-US" altLang="en-US" sz="2800" dirty="0" err="1" smtClean="0"/>
              <a:t>error</a:t>
            </a:r>
            <a:r>
              <a:rPr lang="en-US" altLang="en-US" sz="2800" baseline="-25000" dirty="0" err="1" smtClean="0"/>
              <a:t>D</a:t>
            </a:r>
            <a:r>
              <a:rPr lang="en-US" altLang="en-US" sz="2800" dirty="0" smtClean="0"/>
              <a:t>(h) &gt; </a:t>
            </a:r>
            <a:r>
              <a:rPr lang="en-US" altLang="en-US" sz="2800" dirty="0" err="1" smtClean="0"/>
              <a:t>error</a:t>
            </a:r>
            <a:r>
              <a:rPr lang="en-US" altLang="en-US" sz="2800" baseline="-25000" dirty="0" err="1" smtClean="0"/>
              <a:t>D</a:t>
            </a:r>
            <a:r>
              <a:rPr lang="en-US" altLang="en-US" sz="2800" dirty="0" smtClean="0"/>
              <a:t>(h’)</a:t>
            </a:r>
            <a:endParaRPr lang="en-US" altLang="en-US" sz="2800" dirty="0"/>
          </a:p>
        </p:txBody>
      </p:sp>
    </p:spTree>
    <p:extLst>
      <p:ext uri="{BB962C8B-B14F-4D97-AF65-F5344CB8AC3E}">
        <p14:creationId xmlns:p14="http://schemas.microsoft.com/office/powerpoint/2010/main" val="2104839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solidFill>
                  <a:srgbClr val="333399"/>
                </a:solidFill>
                <a:latin typeface="Arial"/>
              </a:rPr>
              <a:t>What is bias, variance trade off ?</a:t>
            </a:r>
          </a:p>
        </p:txBody>
      </p:sp>
      <p:sp>
        <p:nvSpPr>
          <p:cNvPr id="4" name="Rectangle 3"/>
          <p:cNvSpPr/>
          <p:nvPr/>
        </p:nvSpPr>
        <p:spPr>
          <a:xfrm>
            <a:off x="597097" y="1600200"/>
            <a:ext cx="938077" cy="461665"/>
          </a:xfrm>
          <a:prstGeom prst="rect">
            <a:avLst/>
          </a:prstGeom>
        </p:spPr>
        <p:txBody>
          <a:bodyPr wrap="none">
            <a:spAutoFit/>
          </a:bodyPr>
          <a:lstStyle/>
          <a:p>
            <a:r>
              <a:rPr lang="en-US" sz="2400" b="1" dirty="0">
                <a:solidFill>
                  <a:srgbClr val="0070C0"/>
                </a:solidFill>
                <a:latin typeface="medium-content-sans-serif-font"/>
              </a:rPr>
              <a:t>Bias:</a:t>
            </a:r>
            <a:endParaRPr lang="en-US" sz="2400" b="1" i="0" dirty="0">
              <a:solidFill>
                <a:srgbClr val="0070C0"/>
              </a:solidFill>
              <a:effectLst/>
              <a:latin typeface="medium-content-sans-serif-font"/>
            </a:endParaRPr>
          </a:p>
        </p:txBody>
      </p:sp>
      <p:sp>
        <p:nvSpPr>
          <p:cNvPr id="5" name="Rectangle 4"/>
          <p:cNvSpPr/>
          <p:nvPr/>
        </p:nvSpPr>
        <p:spPr>
          <a:xfrm>
            <a:off x="537941" y="2089857"/>
            <a:ext cx="8153400" cy="4539704"/>
          </a:xfrm>
          <a:prstGeom prst="rect">
            <a:avLst/>
          </a:prstGeom>
        </p:spPr>
        <p:txBody>
          <a:bodyPr wrap="square">
            <a:spAutoFit/>
          </a:bodyPr>
          <a:lstStyle/>
          <a:p>
            <a:pPr>
              <a:spcBef>
                <a:spcPts val="600"/>
              </a:spcBef>
            </a:pPr>
            <a:r>
              <a:rPr lang="en-US" sz="2400" dirty="0">
                <a:solidFill>
                  <a:srgbClr val="FF0000"/>
                </a:solidFill>
                <a:latin typeface="medium-content-serif-font"/>
              </a:rPr>
              <a:t>“Bias is error introduced in your model due to over simplification of machine learning algorithm.” </a:t>
            </a:r>
            <a:endParaRPr lang="en-US" sz="2400" dirty="0" smtClean="0">
              <a:solidFill>
                <a:srgbClr val="FF0000"/>
              </a:solidFill>
              <a:latin typeface="medium-content-serif-font"/>
            </a:endParaRPr>
          </a:p>
          <a:p>
            <a:pPr>
              <a:spcBef>
                <a:spcPts val="600"/>
              </a:spcBef>
            </a:pPr>
            <a:r>
              <a:rPr lang="en-US" sz="2400" dirty="0" smtClean="0">
                <a:latin typeface="medium-content-serif-font"/>
              </a:rPr>
              <a:t>It </a:t>
            </a:r>
            <a:r>
              <a:rPr lang="en-US" sz="2400" dirty="0">
                <a:latin typeface="medium-content-serif-font"/>
              </a:rPr>
              <a:t>can lead to under fitting. When you train your model at that time model makes simplified assumptions to make the target function easier to understand.</a:t>
            </a:r>
          </a:p>
          <a:p>
            <a:pPr>
              <a:spcBef>
                <a:spcPts val="600"/>
              </a:spcBef>
            </a:pPr>
            <a:endParaRPr lang="en-US" sz="2400" dirty="0" smtClean="0">
              <a:latin typeface="medium-content-serif-font"/>
            </a:endParaRPr>
          </a:p>
          <a:p>
            <a:pPr>
              <a:spcBef>
                <a:spcPts val="600"/>
              </a:spcBef>
            </a:pPr>
            <a:r>
              <a:rPr lang="en-US" sz="2400" dirty="0" smtClean="0">
                <a:latin typeface="medium-content-serif-font"/>
              </a:rPr>
              <a:t>Low </a:t>
            </a:r>
            <a:r>
              <a:rPr lang="en-US" sz="2400" dirty="0">
                <a:latin typeface="medium-content-serif-font"/>
              </a:rPr>
              <a:t>bias machine learning algorithms — Decision Trees, k-NN and SVM </a:t>
            </a:r>
            <a:endParaRPr lang="en-US" sz="2400" dirty="0" smtClean="0">
              <a:latin typeface="medium-content-serif-font"/>
            </a:endParaRPr>
          </a:p>
          <a:p>
            <a:pPr>
              <a:spcBef>
                <a:spcPts val="600"/>
              </a:spcBef>
            </a:pPr>
            <a:endParaRPr lang="en-US" sz="2400" dirty="0">
              <a:latin typeface="medium-content-serif-font"/>
            </a:endParaRPr>
          </a:p>
          <a:p>
            <a:pPr>
              <a:spcBef>
                <a:spcPts val="600"/>
              </a:spcBef>
            </a:pPr>
            <a:r>
              <a:rPr lang="en-US" sz="2400" dirty="0" smtClean="0">
                <a:latin typeface="medium-content-serif-font"/>
              </a:rPr>
              <a:t>High </a:t>
            </a:r>
            <a:r>
              <a:rPr lang="en-US" sz="2400" dirty="0">
                <a:latin typeface="medium-content-serif-font"/>
              </a:rPr>
              <a:t>bias machine learning algorithms — Linear Regression, Logistic Regression</a:t>
            </a:r>
            <a:endParaRPr lang="en-US" sz="2400" b="0" i="0" dirty="0">
              <a:effectLst/>
              <a:latin typeface="medium-content-serif-font"/>
            </a:endParaRPr>
          </a:p>
        </p:txBody>
      </p:sp>
    </p:spTree>
    <p:extLst>
      <p:ext uri="{BB962C8B-B14F-4D97-AF65-F5344CB8AC3E}">
        <p14:creationId xmlns:p14="http://schemas.microsoft.com/office/powerpoint/2010/main" val="131711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5" end="5"/>
                                            </p:txEl>
                                          </p:spTgt>
                                        </p:tgtEl>
                                        <p:attrNameLst>
                                          <p:attrName>style.visibility</p:attrName>
                                        </p:attrNameLst>
                                      </p:cBhvr>
                                      <p:to>
                                        <p:strVal val="visible"/>
                                      </p:to>
                                    </p:set>
                                    <p:animEffect transition="in" filter="fade">
                                      <p:cBhvr>
                                        <p:cTn id="14" dur="1000"/>
                                        <p:tgtEl>
                                          <p:spTgt spid="5">
                                            <p:txEl>
                                              <p:pRg st="5" end="5"/>
                                            </p:txEl>
                                          </p:spTgt>
                                        </p:tgtEl>
                                      </p:cBhvr>
                                    </p:animEffect>
                                    <p:anim calcmode="lin" valueType="num">
                                      <p:cBhvr>
                                        <p:cTn id="1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a:solidFill>
                  <a:srgbClr val="333399"/>
                </a:solidFill>
                <a:latin typeface="Arial"/>
              </a:rPr>
              <a:t>What is bias, variance trade off ?</a:t>
            </a:r>
          </a:p>
        </p:txBody>
      </p:sp>
      <p:sp>
        <p:nvSpPr>
          <p:cNvPr id="4" name="Rectangle 3"/>
          <p:cNvSpPr/>
          <p:nvPr/>
        </p:nvSpPr>
        <p:spPr>
          <a:xfrm>
            <a:off x="597097" y="1600200"/>
            <a:ext cx="1554272" cy="461665"/>
          </a:xfrm>
          <a:prstGeom prst="rect">
            <a:avLst/>
          </a:prstGeom>
        </p:spPr>
        <p:txBody>
          <a:bodyPr wrap="none">
            <a:spAutoFit/>
          </a:bodyPr>
          <a:lstStyle/>
          <a:p>
            <a:r>
              <a:rPr lang="en-US" sz="2400" b="1" dirty="0" smtClean="0">
                <a:solidFill>
                  <a:srgbClr val="0070C0"/>
                </a:solidFill>
                <a:latin typeface="medium-content-sans-serif-font"/>
              </a:rPr>
              <a:t>Variance</a:t>
            </a:r>
            <a:r>
              <a:rPr lang="en-US" sz="2400" b="1" dirty="0">
                <a:solidFill>
                  <a:srgbClr val="0070C0"/>
                </a:solidFill>
                <a:latin typeface="medium-content-sans-serif-font"/>
              </a:rPr>
              <a:t>:</a:t>
            </a:r>
            <a:endParaRPr lang="en-US" sz="2400" b="1" i="0" dirty="0">
              <a:solidFill>
                <a:srgbClr val="0070C0"/>
              </a:solidFill>
              <a:effectLst/>
              <a:latin typeface="medium-content-sans-serif-font"/>
            </a:endParaRPr>
          </a:p>
        </p:txBody>
      </p:sp>
      <p:sp>
        <p:nvSpPr>
          <p:cNvPr id="3" name="Rectangle 2"/>
          <p:cNvSpPr/>
          <p:nvPr/>
        </p:nvSpPr>
        <p:spPr>
          <a:xfrm>
            <a:off x="612648" y="2061865"/>
            <a:ext cx="8153400" cy="4524315"/>
          </a:xfrm>
          <a:prstGeom prst="rect">
            <a:avLst/>
          </a:prstGeom>
        </p:spPr>
        <p:txBody>
          <a:bodyPr wrap="square">
            <a:spAutoFit/>
          </a:bodyPr>
          <a:lstStyle/>
          <a:p>
            <a:r>
              <a:rPr lang="en-US" sz="2400" dirty="0">
                <a:solidFill>
                  <a:srgbClr val="FF0000"/>
                </a:solidFill>
                <a:latin typeface="medium-content-serif-font"/>
              </a:rPr>
              <a:t>“Variance is error introduced in your model due to complex machine learning algorithm, your model learns noise also from the training data set and performs bad on test data set.” </a:t>
            </a:r>
            <a:endParaRPr lang="en-US" sz="2400" dirty="0" smtClean="0">
              <a:solidFill>
                <a:srgbClr val="FF0000"/>
              </a:solidFill>
              <a:latin typeface="medium-content-serif-font"/>
            </a:endParaRPr>
          </a:p>
          <a:p>
            <a:pPr marL="342900" indent="-342900">
              <a:buFont typeface="Wingdings" panose="05000000000000000000" pitchFamily="2" charset="2"/>
              <a:buChar char="§"/>
            </a:pPr>
            <a:r>
              <a:rPr lang="en-US" sz="2400" dirty="0" smtClean="0">
                <a:latin typeface="medium-content-serif-font"/>
              </a:rPr>
              <a:t>It </a:t>
            </a:r>
            <a:r>
              <a:rPr lang="en-US" sz="2400" dirty="0">
                <a:latin typeface="medium-content-serif-font"/>
              </a:rPr>
              <a:t>can lead high sensitivity and over fitting.</a:t>
            </a:r>
          </a:p>
          <a:p>
            <a:pPr marL="342900" indent="-342900">
              <a:buFont typeface="Wingdings" panose="05000000000000000000" pitchFamily="2" charset="2"/>
              <a:buChar char="§"/>
            </a:pPr>
            <a:r>
              <a:rPr lang="en-US" sz="2400" dirty="0">
                <a:latin typeface="medium-content-serif-font"/>
              </a:rPr>
              <a:t>Normally, as you increase the complexity of your model, you will see a reduction in error due to lower bias in the model. </a:t>
            </a:r>
            <a:endParaRPr lang="en-US" sz="2400" dirty="0" smtClean="0">
              <a:latin typeface="medium-content-serif-font"/>
            </a:endParaRPr>
          </a:p>
          <a:p>
            <a:pPr marL="342900" indent="-342900">
              <a:buFont typeface="Wingdings" panose="05000000000000000000" pitchFamily="2" charset="2"/>
              <a:buChar char="§"/>
            </a:pPr>
            <a:r>
              <a:rPr lang="en-US" sz="2400" dirty="0" smtClean="0">
                <a:latin typeface="medium-content-serif-font"/>
              </a:rPr>
              <a:t>However</a:t>
            </a:r>
            <a:r>
              <a:rPr lang="en-US" sz="2400" dirty="0">
                <a:latin typeface="medium-content-serif-font"/>
              </a:rPr>
              <a:t>, this only happens till a particular point. As you continue to make your model more complex, you end up over-fitting your model and hence your model will start suffering from high variance.</a:t>
            </a:r>
            <a:endParaRPr lang="en-US" sz="2400" b="0" i="0" dirty="0">
              <a:effectLst/>
              <a:latin typeface="medium-content-serif-font"/>
            </a:endParaRPr>
          </a:p>
        </p:txBody>
      </p:sp>
    </p:spTree>
    <p:extLst>
      <p:ext uri="{BB962C8B-B14F-4D97-AF65-F5344CB8AC3E}">
        <p14:creationId xmlns:p14="http://schemas.microsoft.com/office/powerpoint/2010/main" val="311291738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https://miro.medium.com/max/547/0*goZnsEUDxSoE3v3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14400" y="1981200"/>
            <a:ext cx="7223760" cy="4278793"/>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p:cNvSpPr>
            <a:spLocks noGrp="1"/>
          </p:cNvSpPr>
          <p:nvPr>
            <p:ph type="title"/>
          </p:nvPr>
        </p:nvSpPr>
        <p:spPr>
          <a:xfrm>
            <a:off x="612648" y="228600"/>
            <a:ext cx="8153400" cy="990600"/>
          </a:xfrm>
        </p:spPr>
        <p:txBody>
          <a:bodyPr>
            <a:noAutofit/>
          </a:bodyPr>
          <a:lstStyle/>
          <a:p>
            <a:r>
              <a:rPr lang="en-US" sz="4000" b="1" dirty="0" smtClean="0">
                <a:solidFill>
                  <a:srgbClr val="333399"/>
                </a:solidFill>
                <a:latin typeface="Arial"/>
              </a:rPr>
              <a:t>Bias</a:t>
            </a:r>
            <a:r>
              <a:rPr lang="en-US" sz="4000" b="1" dirty="0">
                <a:solidFill>
                  <a:srgbClr val="333399"/>
                </a:solidFill>
                <a:latin typeface="Arial"/>
              </a:rPr>
              <a:t>, </a:t>
            </a:r>
            <a:r>
              <a:rPr lang="en-US" sz="4000" b="1" dirty="0" smtClean="0">
                <a:solidFill>
                  <a:srgbClr val="333399"/>
                </a:solidFill>
                <a:latin typeface="Arial"/>
              </a:rPr>
              <a:t>Variance Trade </a:t>
            </a:r>
            <a:r>
              <a:rPr lang="en-US" sz="4000" b="1" dirty="0">
                <a:solidFill>
                  <a:srgbClr val="333399"/>
                </a:solidFill>
                <a:latin typeface="Arial"/>
              </a:rPr>
              <a:t>off </a:t>
            </a:r>
            <a:r>
              <a:rPr lang="en-US" sz="4000" b="1" dirty="0" smtClean="0">
                <a:solidFill>
                  <a:srgbClr val="333399"/>
                </a:solidFill>
                <a:latin typeface="Arial"/>
              </a:rPr>
              <a:t>…</a:t>
            </a:r>
            <a:endParaRPr lang="en-US" sz="4000" b="1" dirty="0">
              <a:solidFill>
                <a:srgbClr val="333399"/>
              </a:solidFill>
              <a:latin typeface="Arial"/>
            </a:endParaRPr>
          </a:p>
        </p:txBody>
      </p:sp>
    </p:spTree>
    <p:extLst>
      <p:ext uri="{BB962C8B-B14F-4D97-AF65-F5344CB8AC3E}">
        <p14:creationId xmlns:p14="http://schemas.microsoft.com/office/powerpoint/2010/main" val="405815407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Image result for bias, variance trade off  edurek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905000"/>
            <a:ext cx="7680960" cy="423326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p:cNvSpPr>
            <a:spLocks noGrp="1"/>
          </p:cNvSpPr>
          <p:nvPr>
            <p:ph type="title"/>
          </p:nvPr>
        </p:nvSpPr>
        <p:spPr>
          <a:xfrm>
            <a:off x="612648" y="228600"/>
            <a:ext cx="8153400" cy="990600"/>
          </a:xfrm>
        </p:spPr>
        <p:txBody>
          <a:bodyPr>
            <a:noAutofit/>
          </a:bodyPr>
          <a:lstStyle/>
          <a:p>
            <a:r>
              <a:rPr lang="en-US" sz="4000" b="1" dirty="0" smtClean="0">
                <a:solidFill>
                  <a:srgbClr val="333399"/>
                </a:solidFill>
                <a:latin typeface="Arial"/>
              </a:rPr>
              <a:t>Bias</a:t>
            </a:r>
            <a:r>
              <a:rPr lang="en-US" sz="4000" b="1" dirty="0">
                <a:solidFill>
                  <a:srgbClr val="333399"/>
                </a:solidFill>
                <a:latin typeface="Arial"/>
              </a:rPr>
              <a:t>, </a:t>
            </a:r>
            <a:r>
              <a:rPr lang="en-US" sz="4000" b="1" dirty="0" smtClean="0">
                <a:solidFill>
                  <a:srgbClr val="333399"/>
                </a:solidFill>
                <a:latin typeface="Arial"/>
              </a:rPr>
              <a:t>Variance Trade </a:t>
            </a:r>
            <a:r>
              <a:rPr lang="en-US" sz="4000" b="1" dirty="0">
                <a:solidFill>
                  <a:srgbClr val="333399"/>
                </a:solidFill>
                <a:latin typeface="Arial"/>
              </a:rPr>
              <a:t>off </a:t>
            </a:r>
            <a:r>
              <a:rPr lang="en-US" sz="4000" b="1" dirty="0" smtClean="0">
                <a:solidFill>
                  <a:srgbClr val="333399"/>
                </a:solidFill>
                <a:latin typeface="Arial"/>
              </a:rPr>
              <a:t>…</a:t>
            </a:r>
            <a:endParaRPr lang="en-US" sz="4000" b="1" dirty="0">
              <a:solidFill>
                <a:srgbClr val="333399"/>
              </a:solidFill>
              <a:latin typeface="Arial"/>
            </a:endParaRPr>
          </a:p>
        </p:txBody>
      </p:sp>
    </p:spTree>
    <p:extLst>
      <p:ext uri="{BB962C8B-B14F-4D97-AF65-F5344CB8AC3E}">
        <p14:creationId xmlns:p14="http://schemas.microsoft.com/office/powerpoint/2010/main" val="55003090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elated image"/>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8358"/>
          <a:stretch/>
        </p:blipFill>
        <p:spPr bwMode="auto">
          <a:xfrm>
            <a:off x="150757" y="1828800"/>
            <a:ext cx="8882920" cy="44481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
          <p:cNvSpPr txBox="1">
            <a:spLocks noChangeArrowheads="1"/>
          </p:cNvSpPr>
          <p:nvPr/>
        </p:nvSpPr>
        <p:spPr bwMode="auto">
          <a:xfrm>
            <a:off x="651105" y="152400"/>
            <a:ext cx="8229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Garamond" panose="02020404030301010803" pitchFamily="18" charset="0"/>
              </a:defRPr>
            </a:lvl2pPr>
            <a:lvl3pPr algn="l" rtl="0" fontAlgn="base">
              <a:spcBef>
                <a:spcPct val="0"/>
              </a:spcBef>
              <a:spcAft>
                <a:spcPct val="0"/>
              </a:spcAft>
              <a:defRPr sz="4400">
                <a:solidFill>
                  <a:schemeClr val="tx2"/>
                </a:solidFill>
                <a:latin typeface="Garamond" panose="02020404030301010803" pitchFamily="18" charset="0"/>
              </a:defRPr>
            </a:lvl3pPr>
            <a:lvl4pPr algn="l" rtl="0" fontAlgn="base">
              <a:spcBef>
                <a:spcPct val="0"/>
              </a:spcBef>
              <a:spcAft>
                <a:spcPct val="0"/>
              </a:spcAft>
              <a:defRPr sz="4400">
                <a:solidFill>
                  <a:schemeClr val="tx2"/>
                </a:solidFill>
                <a:latin typeface="Garamond" panose="02020404030301010803" pitchFamily="18" charset="0"/>
              </a:defRPr>
            </a:lvl4pPr>
            <a:lvl5pPr algn="l" rtl="0" fontAlgn="base">
              <a:spcBef>
                <a:spcPct val="0"/>
              </a:spcBef>
              <a:spcAft>
                <a:spcPct val="0"/>
              </a:spcAft>
              <a:defRPr sz="4400">
                <a:solidFill>
                  <a:schemeClr val="tx2"/>
                </a:solidFill>
                <a:latin typeface="Garamond" panose="02020404030301010803" pitchFamily="18" charset="0"/>
              </a:defRPr>
            </a:lvl5pPr>
            <a:lvl6pPr marL="457200" algn="l" rtl="0" fontAlgn="base">
              <a:spcBef>
                <a:spcPct val="0"/>
              </a:spcBef>
              <a:spcAft>
                <a:spcPct val="0"/>
              </a:spcAft>
              <a:defRPr sz="4400">
                <a:solidFill>
                  <a:schemeClr val="tx2"/>
                </a:solidFill>
                <a:latin typeface="Garamond" panose="02020404030301010803" pitchFamily="18" charset="0"/>
              </a:defRPr>
            </a:lvl6pPr>
            <a:lvl7pPr marL="914400" algn="l" rtl="0" fontAlgn="base">
              <a:spcBef>
                <a:spcPct val="0"/>
              </a:spcBef>
              <a:spcAft>
                <a:spcPct val="0"/>
              </a:spcAft>
              <a:defRPr sz="4400">
                <a:solidFill>
                  <a:schemeClr val="tx2"/>
                </a:solidFill>
                <a:latin typeface="Garamond" panose="02020404030301010803" pitchFamily="18" charset="0"/>
              </a:defRPr>
            </a:lvl7pPr>
            <a:lvl8pPr marL="1371600" algn="l" rtl="0" fontAlgn="base">
              <a:spcBef>
                <a:spcPct val="0"/>
              </a:spcBef>
              <a:spcAft>
                <a:spcPct val="0"/>
              </a:spcAft>
              <a:defRPr sz="4400">
                <a:solidFill>
                  <a:schemeClr val="tx2"/>
                </a:solidFill>
                <a:latin typeface="Garamond" panose="02020404030301010803" pitchFamily="18" charset="0"/>
              </a:defRPr>
            </a:lvl8pPr>
            <a:lvl9pPr marL="1828800" algn="l" rtl="0" fontAlgn="base">
              <a:spcBef>
                <a:spcPct val="0"/>
              </a:spcBef>
              <a:spcAft>
                <a:spcPct val="0"/>
              </a:spcAft>
              <a:defRPr sz="4400">
                <a:solidFill>
                  <a:schemeClr val="tx2"/>
                </a:solidFill>
                <a:latin typeface="Garamond" panose="02020404030301010803" pitchFamily="18" charset="0"/>
              </a:defRPr>
            </a:lvl9pPr>
          </a:lstStyle>
          <a:p>
            <a:pPr lvl="0"/>
            <a:r>
              <a:rPr lang="en-US" altLang="en-US" b="1" smtClean="0">
                <a:solidFill>
                  <a:srgbClr val="333399"/>
                </a:solidFill>
                <a:latin typeface="Arial"/>
              </a:rPr>
              <a:t>Overfitting …</a:t>
            </a:r>
            <a:endParaRPr lang="en-US" altLang="en-US" b="1" dirty="0">
              <a:solidFill>
                <a:srgbClr val="333399"/>
              </a:solidFill>
              <a:latin typeface="Arial"/>
            </a:endParaRPr>
          </a:p>
        </p:txBody>
      </p:sp>
    </p:spTree>
    <p:extLst>
      <p:ext uri="{BB962C8B-B14F-4D97-AF65-F5344CB8AC3E}">
        <p14:creationId xmlns:p14="http://schemas.microsoft.com/office/powerpoint/2010/main" val="382592530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30352" y="1524000"/>
            <a:ext cx="8385048" cy="5401479"/>
          </a:xfrm>
          <a:prstGeom prst="rect">
            <a:avLst/>
          </a:prstGeom>
        </p:spPr>
        <p:txBody>
          <a:bodyPr wrap="square">
            <a:spAutoFit/>
          </a:bodyPr>
          <a:lstStyle/>
          <a:p>
            <a:pPr algn="just">
              <a:spcAft>
                <a:spcPts val="600"/>
              </a:spcAft>
            </a:pPr>
            <a:r>
              <a:rPr lang="en-US" sz="2200" dirty="0">
                <a:latin typeface="medium-content-serif-font"/>
              </a:rPr>
              <a:t>The goal of any supervised machine learning algorithm is to have low bias and low variance to achieve good prediction performance.</a:t>
            </a:r>
          </a:p>
          <a:p>
            <a:pPr algn="just">
              <a:spcAft>
                <a:spcPts val="600"/>
              </a:spcAft>
              <a:buFont typeface="+mj-lt"/>
              <a:buAutoNum type="arabicPeriod"/>
            </a:pPr>
            <a:r>
              <a:rPr lang="en-US" sz="2200" dirty="0">
                <a:solidFill>
                  <a:srgbClr val="7030A0"/>
                </a:solidFill>
                <a:latin typeface="medium-content-serif-font"/>
              </a:rPr>
              <a:t>The k-nearest </a:t>
            </a:r>
            <a:r>
              <a:rPr lang="en-US" sz="2200" dirty="0" err="1">
                <a:solidFill>
                  <a:srgbClr val="7030A0"/>
                </a:solidFill>
                <a:latin typeface="medium-content-serif-font"/>
              </a:rPr>
              <a:t>neighbours</a:t>
            </a:r>
            <a:r>
              <a:rPr lang="en-US" sz="2200" dirty="0">
                <a:solidFill>
                  <a:srgbClr val="7030A0"/>
                </a:solidFill>
                <a:latin typeface="medium-content-serif-font"/>
              </a:rPr>
              <a:t> algorithm has low bias and high variance, but the trade-off can be changed by increasing the value of k which increases the number of </a:t>
            </a:r>
            <a:r>
              <a:rPr lang="en-US" sz="2200" dirty="0" err="1">
                <a:solidFill>
                  <a:srgbClr val="7030A0"/>
                </a:solidFill>
                <a:latin typeface="medium-content-serif-font"/>
              </a:rPr>
              <a:t>neighbours</a:t>
            </a:r>
            <a:r>
              <a:rPr lang="en-US" sz="2200" dirty="0">
                <a:solidFill>
                  <a:srgbClr val="7030A0"/>
                </a:solidFill>
                <a:latin typeface="medium-content-serif-font"/>
              </a:rPr>
              <a:t> that contribute to the prediction and in turn increases the bias of the model.</a:t>
            </a:r>
          </a:p>
          <a:p>
            <a:pPr algn="just">
              <a:spcAft>
                <a:spcPts val="600"/>
              </a:spcAft>
              <a:buFont typeface="+mj-lt"/>
              <a:buAutoNum type="arabicPeriod"/>
            </a:pPr>
            <a:r>
              <a:rPr lang="en-US" sz="2200" dirty="0">
                <a:solidFill>
                  <a:srgbClr val="0070C0"/>
                </a:solidFill>
                <a:latin typeface="medium-content-serif-font"/>
              </a:rPr>
              <a:t>The support vector machine algorithm has low bias and high variance, but the trade-off can be changed by increasing the C parameter that influences the number of violations of the margin allowed in the training data which increases the bias but decreases the variance.</a:t>
            </a:r>
          </a:p>
          <a:p>
            <a:pPr algn="just">
              <a:spcAft>
                <a:spcPts val="600"/>
              </a:spcAft>
            </a:pPr>
            <a:r>
              <a:rPr lang="en-US" sz="2200" dirty="0">
                <a:solidFill>
                  <a:srgbClr val="FF0000"/>
                </a:solidFill>
                <a:latin typeface="medium-content-serif-font"/>
              </a:rPr>
              <a:t>There is no escaping the relationship between bias and variance in machine learning. Increasing the bias will decrease the variance. Increasing the variance will decrease the bias.</a:t>
            </a:r>
            <a:endParaRPr lang="en-US" sz="2200" b="0" i="0" dirty="0">
              <a:solidFill>
                <a:srgbClr val="FF0000"/>
              </a:solidFill>
              <a:effectLst/>
              <a:latin typeface="medium-content-serif-font"/>
            </a:endParaRPr>
          </a:p>
        </p:txBody>
      </p:sp>
      <p:sp>
        <p:nvSpPr>
          <p:cNvPr id="6" name="Title 1"/>
          <p:cNvSpPr>
            <a:spLocks noGrp="1"/>
          </p:cNvSpPr>
          <p:nvPr>
            <p:ph type="title"/>
          </p:nvPr>
        </p:nvSpPr>
        <p:spPr>
          <a:xfrm>
            <a:off x="612648" y="228600"/>
            <a:ext cx="8153400" cy="990600"/>
          </a:xfrm>
        </p:spPr>
        <p:txBody>
          <a:bodyPr>
            <a:noAutofit/>
          </a:bodyPr>
          <a:lstStyle/>
          <a:p>
            <a:r>
              <a:rPr lang="en-US" sz="4000" b="1" dirty="0" smtClean="0">
                <a:solidFill>
                  <a:srgbClr val="333399"/>
                </a:solidFill>
                <a:latin typeface="Arial"/>
              </a:rPr>
              <a:t>Bias</a:t>
            </a:r>
            <a:r>
              <a:rPr lang="en-US" sz="4000" b="1" dirty="0">
                <a:solidFill>
                  <a:srgbClr val="333399"/>
                </a:solidFill>
                <a:latin typeface="Arial"/>
              </a:rPr>
              <a:t>, </a:t>
            </a:r>
            <a:r>
              <a:rPr lang="en-US" sz="4000" b="1" dirty="0" smtClean="0">
                <a:solidFill>
                  <a:srgbClr val="333399"/>
                </a:solidFill>
                <a:latin typeface="Arial"/>
              </a:rPr>
              <a:t>Variance Trade </a:t>
            </a:r>
            <a:r>
              <a:rPr lang="en-US" sz="4000" b="1" dirty="0">
                <a:solidFill>
                  <a:srgbClr val="333399"/>
                </a:solidFill>
                <a:latin typeface="Arial"/>
              </a:rPr>
              <a:t>off </a:t>
            </a:r>
            <a:r>
              <a:rPr lang="en-US" sz="4000" b="1" dirty="0" smtClean="0">
                <a:solidFill>
                  <a:srgbClr val="333399"/>
                </a:solidFill>
                <a:latin typeface="Arial"/>
              </a:rPr>
              <a:t>…</a:t>
            </a:r>
            <a:endParaRPr lang="en-US" sz="4000" b="1" dirty="0">
              <a:solidFill>
                <a:srgbClr val="333399"/>
              </a:solidFill>
              <a:latin typeface="Arial"/>
            </a:endParaRPr>
          </a:p>
        </p:txBody>
      </p:sp>
    </p:spTree>
    <p:extLst>
      <p:ext uri="{BB962C8B-B14F-4D97-AF65-F5344CB8AC3E}">
        <p14:creationId xmlns:p14="http://schemas.microsoft.com/office/powerpoint/2010/main" val="266603041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smtClean="0">
                <a:solidFill>
                  <a:srgbClr val="333399"/>
                </a:solidFill>
                <a:latin typeface="Arial"/>
              </a:rPr>
              <a:t>Quiz</a:t>
            </a:r>
          </a:p>
        </p:txBody>
      </p:sp>
      <p:sp>
        <p:nvSpPr>
          <p:cNvPr id="3" name="Content Placeholder 2"/>
          <p:cNvSpPr>
            <a:spLocks noGrp="1"/>
          </p:cNvSpPr>
          <p:nvPr>
            <p:ph sz="quarter" idx="1"/>
          </p:nvPr>
        </p:nvSpPr>
        <p:spPr/>
        <p:txBody>
          <a:bodyPr/>
          <a:lstStyle/>
          <a:p>
            <a:pPr>
              <a:buNone/>
            </a:pPr>
            <a:r>
              <a:rPr lang="en-US" b="1" dirty="0" smtClean="0"/>
              <a:t>1. It is a measure of how close measurements come to each other when they are made in the same way</a:t>
            </a:r>
          </a:p>
          <a:p>
            <a:pPr marL="0" indent="0">
              <a:buNone/>
            </a:pPr>
            <a:r>
              <a:rPr lang="en-US" dirty="0" smtClean="0"/>
              <a:t>A. Error</a:t>
            </a:r>
          </a:p>
          <a:p>
            <a:pPr marL="0" indent="0">
              <a:buNone/>
            </a:pPr>
            <a:r>
              <a:rPr lang="en-US" dirty="0" smtClean="0"/>
              <a:t>B. Accuracy</a:t>
            </a:r>
          </a:p>
          <a:p>
            <a:pPr marL="0" indent="0">
              <a:buNone/>
            </a:pPr>
            <a:r>
              <a:rPr lang="en-US" dirty="0" smtClean="0"/>
              <a:t>C. Precision</a:t>
            </a:r>
          </a:p>
          <a:p>
            <a:pPr marL="0" indent="0">
              <a:buNone/>
            </a:pPr>
            <a:r>
              <a:rPr lang="en-US" dirty="0" smtClean="0"/>
              <a:t>D. Extrapolation</a:t>
            </a:r>
          </a:p>
          <a:p>
            <a:pPr>
              <a:buNone/>
            </a:pPr>
            <a:r>
              <a:rPr lang="en-US" dirty="0" err="1" smtClean="0"/>
              <a:t>Ans</a:t>
            </a:r>
            <a:r>
              <a:rPr lang="en-US" dirty="0" smtClean="0"/>
              <a:t>-C Precision</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6743" y="381000"/>
            <a:ext cx="8592457" cy="2308324"/>
          </a:xfrm>
          <a:prstGeom prst="rect">
            <a:avLst/>
          </a:prstGeom>
        </p:spPr>
        <p:txBody>
          <a:bodyPr wrap="square">
            <a:spAutoFit/>
          </a:bodyPr>
          <a:lstStyle/>
          <a:p>
            <a:pPr algn="just"/>
            <a:r>
              <a:rPr lang="en-US" b="1" dirty="0" smtClean="0">
                <a:latin typeface="Arial" panose="020B0604020202020204" pitchFamily="34" charset="0"/>
                <a:cs typeface="Arial" panose="020B0604020202020204" pitchFamily="34" charset="0"/>
              </a:rPr>
              <a:t>Question 1:</a:t>
            </a:r>
            <a:r>
              <a:rPr lang="en-US" dirty="0" smtClean="0">
                <a:latin typeface="Arial" panose="020B0604020202020204" pitchFamily="34" charset="0"/>
                <a:cs typeface="Arial" panose="020B0604020202020204" pitchFamily="34" charset="0"/>
              </a:rPr>
              <a:t> Which </a:t>
            </a:r>
            <a:r>
              <a:rPr lang="en-US" dirty="0">
                <a:latin typeface="Arial" panose="020B0604020202020204" pitchFamily="34" charset="0"/>
                <a:cs typeface="Arial" panose="020B0604020202020204" pitchFamily="34" charset="0"/>
              </a:rPr>
              <a:t>of the following pairs of metrics is plotted to form a </a:t>
            </a:r>
            <a:r>
              <a:rPr lang="en-US" b="1" dirty="0">
                <a:latin typeface="Arial" panose="020B0604020202020204" pitchFamily="34" charset="0"/>
                <a:cs typeface="Arial" panose="020B0604020202020204" pitchFamily="34" charset="0"/>
              </a:rPr>
              <a:t>Receiver Operating Characteristic (ROC) curve</a:t>
            </a:r>
            <a:r>
              <a:rPr lang="en-US" dirty="0">
                <a:latin typeface="Arial" panose="020B0604020202020204" pitchFamily="34" charset="0"/>
                <a:cs typeface="Arial" panose="020B0604020202020204" pitchFamily="34" charset="0"/>
              </a:rPr>
              <a:t>, and what does the </a:t>
            </a:r>
            <a:r>
              <a:rPr lang="en-US" b="1" dirty="0">
                <a:latin typeface="Arial" panose="020B0604020202020204" pitchFamily="34" charset="0"/>
                <a:cs typeface="Arial" panose="020B0604020202020204" pitchFamily="34" charset="0"/>
              </a:rPr>
              <a:t>False Positive Rate (FPR)</a:t>
            </a:r>
            <a:r>
              <a:rPr lang="en-US" dirty="0">
                <a:latin typeface="Arial" panose="020B0604020202020204" pitchFamily="34" charset="0"/>
                <a:cs typeface="Arial" panose="020B0604020202020204" pitchFamily="34" charset="0"/>
              </a:rPr>
              <a:t> represent?</a:t>
            </a:r>
          </a:p>
          <a:p>
            <a:r>
              <a:rPr lang="en-US" b="1" dirty="0">
                <a:latin typeface="Arial" panose="020B0604020202020204" pitchFamily="34" charset="0"/>
                <a:cs typeface="Arial" panose="020B0604020202020204" pitchFamily="34" charset="0"/>
              </a:rPr>
              <a:t>Options:</a:t>
            </a: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 Precision vs. Recall; FPR = FP / (FP + TP)</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B. True Positive Rate vs. False Positive Rate; FPR = FP / (FP + TN)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 Sensitivity vs. Specificity; FPR = TP / (TP + FN)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 Accuracy vs. Error Rate; FPR = FN / (TN + FP)</a:t>
            </a:r>
          </a:p>
        </p:txBody>
      </p:sp>
      <p:sp>
        <p:nvSpPr>
          <p:cNvPr id="5" name="Rectangle 4"/>
          <p:cNvSpPr/>
          <p:nvPr/>
        </p:nvSpPr>
        <p:spPr>
          <a:xfrm>
            <a:off x="268514" y="2779117"/>
            <a:ext cx="8432800" cy="646331"/>
          </a:xfrm>
          <a:prstGeom prst="rect">
            <a:avLst/>
          </a:prstGeom>
        </p:spPr>
        <p:txBody>
          <a:bodyPr wrap="square">
            <a:spAutoFit/>
          </a:bodyPr>
          <a:lstStyle/>
          <a:p>
            <a:r>
              <a:rPr lang="en-US" b="1" dirty="0">
                <a:solidFill>
                  <a:srgbClr val="00B050"/>
                </a:solidFill>
                <a:latin typeface="Arial" panose="020B0604020202020204" pitchFamily="34" charset="0"/>
                <a:cs typeface="Arial" panose="020B0604020202020204" pitchFamily="34" charset="0"/>
              </a:rPr>
              <a:t>Correct </a:t>
            </a:r>
            <a:r>
              <a:rPr lang="en-US" b="1" dirty="0" smtClean="0">
                <a:solidFill>
                  <a:srgbClr val="00B050"/>
                </a:solidFill>
                <a:latin typeface="Arial" panose="020B0604020202020204" pitchFamily="34" charset="0"/>
                <a:cs typeface="Arial" panose="020B0604020202020204" pitchFamily="34" charset="0"/>
              </a:rPr>
              <a:t>Answer:</a:t>
            </a:r>
            <a:r>
              <a:rPr lang="en-US" dirty="0" smtClean="0">
                <a:solidFill>
                  <a:srgbClr val="00B050"/>
                </a:solidFill>
                <a:latin typeface="Arial" panose="020B0604020202020204" pitchFamily="34" charset="0"/>
                <a:cs typeface="Arial" panose="020B0604020202020204" pitchFamily="34" charset="0"/>
              </a:rPr>
              <a:t> </a:t>
            </a:r>
            <a:r>
              <a:rPr lang="en-US" b="1" dirty="0" smtClean="0">
                <a:solidFill>
                  <a:srgbClr val="00B050"/>
                </a:solidFill>
                <a:latin typeface="Arial" panose="020B0604020202020204" pitchFamily="34" charset="0"/>
                <a:cs typeface="Arial" panose="020B0604020202020204" pitchFamily="34" charset="0"/>
              </a:rPr>
              <a:t>B</a:t>
            </a:r>
            <a:r>
              <a:rPr lang="en-US" b="1" dirty="0">
                <a:solidFill>
                  <a:srgbClr val="00B050"/>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True Positive Rate vs. False Positive Rate; FPR = FP / (FP + TN)</a:t>
            </a:r>
            <a:endParaRPr lang="en-US" dirty="0">
              <a:latin typeface="Arial" panose="020B0604020202020204" pitchFamily="34" charset="0"/>
              <a:cs typeface="Arial" panose="020B0604020202020204" pitchFamily="34" charset="0"/>
            </a:endParaRPr>
          </a:p>
        </p:txBody>
      </p:sp>
      <p:sp>
        <p:nvSpPr>
          <p:cNvPr id="6" name="Rectangle 5"/>
          <p:cNvSpPr/>
          <p:nvPr/>
        </p:nvSpPr>
        <p:spPr>
          <a:xfrm>
            <a:off x="246743" y="3590554"/>
            <a:ext cx="8592457" cy="2308324"/>
          </a:xfrm>
          <a:prstGeom prst="rect">
            <a:avLst/>
          </a:prstGeom>
        </p:spPr>
        <p:txBody>
          <a:bodyPr wrap="square">
            <a:spAutoFit/>
          </a:bodyPr>
          <a:lstStyle/>
          <a:p>
            <a:pPr algn="just"/>
            <a:r>
              <a:rPr lang="en-US" b="1" dirty="0" smtClean="0">
                <a:latin typeface="Arial" panose="020B0604020202020204" pitchFamily="34" charset="0"/>
                <a:cs typeface="Arial" panose="020B0604020202020204" pitchFamily="34" charset="0"/>
              </a:rPr>
              <a:t>Question 2:</a:t>
            </a:r>
            <a:r>
              <a:rPr lang="en-US" dirty="0" smtClean="0">
                <a:latin typeface="Arial" panose="020B0604020202020204" pitchFamily="34" charset="0"/>
                <a:cs typeface="Arial" panose="020B0604020202020204" pitchFamily="34" charset="0"/>
              </a:rPr>
              <a:t> Which </a:t>
            </a:r>
            <a:r>
              <a:rPr lang="en-US" dirty="0">
                <a:latin typeface="Arial" panose="020B0604020202020204" pitchFamily="34" charset="0"/>
                <a:cs typeface="Arial" panose="020B0604020202020204" pitchFamily="34" charset="0"/>
              </a:rPr>
              <a:t>of the following statements best describes the </a:t>
            </a:r>
            <a:r>
              <a:rPr lang="en-US" b="1" dirty="0">
                <a:latin typeface="Arial" panose="020B0604020202020204" pitchFamily="34" charset="0"/>
                <a:cs typeface="Arial" panose="020B0604020202020204" pitchFamily="34" charset="0"/>
              </a:rPr>
              <a:t>bias-variance trade-off</a:t>
            </a:r>
            <a:r>
              <a:rPr lang="en-US" dirty="0">
                <a:latin typeface="Arial" panose="020B0604020202020204" pitchFamily="34" charset="0"/>
                <a:cs typeface="Arial" panose="020B0604020202020204" pitchFamily="34" charset="0"/>
              </a:rPr>
              <a:t> in supervised machine learning?</a:t>
            </a:r>
          </a:p>
          <a:p>
            <a:r>
              <a:rPr lang="en-US" b="1" dirty="0">
                <a:latin typeface="Arial" panose="020B0604020202020204" pitchFamily="34" charset="0"/>
                <a:cs typeface="Arial" panose="020B0604020202020204" pitchFamily="34" charset="0"/>
              </a:rPr>
              <a:t>Options:</a:t>
            </a:r>
            <a:r>
              <a:rPr lang="en-US" dirty="0">
                <a:latin typeface="Arial" panose="020B0604020202020204" pitchFamily="34" charset="0"/>
                <a:cs typeface="Arial" panose="020B0604020202020204" pitchFamily="34" charset="0"/>
              </a:rPr>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 High bias and high variance always lead to optimal generalization</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B. Increasing model complexity increases bias but reduces variance</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 Reducing bias often increases variance, and reducing variance often increases bias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D. Bias and variance are unrelated and can be minimized independently</a:t>
            </a:r>
          </a:p>
        </p:txBody>
      </p:sp>
      <p:sp>
        <p:nvSpPr>
          <p:cNvPr id="7" name="Rectangle 6"/>
          <p:cNvSpPr/>
          <p:nvPr/>
        </p:nvSpPr>
        <p:spPr>
          <a:xfrm>
            <a:off x="268514" y="6027699"/>
            <a:ext cx="8592457" cy="646331"/>
          </a:xfrm>
          <a:prstGeom prst="rect">
            <a:avLst/>
          </a:prstGeom>
        </p:spPr>
        <p:txBody>
          <a:bodyPr wrap="square">
            <a:spAutoFit/>
          </a:bodyPr>
          <a:lstStyle/>
          <a:p>
            <a:r>
              <a:rPr lang="en-US" b="1" dirty="0">
                <a:solidFill>
                  <a:srgbClr val="00B050"/>
                </a:solidFill>
                <a:latin typeface="Arial" panose="020B0604020202020204" pitchFamily="34" charset="0"/>
                <a:cs typeface="Arial" panose="020B0604020202020204" pitchFamily="34" charset="0"/>
              </a:rPr>
              <a:t>Correct </a:t>
            </a:r>
            <a:r>
              <a:rPr lang="en-US" b="1" dirty="0" smtClean="0">
                <a:solidFill>
                  <a:srgbClr val="00B050"/>
                </a:solidFill>
                <a:latin typeface="Arial" panose="020B0604020202020204" pitchFamily="34" charset="0"/>
                <a:cs typeface="Arial" panose="020B0604020202020204" pitchFamily="34" charset="0"/>
              </a:rPr>
              <a:t>Answer:</a:t>
            </a:r>
            <a:r>
              <a:rPr lang="en-US" dirty="0" smtClean="0">
                <a:solidFill>
                  <a:srgbClr val="00B050"/>
                </a:solidFill>
                <a:latin typeface="Arial" panose="020B0604020202020204" pitchFamily="34" charset="0"/>
                <a:cs typeface="Arial" panose="020B0604020202020204" pitchFamily="34" charset="0"/>
              </a:rPr>
              <a:t> </a:t>
            </a:r>
            <a:r>
              <a:rPr lang="en-US" b="1" dirty="0" smtClean="0">
                <a:solidFill>
                  <a:srgbClr val="00B050"/>
                </a:solidFill>
                <a:latin typeface="Arial" panose="020B0604020202020204" pitchFamily="34" charset="0"/>
                <a:cs typeface="Arial" panose="020B0604020202020204" pitchFamily="34" charset="0"/>
              </a:rPr>
              <a:t>C</a:t>
            </a:r>
            <a:r>
              <a:rPr lang="en-US" b="1" dirty="0">
                <a:solidFill>
                  <a:srgbClr val="00B050"/>
                </a:solidFill>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Reducing bias often increases variance, and reducing variance often increases bias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6892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sz="quarter" idx="1"/>
          </p:nvPr>
        </p:nvSpPr>
        <p:spPr/>
        <p:txBody>
          <a:bodyPr>
            <a:normAutofit fontScale="92500" lnSpcReduction="10000"/>
          </a:bodyPr>
          <a:lstStyle/>
          <a:p>
            <a:pPr>
              <a:buNone/>
            </a:pPr>
            <a:r>
              <a:rPr lang="en-US" b="1" dirty="0" smtClean="0"/>
              <a:t>2. Three different people weigh a standard mass of 2.00 g on the same balance.  Each person obtains a reading of exactly 7.32 g for the mass of the standard. These results imply that the balance that was used is:</a:t>
            </a:r>
          </a:p>
          <a:p>
            <a:pPr marL="0" indent="0">
              <a:buNone/>
            </a:pPr>
            <a:r>
              <a:rPr lang="en-US" dirty="0" smtClean="0"/>
              <a:t>A. Both accurate and precise</a:t>
            </a:r>
          </a:p>
          <a:p>
            <a:pPr marL="0" indent="0">
              <a:buNone/>
            </a:pPr>
            <a:r>
              <a:rPr lang="en-US" dirty="0" smtClean="0"/>
              <a:t>B. Neither accurate nor precise</a:t>
            </a:r>
          </a:p>
          <a:p>
            <a:pPr marL="0" indent="0">
              <a:buNone/>
            </a:pPr>
            <a:r>
              <a:rPr lang="en-US" dirty="0" smtClean="0"/>
              <a:t>C. Precise but not accurate</a:t>
            </a:r>
          </a:p>
          <a:p>
            <a:pPr marL="0" indent="0">
              <a:buNone/>
            </a:pPr>
            <a:r>
              <a:rPr lang="en-US" dirty="0" smtClean="0"/>
              <a:t>D. Accurate but not precise</a:t>
            </a:r>
          </a:p>
          <a:p>
            <a:pPr>
              <a:buNone/>
            </a:pPr>
            <a:r>
              <a:rPr lang="en-US" dirty="0" err="1" smtClean="0"/>
              <a:t>Ans</a:t>
            </a:r>
            <a:r>
              <a:rPr lang="en-US" dirty="0" smtClean="0"/>
              <a:t>- C-Precise but not accurate.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Quiz</a:t>
            </a:r>
            <a:endParaRPr lang="en-US" dirty="0"/>
          </a:p>
        </p:txBody>
      </p:sp>
      <p:sp>
        <p:nvSpPr>
          <p:cNvPr id="3" name="Content Placeholder 2"/>
          <p:cNvSpPr>
            <a:spLocks noGrp="1"/>
          </p:cNvSpPr>
          <p:nvPr>
            <p:ph sz="quarter" idx="1"/>
          </p:nvPr>
        </p:nvSpPr>
        <p:spPr/>
        <p:txBody>
          <a:bodyPr/>
          <a:lstStyle/>
          <a:p>
            <a:pPr>
              <a:buNone/>
            </a:pPr>
            <a:r>
              <a:rPr lang="en-US" dirty="0" smtClean="0"/>
              <a:t>3. Which of the following cross validation versions may not be suitable for very large datasets with hundreds of thousands of samples?</a:t>
            </a:r>
          </a:p>
          <a:p>
            <a:pPr marL="0" indent="0">
              <a:buNone/>
            </a:pPr>
            <a:r>
              <a:rPr lang="en-US" dirty="0" smtClean="0"/>
              <a:t>A) k-fold cross-validation</a:t>
            </a:r>
          </a:p>
          <a:p>
            <a:pPr marL="0" indent="0">
              <a:buNone/>
            </a:pPr>
            <a:r>
              <a:rPr lang="en-US" dirty="0" smtClean="0"/>
              <a:t>B) Leave-one-out cross-validation</a:t>
            </a:r>
          </a:p>
          <a:p>
            <a:pPr marL="0" indent="0">
              <a:buNone/>
            </a:pPr>
            <a:r>
              <a:rPr lang="en-US" dirty="0" smtClean="0"/>
              <a:t>C) Holdout method</a:t>
            </a:r>
          </a:p>
          <a:p>
            <a:pPr marL="0" indent="0">
              <a:buNone/>
            </a:pPr>
            <a:r>
              <a:rPr lang="en-US" dirty="0" smtClean="0"/>
              <a:t>D) All of the above</a:t>
            </a:r>
          </a:p>
          <a:p>
            <a:pPr>
              <a:buNone/>
            </a:pPr>
            <a:r>
              <a:rPr lang="en-US" dirty="0" err="1" smtClean="0"/>
              <a:t>Ans</a:t>
            </a:r>
            <a:r>
              <a:rPr lang="en-US" dirty="0" smtClean="0"/>
              <a:t>- B</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9"/>
          <p:cNvSpPr txBox="1">
            <a:spLocks noChangeArrowheads="1"/>
          </p:cNvSpPr>
          <p:nvPr/>
        </p:nvSpPr>
        <p:spPr bwMode="auto">
          <a:xfrm>
            <a:off x="990600" y="457200"/>
            <a:ext cx="6357938" cy="830997"/>
          </a:xfrm>
          <a:prstGeom prst="rect">
            <a:avLst/>
          </a:prstGeom>
          <a:noFill/>
          <a:ln w="9525">
            <a:noFill/>
            <a:miter lim="800000"/>
            <a:headEnd/>
            <a:tailEnd/>
          </a:ln>
        </p:spPr>
        <p:txBody>
          <a:bodyPr>
            <a:spAutoFit/>
          </a:bodyPr>
          <a:lstStyle/>
          <a:p>
            <a:pPr algn="ctr"/>
            <a:r>
              <a:rPr lang="en-US" sz="4800" b="1" dirty="0">
                <a:solidFill>
                  <a:srgbClr val="002060"/>
                </a:solidFill>
                <a:latin typeface="Old English Text MT" panose="03040902040508030806" pitchFamily="66" charset="0"/>
              </a:rPr>
              <a:t>A</a:t>
            </a:r>
            <a:r>
              <a:rPr lang="en-US" sz="4800" b="1" dirty="0" smtClean="0">
                <a:solidFill>
                  <a:srgbClr val="002060"/>
                </a:solidFill>
                <a:latin typeface="Script MT Bold" pitchFamily="66" charset="0"/>
              </a:rPr>
              <a:t>ny Questions ?</a:t>
            </a:r>
            <a:endParaRPr lang="en-US" sz="4800" b="1" dirty="0">
              <a:solidFill>
                <a:srgbClr val="002060"/>
              </a:solidFill>
              <a:latin typeface="Script MT Bold" pitchFamily="66"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13807"/>
            <a:ext cx="9144000" cy="5225143"/>
          </a:xfrm>
          <a:prstGeom prst="rect">
            <a:avLst/>
          </a:prstGeom>
        </p:spPr>
      </p:pic>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7917</TotalTime>
  <Words>4597</Words>
  <Application>Microsoft Office PowerPoint</Application>
  <PresentationFormat>On-screen Show (4:3)</PresentationFormat>
  <Paragraphs>607</Paragraphs>
  <Slides>68</Slides>
  <Notes>8</Notes>
  <HiddenSlides>0</HiddenSlides>
  <MMClips>0</MMClips>
  <ScaleCrop>false</ScaleCrop>
  <HeadingPairs>
    <vt:vector size="8" baseType="variant">
      <vt:variant>
        <vt:lpstr>Fonts Used</vt:lpstr>
      </vt:variant>
      <vt:variant>
        <vt:i4>20</vt:i4>
      </vt:variant>
      <vt:variant>
        <vt:lpstr>Theme</vt:lpstr>
      </vt:variant>
      <vt:variant>
        <vt:i4>2</vt:i4>
      </vt:variant>
      <vt:variant>
        <vt:lpstr>Embedded OLE Servers</vt:lpstr>
      </vt:variant>
      <vt:variant>
        <vt:i4>1</vt:i4>
      </vt:variant>
      <vt:variant>
        <vt:lpstr>Slide Titles</vt:lpstr>
      </vt:variant>
      <vt:variant>
        <vt:i4>68</vt:i4>
      </vt:variant>
    </vt:vector>
  </HeadingPairs>
  <TitlesOfParts>
    <vt:vector size="91" baseType="lpstr">
      <vt:lpstr>ＭＳ Ｐゴシック</vt:lpstr>
      <vt:lpstr>ＭＳ Ｐゴシック</vt:lpstr>
      <vt:lpstr>SimSun</vt:lpstr>
      <vt:lpstr>Arial</vt:lpstr>
      <vt:lpstr>Calibri</vt:lpstr>
      <vt:lpstr>Calibri Light</vt:lpstr>
      <vt:lpstr>Cambria</vt:lpstr>
      <vt:lpstr>Cambria Math</vt:lpstr>
      <vt:lpstr>Helvetica Neue</vt:lpstr>
      <vt:lpstr>medium-content-sans-serif-font</vt:lpstr>
      <vt:lpstr>medium-content-serif-font</vt:lpstr>
      <vt:lpstr>Old English Text MT</vt:lpstr>
      <vt:lpstr>Script MT Bold</vt:lpstr>
      <vt:lpstr>Symbol</vt:lpstr>
      <vt:lpstr>Tahoma</vt:lpstr>
      <vt:lpstr>Times New Roman</vt:lpstr>
      <vt:lpstr>Tw Cen MT</vt:lpstr>
      <vt:lpstr>Verdana</vt:lpstr>
      <vt:lpstr>Wingdings</vt:lpstr>
      <vt:lpstr>Wingdings 2</vt:lpstr>
      <vt:lpstr>Median</vt:lpstr>
      <vt:lpstr>Office Theme</vt:lpstr>
      <vt:lpstr>Equation</vt:lpstr>
      <vt:lpstr> BTech(CSE) III Year V Semester Session 2025-26   BCSE0005: Machine Learning    </vt:lpstr>
      <vt:lpstr>PowerPoint Presentation</vt:lpstr>
      <vt:lpstr>PowerPoint Presentation</vt:lpstr>
      <vt:lpstr>Overview</vt:lpstr>
      <vt:lpstr>Overview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bias, variance trade off ?</vt:lpstr>
      <vt:lpstr>What is bias, variance trade off ?</vt:lpstr>
      <vt:lpstr>Bias, Variance Trade off …</vt:lpstr>
      <vt:lpstr>Bias, Variance Trade off …</vt:lpstr>
      <vt:lpstr>PowerPoint Presentation</vt:lpstr>
      <vt:lpstr>Bias, Variance Trade off …</vt:lpstr>
      <vt:lpstr>Quiz</vt:lpstr>
      <vt:lpstr>PowerPoint Presentation</vt:lpstr>
      <vt:lpstr>Quiz</vt:lpstr>
      <vt:lpstr>Quiz</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Image Processing</dc:title>
  <dc:creator>TANUJ</dc:creator>
  <cp:lastModifiedBy>Admin</cp:lastModifiedBy>
  <cp:revision>408</cp:revision>
  <cp:lastPrinted>2021-08-20T08:29:00Z</cp:lastPrinted>
  <dcterms:created xsi:type="dcterms:W3CDTF">2011-06-11T07:20:39Z</dcterms:created>
  <dcterms:modified xsi:type="dcterms:W3CDTF">2025-08-11T05:08:46Z</dcterms:modified>
</cp:coreProperties>
</file>